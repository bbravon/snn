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9" r:id="rId4"/>
    <p:sldId id="307" r:id="rId5"/>
    <p:sldId id="260" r:id="rId6"/>
    <p:sldId id="310" r:id="rId7"/>
    <p:sldId id="308" r:id="rId8"/>
    <p:sldId id="261" r:id="rId9"/>
    <p:sldId id="311" r:id="rId10"/>
    <p:sldId id="312" r:id="rId11"/>
    <p:sldId id="313" r:id="rId12"/>
    <p:sldId id="315" r:id="rId13"/>
    <p:sldId id="316" r:id="rId14"/>
    <p:sldId id="323" r:id="rId15"/>
    <p:sldId id="318" r:id="rId16"/>
    <p:sldId id="262" r:id="rId17"/>
    <p:sldId id="325" r:id="rId18"/>
    <p:sldId id="320" r:id="rId19"/>
    <p:sldId id="322" r:id="rId20"/>
    <p:sldId id="321" r:id="rId21"/>
    <p:sldId id="326" r:id="rId22"/>
    <p:sldId id="302" r:id="rId23"/>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53" userDrawn="1">
          <p15:clr>
            <a:srgbClr val="A4A3A4"/>
          </p15:clr>
        </p15:guide>
        <p15:guide id="2" pos="3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83" autoAdjust="0"/>
  </p:normalViewPr>
  <p:slideViewPr>
    <p:cSldViewPr snapToGrid="0">
      <p:cViewPr varScale="1">
        <p:scale>
          <a:sx n="58" d="100"/>
          <a:sy n="58" d="100"/>
        </p:scale>
        <p:origin x="1140" y="54"/>
      </p:cViewPr>
      <p:guideLst>
        <p:guide orient="horz" pos="3453"/>
        <p:guide pos="3795"/>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4E2148-0024-4B84-BA99-AA6AFB938C1B}" type="datetimeFigureOut">
              <a:rPr lang="es-CL" smtClean="0"/>
              <a:t>20-03-2025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34C8E-63CF-4FC6-8F88-E8E6DBEDD580}" type="slidenum">
              <a:rPr lang="es-CL" smtClean="0"/>
              <a:t>‹Nº›</a:t>
            </a:fld>
            <a:endParaRPr lang="es-CL"/>
          </a:p>
        </p:txBody>
      </p:sp>
    </p:spTree>
    <p:extLst>
      <p:ext uri="{BB962C8B-B14F-4D97-AF65-F5344CB8AC3E}">
        <p14:creationId xmlns:p14="http://schemas.microsoft.com/office/powerpoint/2010/main" val="3835067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8636A-5CC6-7A8D-9AD6-647C9A405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08E44BE2-5376-4C21-C71A-7F785A1AFF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E814174-9B9D-0DBB-B9A2-42AE42D305EF}"/>
              </a:ext>
            </a:extLst>
          </p:cNvPr>
          <p:cNvSpPr>
            <a:spLocks noGrp="1"/>
          </p:cNvSpPr>
          <p:nvPr>
            <p:ph type="dt" sz="half" idx="10"/>
          </p:nvPr>
        </p:nvSpPr>
        <p:spPr/>
        <p:txBody>
          <a:bodyPr/>
          <a:lstStyle/>
          <a:p>
            <a:fld id="{8E61580E-1A11-4CE1-96C9-D1E08B66570E}" type="datetime1">
              <a:rPr lang="es-CL" smtClean="0"/>
              <a:t>20-03-2025</a:t>
            </a:fld>
            <a:endParaRPr lang="es-CL"/>
          </a:p>
        </p:txBody>
      </p:sp>
      <p:sp>
        <p:nvSpPr>
          <p:cNvPr id="5" name="Marcador de pie de página 4">
            <a:extLst>
              <a:ext uri="{FF2B5EF4-FFF2-40B4-BE49-F238E27FC236}">
                <a16:creationId xmlns:a16="http://schemas.microsoft.com/office/drawing/2014/main" id="{D8B6BE87-C577-B162-93ED-C813E1FE848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A37A62E-825F-7B02-9CC2-C5FF2DA8F81D}"/>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2360128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44B39C-C19E-C43E-C31E-B17460C452F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F514B9C-DAAA-F82C-A70B-0DBE9D5A8E8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0D0B08A-1E9A-7377-2EAB-E1F65BF90AE3}"/>
              </a:ext>
            </a:extLst>
          </p:cNvPr>
          <p:cNvSpPr>
            <a:spLocks noGrp="1"/>
          </p:cNvSpPr>
          <p:nvPr>
            <p:ph type="dt" sz="half" idx="10"/>
          </p:nvPr>
        </p:nvSpPr>
        <p:spPr/>
        <p:txBody>
          <a:bodyPr/>
          <a:lstStyle/>
          <a:p>
            <a:fld id="{594C8E2C-D150-4BD7-AE0E-C5A86ADD9884}" type="datetime1">
              <a:rPr lang="es-CL" smtClean="0"/>
              <a:t>20-03-2025</a:t>
            </a:fld>
            <a:endParaRPr lang="es-CL"/>
          </a:p>
        </p:txBody>
      </p:sp>
      <p:sp>
        <p:nvSpPr>
          <p:cNvPr id="5" name="Marcador de pie de página 4">
            <a:extLst>
              <a:ext uri="{FF2B5EF4-FFF2-40B4-BE49-F238E27FC236}">
                <a16:creationId xmlns:a16="http://schemas.microsoft.com/office/drawing/2014/main" id="{266D3687-FB2B-D47A-B500-351AEFDC4F7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EB341B0-2235-E1FC-E8CC-E97F1B935418}"/>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3608448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086DC0-1885-E3B8-7225-00276FF16B7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3BB4FE1-8A39-4BD7-A91B-10F529D99D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EA5C45C-34E9-173E-63F3-3DEB1783CBCE}"/>
              </a:ext>
            </a:extLst>
          </p:cNvPr>
          <p:cNvSpPr>
            <a:spLocks noGrp="1"/>
          </p:cNvSpPr>
          <p:nvPr>
            <p:ph type="dt" sz="half" idx="10"/>
          </p:nvPr>
        </p:nvSpPr>
        <p:spPr/>
        <p:txBody>
          <a:bodyPr/>
          <a:lstStyle/>
          <a:p>
            <a:fld id="{30928B5F-69D0-4620-8280-87CD69F85CFD}" type="datetime1">
              <a:rPr lang="es-CL" smtClean="0"/>
              <a:t>20-03-2025</a:t>
            </a:fld>
            <a:endParaRPr lang="es-CL"/>
          </a:p>
        </p:txBody>
      </p:sp>
      <p:sp>
        <p:nvSpPr>
          <p:cNvPr id="5" name="Marcador de pie de página 4">
            <a:extLst>
              <a:ext uri="{FF2B5EF4-FFF2-40B4-BE49-F238E27FC236}">
                <a16:creationId xmlns:a16="http://schemas.microsoft.com/office/drawing/2014/main" id="{D0AB1141-51D5-CAC2-E969-1F46E0FCFB5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3ED64730-88FC-7455-F9D9-A3FE02E74D9A}"/>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2353467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11CAB4-222B-7AEE-A1F2-60B7B86A214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5FFD39ED-8F9D-F0F9-143B-57F838E4C1E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8831F897-8DDD-5355-452D-086A728C57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E4FFAA7F-76AF-37BE-67B2-F99DB0DDFF89}"/>
              </a:ext>
            </a:extLst>
          </p:cNvPr>
          <p:cNvSpPr>
            <a:spLocks noGrp="1"/>
          </p:cNvSpPr>
          <p:nvPr>
            <p:ph type="dt" sz="half" idx="10"/>
          </p:nvPr>
        </p:nvSpPr>
        <p:spPr/>
        <p:txBody>
          <a:bodyPr/>
          <a:lstStyle/>
          <a:p>
            <a:fld id="{428C61CA-8546-49EB-BB45-0635695277D6}" type="datetime1">
              <a:rPr lang="es-CL" smtClean="0"/>
              <a:t>20-03-2025</a:t>
            </a:fld>
            <a:endParaRPr lang="es-CL"/>
          </a:p>
        </p:txBody>
      </p:sp>
      <p:sp>
        <p:nvSpPr>
          <p:cNvPr id="6" name="Marcador de pie de página 5">
            <a:extLst>
              <a:ext uri="{FF2B5EF4-FFF2-40B4-BE49-F238E27FC236}">
                <a16:creationId xmlns:a16="http://schemas.microsoft.com/office/drawing/2014/main" id="{8C6145BF-26EB-7657-B504-6E6D974C6FE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3141300-17D3-5EAB-C471-5B1039348F1B}"/>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141696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FAC3F-3664-5BC3-3FC1-3D2DD877A65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DEDE50B-3BB3-DCAA-25F9-7D49CEA32C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F869DE7-C202-C7B1-38E5-67F8242B8B7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3EB6C6FE-D58B-4D33-8816-59FF7FF029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0945C1B-D266-B295-F5C3-DDC92D3907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98B78146-D58D-6033-B748-3D9C68159EF2}"/>
              </a:ext>
            </a:extLst>
          </p:cNvPr>
          <p:cNvSpPr>
            <a:spLocks noGrp="1"/>
          </p:cNvSpPr>
          <p:nvPr>
            <p:ph type="dt" sz="half" idx="10"/>
          </p:nvPr>
        </p:nvSpPr>
        <p:spPr/>
        <p:txBody>
          <a:bodyPr/>
          <a:lstStyle/>
          <a:p>
            <a:fld id="{359FD319-CF8B-431E-A0DA-630E0DCDD44D}" type="datetime1">
              <a:rPr lang="es-CL" smtClean="0"/>
              <a:t>20-03-2025</a:t>
            </a:fld>
            <a:endParaRPr lang="es-CL"/>
          </a:p>
        </p:txBody>
      </p:sp>
      <p:sp>
        <p:nvSpPr>
          <p:cNvPr id="8" name="Marcador de pie de página 7">
            <a:extLst>
              <a:ext uri="{FF2B5EF4-FFF2-40B4-BE49-F238E27FC236}">
                <a16:creationId xmlns:a16="http://schemas.microsoft.com/office/drawing/2014/main" id="{C7D23B21-98D0-928E-2E89-6D288AE37631}"/>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FEAA6F7-A04B-C2C5-81C1-8DF8BAE9867D}"/>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242941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E5231-0F88-2B44-0D9F-417901238ED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3057720B-3F25-B96E-C9D0-2DCA5996E01F}"/>
              </a:ext>
            </a:extLst>
          </p:cNvPr>
          <p:cNvSpPr>
            <a:spLocks noGrp="1"/>
          </p:cNvSpPr>
          <p:nvPr>
            <p:ph type="dt" sz="half" idx="10"/>
          </p:nvPr>
        </p:nvSpPr>
        <p:spPr/>
        <p:txBody>
          <a:bodyPr/>
          <a:lstStyle/>
          <a:p>
            <a:fld id="{EAF550F4-9289-4267-9034-4E8E07A90BE0}" type="datetime1">
              <a:rPr lang="es-CL" smtClean="0"/>
              <a:t>20-03-2025</a:t>
            </a:fld>
            <a:endParaRPr lang="es-CL"/>
          </a:p>
        </p:txBody>
      </p:sp>
      <p:sp>
        <p:nvSpPr>
          <p:cNvPr id="4" name="Marcador de pie de página 3">
            <a:extLst>
              <a:ext uri="{FF2B5EF4-FFF2-40B4-BE49-F238E27FC236}">
                <a16:creationId xmlns:a16="http://schemas.microsoft.com/office/drawing/2014/main" id="{75250A2B-251E-10EC-4045-F1B232F3B91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FF360FD7-7A60-4799-B728-554DD81ED7A7}"/>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1223609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0D36CB1-A56B-5A10-C424-466FFDE4BF93}"/>
              </a:ext>
            </a:extLst>
          </p:cNvPr>
          <p:cNvSpPr>
            <a:spLocks noGrp="1"/>
          </p:cNvSpPr>
          <p:nvPr>
            <p:ph type="dt" sz="half" idx="10"/>
          </p:nvPr>
        </p:nvSpPr>
        <p:spPr/>
        <p:txBody>
          <a:bodyPr/>
          <a:lstStyle/>
          <a:p>
            <a:fld id="{380AED28-067B-4BE8-A662-038279DE94AB}" type="datetime1">
              <a:rPr lang="es-CL" smtClean="0"/>
              <a:t>20-03-2025</a:t>
            </a:fld>
            <a:endParaRPr lang="es-CL"/>
          </a:p>
        </p:txBody>
      </p:sp>
      <p:sp>
        <p:nvSpPr>
          <p:cNvPr id="3" name="Marcador de pie de página 2">
            <a:extLst>
              <a:ext uri="{FF2B5EF4-FFF2-40B4-BE49-F238E27FC236}">
                <a16:creationId xmlns:a16="http://schemas.microsoft.com/office/drawing/2014/main" id="{30401202-268E-649C-21AD-A361C13FAA8E}"/>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905B9786-B9A2-F0CC-C94C-12A2822CD223}"/>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39969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19CC4E-D677-DFC7-6E1E-AC914CD3A0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7D1E24A-7194-137B-99A4-059AFA55F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D7C11130-9452-7B07-93DC-C406E9F17B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EEB8849-826D-E7A0-45C5-12170896633E}"/>
              </a:ext>
            </a:extLst>
          </p:cNvPr>
          <p:cNvSpPr>
            <a:spLocks noGrp="1"/>
          </p:cNvSpPr>
          <p:nvPr>
            <p:ph type="dt" sz="half" idx="10"/>
          </p:nvPr>
        </p:nvSpPr>
        <p:spPr/>
        <p:txBody>
          <a:bodyPr/>
          <a:lstStyle/>
          <a:p>
            <a:fld id="{F13ABD89-8750-431D-B41C-1BE8C3261562}" type="datetime1">
              <a:rPr lang="es-CL" smtClean="0"/>
              <a:t>20-03-2025</a:t>
            </a:fld>
            <a:endParaRPr lang="es-CL"/>
          </a:p>
        </p:txBody>
      </p:sp>
      <p:sp>
        <p:nvSpPr>
          <p:cNvPr id="6" name="Marcador de pie de página 5">
            <a:extLst>
              <a:ext uri="{FF2B5EF4-FFF2-40B4-BE49-F238E27FC236}">
                <a16:creationId xmlns:a16="http://schemas.microsoft.com/office/drawing/2014/main" id="{CC777874-13EF-2002-0BD6-95F48067118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E9EB7EA-449D-9CBE-71A2-366CF725D363}"/>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2891942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0773BE-30F7-8275-E598-F3663FC4DE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AA6A50C5-9248-B4D8-8B7C-ECBC54F106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50968FF-5736-5B1C-3148-A8ACD3CF1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156A3A0-C9E6-D345-B5D9-E05EC4D446E0}"/>
              </a:ext>
            </a:extLst>
          </p:cNvPr>
          <p:cNvSpPr>
            <a:spLocks noGrp="1"/>
          </p:cNvSpPr>
          <p:nvPr>
            <p:ph type="dt" sz="half" idx="10"/>
          </p:nvPr>
        </p:nvSpPr>
        <p:spPr/>
        <p:txBody>
          <a:bodyPr/>
          <a:lstStyle/>
          <a:p>
            <a:fld id="{7D772607-CF59-4E9E-95A4-828675C9CE10}" type="datetime1">
              <a:rPr lang="es-CL" smtClean="0"/>
              <a:t>20-03-2025</a:t>
            </a:fld>
            <a:endParaRPr lang="es-CL"/>
          </a:p>
        </p:txBody>
      </p:sp>
      <p:sp>
        <p:nvSpPr>
          <p:cNvPr id="6" name="Marcador de pie de página 5">
            <a:extLst>
              <a:ext uri="{FF2B5EF4-FFF2-40B4-BE49-F238E27FC236}">
                <a16:creationId xmlns:a16="http://schemas.microsoft.com/office/drawing/2014/main" id="{05C1DBAE-6305-4965-DCFF-F8F4DD595639}"/>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15BA177-1FF3-C0CA-6CAA-9AB3A262C38B}"/>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652154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F948EF-8EAB-2E31-E6C5-1D30CF079D11}"/>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2C683C49-D93A-7CDD-A2E0-CBFD22508DE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D2A18CB-1DA3-1CB1-A07B-1992946AAA37}"/>
              </a:ext>
            </a:extLst>
          </p:cNvPr>
          <p:cNvSpPr>
            <a:spLocks noGrp="1"/>
          </p:cNvSpPr>
          <p:nvPr>
            <p:ph type="dt" sz="half" idx="10"/>
          </p:nvPr>
        </p:nvSpPr>
        <p:spPr/>
        <p:txBody>
          <a:bodyPr/>
          <a:lstStyle/>
          <a:p>
            <a:fld id="{5D192F36-381B-4C06-A760-43BCD8929DFA}" type="datetime1">
              <a:rPr lang="es-CL" smtClean="0"/>
              <a:t>20-03-2025</a:t>
            </a:fld>
            <a:endParaRPr lang="es-CL"/>
          </a:p>
        </p:txBody>
      </p:sp>
      <p:sp>
        <p:nvSpPr>
          <p:cNvPr id="5" name="Marcador de pie de página 4">
            <a:extLst>
              <a:ext uri="{FF2B5EF4-FFF2-40B4-BE49-F238E27FC236}">
                <a16:creationId xmlns:a16="http://schemas.microsoft.com/office/drawing/2014/main" id="{981F3506-1340-47BB-FBE3-0825A01EC47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DCE7EB6-8899-0691-C8B3-5A37DA4FE1FE}"/>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1002082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3E4E52-00F0-54E2-FD48-40D90127287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9F0652B1-01A0-7525-71DC-AF6C66CA77C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0B4317C-A9C0-DABF-9ECC-F4C278BA6C0B}"/>
              </a:ext>
            </a:extLst>
          </p:cNvPr>
          <p:cNvSpPr>
            <a:spLocks noGrp="1"/>
          </p:cNvSpPr>
          <p:nvPr>
            <p:ph type="dt" sz="half" idx="10"/>
          </p:nvPr>
        </p:nvSpPr>
        <p:spPr/>
        <p:txBody>
          <a:bodyPr/>
          <a:lstStyle/>
          <a:p>
            <a:fld id="{A0754B7C-BB56-413E-B810-2C813983DA9F}" type="datetime1">
              <a:rPr lang="es-CL" smtClean="0"/>
              <a:t>20-03-2025</a:t>
            </a:fld>
            <a:endParaRPr lang="es-CL"/>
          </a:p>
        </p:txBody>
      </p:sp>
      <p:sp>
        <p:nvSpPr>
          <p:cNvPr id="5" name="Marcador de pie de página 4">
            <a:extLst>
              <a:ext uri="{FF2B5EF4-FFF2-40B4-BE49-F238E27FC236}">
                <a16:creationId xmlns:a16="http://schemas.microsoft.com/office/drawing/2014/main" id="{16C8E65A-1933-BE0E-0B42-B7FD10BD258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2E72E1-F46E-4EC8-5EDA-16C76FD613FE}"/>
              </a:ext>
            </a:extLst>
          </p:cNvPr>
          <p:cNvSpPr>
            <a:spLocks noGrp="1"/>
          </p:cNvSpPr>
          <p:nvPr>
            <p:ph type="sldNum" sz="quarter" idx="12"/>
          </p:nvPr>
        </p:nvSpPr>
        <p:spPr/>
        <p:txBody>
          <a:bodyPr/>
          <a:lstStyle/>
          <a:p>
            <a:fld id="{ED912E12-9DF5-47E5-8760-6375B81A7648}" type="slidenum">
              <a:rPr lang="es-CL" smtClean="0"/>
              <a:t>‹Nº›</a:t>
            </a:fld>
            <a:endParaRPr lang="es-CL"/>
          </a:p>
        </p:txBody>
      </p:sp>
    </p:spTree>
    <p:extLst>
      <p:ext uri="{BB962C8B-B14F-4D97-AF65-F5344CB8AC3E}">
        <p14:creationId xmlns:p14="http://schemas.microsoft.com/office/powerpoint/2010/main" val="38507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83A7FC-CCAF-657A-9134-622A04081A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F9CE1F5-B360-7B4E-85F7-2F655E5082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F75CF68-2D42-E3C4-F8D4-1097C836C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CFEF3F-D216-4BCC-8F6C-E5892356CE18}" type="datetime1">
              <a:rPr lang="es-CL" smtClean="0"/>
              <a:t>20-03-2025</a:t>
            </a:fld>
            <a:endParaRPr lang="es-CL"/>
          </a:p>
        </p:txBody>
      </p:sp>
      <p:sp>
        <p:nvSpPr>
          <p:cNvPr id="5" name="Marcador de pie de página 4">
            <a:extLst>
              <a:ext uri="{FF2B5EF4-FFF2-40B4-BE49-F238E27FC236}">
                <a16:creationId xmlns:a16="http://schemas.microsoft.com/office/drawing/2014/main" id="{28670C4D-B350-24AD-97B5-E65CE2CF0D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24E03AF5-27A0-9344-4AC8-72CD7EC581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912E12-9DF5-47E5-8760-6375B81A7648}" type="slidenum">
              <a:rPr lang="es-CL" smtClean="0"/>
              <a:t>‹Nº›</a:t>
            </a:fld>
            <a:endParaRPr lang="es-CL"/>
          </a:p>
        </p:txBody>
      </p:sp>
    </p:spTree>
    <p:extLst>
      <p:ext uri="{BB962C8B-B14F-4D97-AF65-F5344CB8AC3E}">
        <p14:creationId xmlns:p14="http://schemas.microsoft.com/office/powerpoint/2010/main" val="3114264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esquinas redondeadas 9">
            <a:extLst>
              <a:ext uri="{FF2B5EF4-FFF2-40B4-BE49-F238E27FC236}">
                <a16:creationId xmlns:a16="http://schemas.microsoft.com/office/drawing/2014/main" id="{EFF7AB35-C173-25B8-DBD0-1D35956CF792}"/>
              </a:ext>
            </a:extLst>
          </p:cNvPr>
          <p:cNvSpPr/>
          <p:nvPr/>
        </p:nvSpPr>
        <p:spPr>
          <a:xfrm>
            <a:off x="1676149" y="5893628"/>
            <a:ext cx="1848101" cy="814398"/>
          </a:xfrm>
          <a:prstGeom prst="roundRect">
            <a:avLst/>
          </a:prstGeom>
          <a:solidFill>
            <a:schemeClr val="tx2">
              <a:lumMod val="25000"/>
              <a:lumOff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CL" dirty="0"/>
          </a:p>
        </p:txBody>
      </p:sp>
      <p:sp>
        <p:nvSpPr>
          <p:cNvPr id="2" name="Título 1">
            <a:extLst>
              <a:ext uri="{FF2B5EF4-FFF2-40B4-BE49-F238E27FC236}">
                <a16:creationId xmlns:a16="http://schemas.microsoft.com/office/drawing/2014/main" id="{AA9296A2-0392-6E1B-A643-3E129D5B186F}"/>
              </a:ext>
            </a:extLst>
          </p:cNvPr>
          <p:cNvSpPr>
            <a:spLocks noGrp="1"/>
          </p:cNvSpPr>
          <p:nvPr>
            <p:ph type="ctrTitle"/>
          </p:nvPr>
        </p:nvSpPr>
        <p:spPr/>
        <p:txBody>
          <a:bodyPr/>
          <a:lstStyle/>
          <a:p>
            <a:r>
              <a:rPr lang="es-MX" dirty="0">
                <a:latin typeface="Bahnschrift" panose="020B0502040204020203" pitchFamily="34" charset="0"/>
              </a:rPr>
              <a:t>Reporte Etapa 2 </a:t>
            </a:r>
            <a:br>
              <a:rPr lang="es-MX" dirty="0">
                <a:latin typeface="Bahnschrift" panose="020B0502040204020203" pitchFamily="34" charset="0"/>
              </a:rPr>
            </a:br>
            <a:r>
              <a:rPr lang="es-MX" dirty="0">
                <a:latin typeface="Bahnschrift" panose="020B0502040204020203" pitchFamily="34" charset="0"/>
              </a:rPr>
              <a:t>Práctica H-TUM</a:t>
            </a:r>
            <a:endParaRPr lang="es-CL" dirty="0">
              <a:latin typeface="Bahnschrift" panose="020B0502040204020203" pitchFamily="34" charset="0"/>
            </a:endParaRPr>
          </a:p>
        </p:txBody>
      </p:sp>
      <p:sp>
        <p:nvSpPr>
          <p:cNvPr id="3" name="Subtítulo 2">
            <a:extLst>
              <a:ext uri="{FF2B5EF4-FFF2-40B4-BE49-F238E27FC236}">
                <a16:creationId xmlns:a16="http://schemas.microsoft.com/office/drawing/2014/main" id="{F56188BD-8CE8-13CA-BCEF-83553E3240D0}"/>
              </a:ext>
            </a:extLst>
          </p:cNvPr>
          <p:cNvSpPr>
            <a:spLocks noGrp="1"/>
          </p:cNvSpPr>
          <p:nvPr>
            <p:ph type="subTitle" idx="1"/>
          </p:nvPr>
        </p:nvSpPr>
        <p:spPr>
          <a:xfrm>
            <a:off x="1508127" y="4237866"/>
            <a:ext cx="9144000" cy="1655762"/>
          </a:xfrm>
        </p:spPr>
        <p:txBody>
          <a:bodyPr>
            <a:normAutofit/>
          </a:bodyPr>
          <a:lstStyle/>
          <a:p>
            <a:r>
              <a:rPr lang="es-MX" sz="1800" dirty="0">
                <a:solidFill>
                  <a:schemeClr val="bg2">
                    <a:lumMod val="50000"/>
                  </a:schemeClr>
                </a:solidFill>
                <a:latin typeface="Bahnschrift SemiLight" panose="020B0502040204020203" pitchFamily="34" charset="0"/>
              </a:rPr>
              <a:t>Claudio López-Fernández</a:t>
            </a:r>
          </a:p>
          <a:p>
            <a:r>
              <a:rPr lang="es-MX" sz="1800" dirty="0" err="1">
                <a:solidFill>
                  <a:schemeClr val="bg2">
                    <a:lumMod val="50000"/>
                  </a:schemeClr>
                </a:solidFill>
                <a:latin typeface="Bahnschrift SemiLight" panose="020B0502040204020203" pitchFamily="34" charset="0"/>
              </a:rPr>
              <a:t>Vantaz</a:t>
            </a:r>
            <a:r>
              <a:rPr lang="es-MX" sz="1800" dirty="0">
                <a:solidFill>
                  <a:schemeClr val="bg2">
                    <a:lumMod val="50000"/>
                  </a:schemeClr>
                </a:solidFill>
                <a:latin typeface="Bahnschrift SemiLight" panose="020B0502040204020203" pitchFamily="34" charset="0"/>
              </a:rPr>
              <a:t> </a:t>
            </a:r>
            <a:r>
              <a:rPr lang="es-MX" sz="1800" dirty="0" err="1">
                <a:solidFill>
                  <a:schemeClr val="bg2">
                    <a:lumMod val="50000"/>
                  </a:schemeClr>
                </a:solidFill>
                <a:latin typeface="Bahnschrift SemiLight" panose="020B0502040204020203" pitchFamily="34" charset="0"/>
              </a:rPr>
              <a:t>Analytics</a:t>
            </a:r>
            <a:endParaRPr lang="es-MX" sz="1800" dirty="0">
              <a:solidFill>
                <a:schemeClr val="bg2">
                  <a:lumMod val="50000"/>
                </a:schemeClr>
              </a:solidFill>
              <a:latin typeface="Bahnschrift SemiLight" panose="020B0502040204020203" pitchFamily="34" charset="0"/>
            </a:endParaRPr>
          </a:p>
          <a:p>
            <a:r>
              <a:rPr lang="es-MX" sz="1800" dirty="0">
                <a:solidFill>
                  <a:schemeClr val="bg2">
                    <a:lumMod val="50000"/>
                  </a:schemeClr>
                </a:solidFill>
                <a:latin typeface="Bahnschrift SemiLight" panose="020B0502040204020203" pitchFamily="34" charset="0"/>
              </a:rPr>
              <a:t>Practicante</a:t>
            </a:r>
            <a:endParaRPr lang="es-CL" sz="1800" dirty="0">
              <a:solidFill>
                <a:schemeClr val="bg2">
                  <a:lumMod val="50000"/>
                </a:schemeClr>
              </a:solidFill>
              <a:latin typeface="Bahnschrift SemiLight" panose="020B0502040204020203" pitchFamily="34" charset="0"/>
            </a:endParaRPr>
          </a:p>
        </p:txBody>
      </p:sp>
      <p:sp>
        <p:nvSpPr>
          <p:cNvPr id="4" name="Rectángulo 3">
            <a:extLst>
              <a:ext uri="{FF2B5EF4-FFF2-40B4-BE49-F238E27FC236}">
                <a16:creationId xmlns:a16="http://schemas.microsoft.com/office/drawing/2014/main" id="{09E07455-A3B1-97CE-D245-99AB8E69D6C8}"/>
              </a:ext>
            </a:extLst>
          </p:cNvPr>
          <p:cNvSpPr/>
          <p:nvPr/>
        </p:nvSpPr>
        <p:spPr>
          <a:xfrm>
            <a:off x="-1" y="0"/>
            <a:ext cx="1445623"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5" name="Rectángulo 4">
            <a:extLst>
              <a:ext uri="{FF2B5EF4-FFF2-40B4-BE49-F238E27FC236}">
                <a16:creationId xmlns:a16="http://schemas.microsoft.com/office/drawing/2014/main" id="{53B7188C-4D84-E7A1-BFB1-B4C9223FB9E2}"/>
              </a:ext>
            </a:extLst>
          </p:cNvPr>
          <p:cNvSpPr/>
          <p:nvPr/>
        </p:nvSpPr>
        <p:spPr>
          <a:xfrm>
            <a:off x="10746376" y="0"/>
            <a:ext cx="1445623" cy="68580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pic>
        <p:nvPicPr>
          <p:cNvPr id="8" name="Imagen 7" descr="Imagen que contiene Texto&#10;&#10;Descripción generada automáticamente">
            <a:extLst>
              <a:ext uri="{FF2B5EF4-FFF2-40B4-BE49-F238E27FC236}">
                <a16:creationId xmlns:a16="http://schemas.microsoft.com/office/drawing/2014/main" id="{FDE82C8B-0189-7A9A-C3F4-A0DE31725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0743" y="6080910"/>
            <a:ext cx="1058911" cy="439834"/>
          </a:xfrm>
          <a:prstGeom prst="rect">
            <a:avLst/>
          </a:prstGeom>
        </p:spPr>
      </p:pic>
    </p:spTree>
    <p:extLst>
      <p:ext uri="{BB962C8B-B14F-4D97-AF65-F5344CB8AC3E}">
        <p14:creationId xmlns:p14="http://schemas.microsoft.com/office/powerpoint/2010/main" val="2043760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8495BBF-0C43-DF07-D7C5-41D7F7A09B21}"/>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3" name="Marcador de contenido 2">
            <a:extLst>
              <a:ext uri="{FF2B5EF4-FFF2-40B4-BE49-F238E27FC236}">
                <a16:creationId xmlns:a16="http://schemas.microsoft.com/office/drawing/2014/main" id="{569CD9AA-9D2A-D38F-B0FC-98A3BFA9269E}"/>
              </a:ext>
            </a:extLst>
          </p:cNvPr>
          <p:cNvSpPr>
            <a:spLocks noGrp="1"/>
          </p:cNvSpPr>
          <p:nvPr>
            <p:ph idx="1"/>
          </p:nvPr>
        </p:nvSpPr>
        <p:spPr>
          <a:xfrm>
            <a:off x="2423162" y="1403260"/>
            <a:ext cx="10515600" cy="4351338"/>
          </a:xfrm>
        </p:spPr>
        <p:txBody>
          <a:bodyPr>
            <a:normAutofit fontScale="92500" lnSpcReduction="20000"/>
          </a:bodyPr>
          <a:lstStyle/>
          <a:p>
            <a:pPr>
              <a:lnSpc>
                <a:spcPct val="170000"/>
              </a:lnSpc>
            </a:pPr>
            <a:r>
              <a:rPr lang="es-MX" dirty="0">
                <a:latin typeface="Bahnschrift SemiLight" panose="020B0502040204020203" pitchFamily="34" charset="0"/>
              </a:rPr>
              <a:t>Resumen etapa 1 y actualización</a:t>
            </a:r>
          </a:p>
          <a:p>
            <a:pPr>
              <a:lnSpc>
                <a:spcPct val="170000"/>
              </a:lnSpc>
            </a:pPr>
            <a:r>
              <a:rPr lang="es-MX" dirty="0">
                <a:latin typeface="Bahnschrift SemiLight" panose="020B0502040204020203" pitchFamily="34" charset="0"/>
              </a:rPr>
              <a:t>Objetivos</a:t>
            </a:r>
          </a:p>
          <a:p>
            <a:pPr>
              <a:lnSpc>
                <a:spcPct val="170000"/>
              </a:lnSpc>
            </a:pPr>
            <a:r>
              <a:rPr lang="es-MX" dirty="0">
                <a:latin typeface="Bahnschrift SemiLight" panose="020B0502040204020203" pitchFamily="34" charset="0"/>
              </a:rPr>
              <a:t>Descripción de los datos y procesamiento</a:t>
            </a:r>
          </a:p>
          <a:p>
            <a:pPr>
              <a:lnSpc>
                <a:spcPct val="170000"/>
              </a:lnSpc>
            </a:pPr>
            <a:r>
              <a:rPr lang="es-MX" dirty="0">
                <a:latin typeface="Bahnschrift SemiLight" panose="020B0502040204020203" pitchFamily="34" charset="0"/>
              </a:rPr>
              <a:t>Métricas de evaluación de los modelos</a:t>
            </a:r>
          </a:p>
          <a:p>
            <a:pPr>
              <a:lnSpc>
                <a:spcPct val="170000"/>
              </a:lnSpc>
            </a:pPr>
            <a:r>
              <a:rPr lang="es-MX" dirty="0">
                <a:latin typeface="Bahnschrift SemiLight" panose="020B0502040204020203" pitchFamily="34" charset="0"/>
              </a:rPr>
              <a:t>Resultados: Performance e </a:t>
            </a:r>
            <a:r>
              <a:rPr lang="es-MX" dirty="0" err="1">
                <a:latin typeface="Bahnschrift SemiLight" panose="020B0502040204020203" pitchFamily="34" charset="0"/>
              </a:rPr>
              <a:t>insights</a:t>
            </a:r>
            <a:endParaRPr lang="es-MX" dirty="0">
              <a:latin typeface="Bahnschrift SemiLight" panose="020B0502040204020203" pitchFamily="34" charset="0"/>
            </a:endParaRPr>
          </a:p>
          <a:p>
            <a:pPr>
              <a:lnSpc>
                <a:spcPct val="170000"/>
              </a:lnSpc>
            </a:pPr>
            <a:r>
              <a:rPr lang="es-CL" dirty="0">
                <a:latin typeface="Bahnschrift SemiLight" panose="020B0502040204020203" pitchFamily="34" charset="0"/>
              </a:rPr>
              <a:t>Recomendaciones a futuro</a:t>
            </a:r>
          </a:p>
        </p:txBody>
      </p:sp>
      <p:sp>
        <p:nvSpPr>
          <p:cNvPr id="2" name="Título 1">
            <a:extLst>
              <a:ext uri="{FF2B5EF4-FFF2-40B4-BE49-F238E27FC236}">
                <a16:creationId xmlns:a16="http://schemas.microsoft.com/office/drawing/2014/main" id="{060213F7-F9A6-560C-DF21-5C6A135657C2}"/>
              </a:ext>
            </a:extLst>
          </p:cNvPr>
          <p:cNvSpPr>
            <a:spLocks noGrp="1"/>
          </p:cNvSpPr>
          <p:nvPr>
            <p:ph type="title"/>
          </p:nvPr>
        </p:nvSpPr>
        <p:spPr>
          <a:xfrm>
            <a:off x="0" y="2766218"/>
            <a:ext cx="2225040" cy="1325563"/>
          </a:xfrm>
        </p:spPr>
        <p:txBody>
          <a:bodyPr>
            <a:normAutofit/>
          </a:bodyPr>
          <a:lstStyle/>
          <a:p>
            <a:pPr algn="ctr"/>
            <a:r>
              <a:rPr lang="es-MX" sz="3200" dirty="0">
                <a:solidFill>
                  <a:schemeClr val="bg1"/>
                </a:solidFill>
                <a:latin typeface="Bahnschrift" panose="020B0502040204020203" pitchFamily="34" charset="0"/>
              </a:rPr>
              <a:t>Agenda</a:t>
            </a:r>
            <a:endParaRPr lang="es-CL" sz="3200" dirty="0">
              <a:solidFill>
                <a:schemeClr val="bg1"/>
              </a:solidFill>
              <a:latin typeface="Bahnschrift" panose="020B0502040204020203" pitchFamily="34" charset="0"/>
            </a:endParaRPr>
          </a:p>
        </p:txBody>
      </p:sp>
      <p:sp>
        <p:nvSpPr>
          <p:cNvPr id="6" name="Marcador de número de diapositiva 5">
            <a:extLst>
              <a:ext uri="{FF2B5EF4-FFF2-40B4-BE49-F238E27FC236}">
                <a16:creationId xmlns:a16="http://schemas.microsoft.com/office/drawing/2014/main" id="{3AE6868A-21FA-74C0-A2DE-116E5661C012}"/>
              </a:ext>
            </a:extLst>
          </p:cNvPr>
          <p:cNvSpPr>
            <a:spLocks noGrp="1"/>
          </p:cNvSpPr>
          <p:nvPr>
            <p:ph type="sldNum" sz="quarter" idx="12"/>
          </p:nvPr>
        </p:nvSpPr>
        <p:spPr/>
        <p:txBody>
          <a:bodyPr/>
          <a:lstStyle/>
          <a:p>
            <a:fld id="{ED912E12-9DF5-47E5-8760-6375B81A7648}" type="slidenum">
              <a:rPr lang="es-CL" smtClean="0"/>
              <a:t>2</a:t>
            </a:fld>
            <a:endParaRPr lang="es-CL"/>
          </a:p>
        </p:txBody>
      </p:sp>
    </p:spTree>
    <p:extLst>
      <p:ext uri="{BB962C8B-B14F-4D97-AF65-F5344CB8AC3E}">
        <p14:creationId xmlns:p14="http://schemas.microsoft.com/office/powerpoint/2010/main" val="1284124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CB316-68F8-CE62-9C13-B1AF384437A9}"/>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E6751BFC-5577-ECA9-F5DD-71A3504C5F4E}"/>
              </a:ext>
            </a:extLst>
          </p:cNvPr>
          <p:cNvSpPr/>
          <p:nvPr/>
        </p:nvSpPr>
        <p:spPr>
          <a:xfrm>
            <a:off x="2856413" y="270556"/>
            <a:ext cx="2120536" cy="796834"/>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9B10A6D1-92A8-70D9-CF74-FA7B34B027B9}"/>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86A741EA-5F0C-60CD-4F12-22AB81CD0783}"/>
              </a:ext>
            </a:extLst>
          </p:cNvPr>
          <p:cNvSpPr>
            <a:spLocks noGrp="1"/>
          </p:cNvSpPr>
          <p:nvPr>
            <p:ph type="title"/>
          </p:nvPr>
        </p:nvSpPr>
        <p:spPr>
          <a:xfrm>
            <a:off x="0" y="2766219"/>
            <a:ext cx="2225040" cy="1261496"/>
          </a:xfrm>
        </p:spPr>
        <p:txBody>
          <a:bodyPr>
            <a:normAutofit/>
          </a:bodyPr>
          <a:lstStyle/>
          <a:p>
            <a:pPr algn="ctr"/>
            <a:r>
              <a:rPr lang="es-MX" sz="3200" dirty="0">
                <a:solidFill>
                  <a:schemeClr val="bg1"/>
                </a:solidFill>
                <a:latin typeface="Bahnschrift" panose="020B0502040204020203" pitchFamily="34" charset="0"/>
              </a:rPr>
              <a:t>Etapa 1</a:t>
            </a:r>
            <a:endParaRPr lang="es-CL" sz="3200" dirty="0">
              <a:solidFill>
                <a:schemeClr val="bg1"/>
              </a:solidFill>
              <a:latin typeface="Bahnschrift" panose="020B0502040204020203" pitchFamily="34" charset="0"/>
            </a:endParaRPr>
          </a:p>
        </p:txBody>
      </p:sp>
      <p:sp>
        <p:nvSpPr>
          <p:cNvPr id="7" name="CuadroTexto 6">
            <a:extLst>
              <a:ext uri="{FF2B5EF4-FFF2-40B4-BE49-F238E27FC236}">
                <a16:creationId xmlns:a16="http://schemas.microsoft.com/office/drawing/2014/main" id="{4A1285CE-94EB-73B2-4F27-3C3E93085196}"/>
              </a:ext>
            </a:extLst>
          </p:cNvPr>
          <p:cNvSpPr txBox="1"/>
          <p:nvPr/>
        </p:nvSpPr>
        <p:spPr>
          <a:xfrm>
            <a:off x="3448594" y="436498"/>
            <a:ext cx="1528355" cy="461665"/>
          </a:xfrm>
          <a:prstGeom prst="rect">
            <a:avLst/>
          </a:prstGeom>
          <a:noFill/>
        </p:spPr>
        <p:txBody>
          <a:bodyPr wrap="square" rtlCol="0">
            <a:spAutoFit/>
          </a:bodyPr>
          <a:lstStyle/>
          <a:p>
            <a:r>
              <a:rPr lang="es-MX" sz="2400" dirty="0">
                <a:solidFill>
                  <a:schemeClr val="bg1"/>
                </a:solidFill>
                <a:latin typeface="Bahnschrift SemiBold SemiConden" panose="020B0502040204020203" pitchFamily="34" charset="0"/>
              </a:rPr>
              <a:t>H-TUM</a:t>
            </a:r>
            <a:endParaRPr lang="es-CL" sz="2400" dirty="0">
              <a:solidFill>
                <a:schemeClr val="bg1"/>
              </a:solidFill>
              <a:latin typeface="Bahnschrift SemiBold SemiConden" panose="020B0502040204020203" pitchFamily="34" charset="0"/>
            </a:endParaRPr>
          </a:p>
        </p:txBody>
      </p:sp>
      <p:graphicFrame>
        <p:nvGraphicFramePr>
          <p:cNvPr id="3" name="Tabla 2">
            <a:extLst>
              <a:ext uri="{FF2B5EF4-FFF2-40B4-BE49-F238E27FC236}">
                <a16:creationId xmlns:a16="http://schemas.microsoft.com/office/drawing/2014/main" id="{D542D54F-4B09-AB21-D8F3-2BBF0B749254}"/>
              </a:ext>
            </a:extLst>
          </p:cNvPr>
          <p:cNvGraphicFramePr>
            <a:graphicFrameLocks noGrp="1"/>
          </p:cNvGraphicFramePr>
          <p:nvPr>
            <p:extLst>
              <p:ext uri="{D42A27DB-BD31-4B8C-83A1-F6EECF244321}">
                <p14:modId xmlns:p14="http://schemas.microsoft.com/office/powerpoint/2010/main" val="3128615906"/>
              </p:ext>
            </p:extLst>
          </p:nvPr>
        </p:nvGraphicFramePr>
        <p:xfrm>
          <a:off x="2856413" y="1317883"/>
          <a:ext cx="8617121" cy="3223048"/>
        </p:xfrm>
        <a:graphic>
          <a:graphicData uri="http://schemas.openxmlformats.org/drawingml/2006/table">
            <a:tbl>
              <a:tblPr/>
              <a:tblGrid>
                <a:gridCol w="508195">
                  <a:extLst>
                    <a:ext uri="{9D8B030D-6E8A-4147-A177-3AD203B41FA5}">
                      <a16:colId xmlns:a16="http://schemas.microsoft.com/office/drawing/2014/main" val="3415868831"/>
                    </a:ext>
                  </a:extLst>
                </a:gridCol>
                <a:gridCol w="569177">
                  <a:extLst>
                    <a:ext uri="{9D8B030D-6E8A-4147-A177-3AD203B41FA5}">
                      <a16:colId xmlns:a16="http://schemas.microsoft.com/office/drawing/2014/main" val="3592119031"/>
                    </a:ext>
                  </a:extLst>
                </a:gridCol>
                <a:gridCol w="571025">
                  <a:extLst>
                    <a:ext uri="{9D8B030D-6E8A-4147-A177-3AD203B41FA5}">
                      <a16:colId xmlns:a16="http://schemas.microsoft.com/office/drawing/2014/main" val="1001321944"/>
                    </a:ext>
                  </a:extLst>
                </a:gridCol>
                <a:gridCol w="571025">
                  <a:extLst>
                    <a:ext uri="{9D8B030D-6E8A-4147-A177-3AD203B41FA5}">
                      <a16:colId xmlns:a16="http://schemas.microsoft.com/office/drawing/2014/main" val="1689997947"/>
                    </a:ext>
                  </a:extLst>
                </a:gridCol>
                <a:gridCol w="489714">
                  <a:extLst>
                    <a:ext uri="{9D8B030D-6E8A-4147-A177-3AD203B41FA5}">
                      <a16:colId xmlns:a16="http://schemas.microsoft.com/office/drawing/2014/main" val="1144565922"/>
                    </a:ext>
                  </a:extLst>
                </a:gridCol>
                <a:gridCol w="408403">
                  <a:extLst>
                    <a:ext uri="{9D8B030D-6E8A-4147-A177-3AD203B41FA5}">
                      <a16:colId xmlns:a16="http://schemas.microsoft.com/office/drawing/2014/main" val="1426312258"/>
                    </a:ext>
                  </a:extLst>
                </a:gridCol>
                <a:gridCol w="571025">
                  <a:extLst>
                    <a:ext uri="{9D8B030D-6E8A-4147-A177-3AD203B41FA5}">
                      <a16:colId xmlns:a16="http://schemas.microsoft.com/office/drawing/2014/main" val="2870387607"/>
                    </a:ext>
                  </a:extLst>
                </a:gridCol>
                <a:gridCol w="571025">
                  <a:extLst>
                    <a:ext uri="{9D8B030D-6E8A-4147-A177-3AD203B41FA5}">
                      <a16:colId xmlns:a16="http://schemas.microsoft.com/office/drawing/2014/main" val="4109404092"/>
                    </a:ext>
                  </a:extLst>
                </a:gridCol>
                <a:gridCol w="746583">
                  <a:extLst>
                    <a:ext uri="{9D8B030D-6E8A-4147-A177-3AD203B41FA5}">
                      <a16:colId xmlns:a16="http://schemas.microsoft.com/office/drawing/2014/main" val="3271696021"/>
                    </a:ext>
                  </a:extLst>
                </a:gridCol>
                <a:gridCol w="571025">
                  <a:extLst>
                    <a:ext uri="{9D8B030D-6E8A-4147-A177-3AD203B41FA5}">
                      <a16:colId xmlns:a16="http://schemas.microsoft.com/office/drawing/2014/main" val="2216664372"/>
                    </a:ext>
                  </a:extLst>
                </a:gridCol>
                <a:gridCol w="755824">
                  <a:extLst>
                    <a:ext uri="{9D8B030D-6E8A-4147-A177-3AD203B41FA5}">
                      <a16:colId xmlns:a16="http://schemas.microsoft.com/office/drawing/2014/main" val="1990394081"/>
                    </a:ext>
                  </a:extLst>
                </a:gridCol>
                <a:gridCol w="571025">
                  <a:extLst>
                    <a:ext uri="{9D8B030D-6E8A-4147-A177-3AD203B41FA5}">
                      <a16:colId xmlns:a16="http://schemas.microsoft.com/office/drawing/2014/main" val="2085142230"/>
                    </a:ext>
                  </a:extLst>
                </a:gridCol>
                <a:gridCol w="571025">
                  <a:extLst>
                    <a:ext uri="{9D8B030D-6E8A-4147-A177-3AD203B41FA5}">
                      <a16:colId xmlns:a16="http://schemas.microsoft.com/office/drawing/2014/main" val="815403653"/>
                    </a:ext>
                  </a:extLst>
                </a:gridCol>
                <a:gridCol w="571025">
                  <a:extLst>
                    <a:ext uri="{9D8B030D-6E8A-4147-A177-3AD203B41FA5}">
                      <a16:colId xmlns:a16="http://schemas.microsoft.com/office/drawing/2014/main" val="2318066499"/>
                    </a:ext>
                  </a:extLst>
                </a:gridCol>
                <a:gridCol w="571025">
                  <a:extLst>
                    <a:ext uri="{9D8B030D-6E8A-4147-A177-3AD203B41FA5}">
                      <a16:colId xmlns:a16="http://schemas.microsoft.com/office/drawing/2014/main" val="2005003094"/>
                    </a:ext>
                  </a:extLst>
                </a:gridCol>
              </a:tblGrid>
              <a:tr h="596752">
                <a:tc gridSpan="15">
                  <a:txBody>
                    <a:bodyPr/>
                    <a:lstStyle/>
                    <a:p>
                      <a:pPr algn="ctr" fontAlgn="ctr"/>
                      <a:r>
                        <a:rPr lang="es-CL" sz="900" b="1" i="0" u="none" strike="noStrike" dirty="0">
                          <a:solidFill>
                            <a:srgbClr val="000000"/>
                          </a:solidFill>
                          <a:effectLst/>
                          <a:latin typeface="Calibri" panose="020F0502020204030204" pitchFamily="34" charset="0"/>
                        </a:rPr>
                        <a:t>Tiempo Calendario</a:t>
                      </a:r>
                      <a:br>
                        <a:rPr lang="es-CL" sz="900" b="1" i="0" u="none" strike="noStrike" dirty="0">
                          <a:solidFill>
                            <a:srgbClr val="000000"/>
                          </a:solidFill>
                          <a:effectLst/>
                          <a:latin typeface="Calibri" panose="020F0502020204030204" pitchFamily="34" charset="0"/>
                        </a:rPr>
                      </a:br>
                      <a:r>
                        <a:rPr lang="es-CL" sz="900" b="1" i="0" u="none" strike="noStrike" dirty="0">
                          <a:solidFill>
                            <a:srgbClr val="000000"/>
                          </a:solidFill>
                          <a:effectLst/>
                          <a:latin typeface="Calibri" panose="020F0502020204030204" pitchFamily="34" charset="0"/>
                        </a:rPr>
                        <a:t>(TC)</a:t>
                      </a:r>
                    </a:p>
                  </a:txBody>
                  <a:tcPr marL="2255" marR="2255" marT="2255" marB="10825"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A4E1"/>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2565921"/>
                  </a:ext>
                </a:extLst>
              </a:tr>
              <a:tr h="596752">
                <a:tc gridSpan="14">
                  <a:txBody>
                    <a:bodyPr/>
                    <a:lstStyle/>
                    <a:p>
                      <a:pPr algn="ctr" fontAlgn="ctr"/>
                      <a:r>
                        <a:rPr lang="es-CL" sz="900" b="1" i="0" u="none" strike="noStrike" dirty="0">
                          <a:solidFill>
                            <a:srgbClr val="000000"/>
                          </a:solidFill>
                          <a:effectLst/>
                          <a:latin typeface="Calibri" panose="020F0502020204030204" pitchFamily="34" charset="0"/>
                        </a:rPr>
                        <a:t>Tiempo Programado</a:t>
                      </a:r>
                      <a:br>
                        <a:rPr lang="es-CL" sz="900" b="1" i="0" u="none" strike="noStrike" dirty="0">
                          <a:solidFill>
                            <a:srgbClr val="000000"/>
                          </a:solidFill>
                          <a:effectLst/>
                          <a:latin typeface="Calibri" panose="020F0502020204030204" pitchFamily="34" charset="0"/>
                        </a:rPr>
                      </a:br>
                      <a:r>
                        <a:rPr lang="es-CL" sz="900" b="1" i="0" u="none" strike="noStrike" dirty="0">
                          <a:solidFill>
                            <a:srgbClr val="000000"/>
                          </a:solidFill>
                          <a:effectLst/>
                          <a:latin typeface="Calibri" panose="020F0502020204030204" pitchFamily="34" charset="0"/>
                        </a:rPr>
                        <a:t>(TP)</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ADFFF"/>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rowSpan="4">
                  <a:txBody>
                    <a:bodyPr/>
                    <a:lstStyle/>
                    <a:p>
                      <a:pPr algn="ctr" fontAlgn="ctr"/>
                      <a:r>
                        <a:rPr lang="es-CL" sz="900" b="1" i="0" u="none" strike="noStrike">
                          <a:solidFill>
                            <a:srgbClr val="000000"/>
                          </a:solidFill>
                          <a:effectLst/>
                          <a:latin typeface="Calibri" panose="020F0502020204030204" pitchFamily="34" charset="0"/>
                        </a:rPr>
                        <a:t>Tiempo No Planificado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(TNP)</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CC8"/>
                    </a:solidFill>
                  </a:tcPr>
                </a:tc>
                <a:extLst>
                  <a:ext uri="{0D108BD9-81ED-4DB2-BD59-A6C34878D82A}">
                    <a16:rowId xmlns:a16="http://schemas.microsoft.com/office/drawing/2014/main" val="1497969315"/>
                  </a:ext>
                </a:extLst>
              </a:tr>
              <a:tr h="596752">
                <a:tc gridSpan="11">
                  <a:txBody>
                    <a:bodyPr/>
                    <a:lstStyle/>
                    <a:p>
                      <a:pPr algn="ctr" fontAlgn="ctr"/>
                      <a:r>
                        <a:rPr lang="es-CL" sz="900" b="1" i="0" u="none" strike="noStrike" dirty="0">
                          <a:solidFill>
                            <a:srgbClr val="000000"/>
                          </a:solidFill>
                          <a:effectLst/>
                          <a:latin typeface="Calibri" panose="020F0502020204030204" pitchFamily="34" charset="0"/>
                        </a:rPr>
                        <a:t>Tiempo de Trabajo</a:t>
                      </a:r>
                      <a:br>
                        <a:rPr lang="es-CL" sz="900" b="1" i="0" u="none" strike="noStrike" dirty="0">
                          <a:solidFill>
                            <a:srgbClr val="000000"/>
                          </a:solidFill>
                          <a:effectLst/>
                          <a:latin typeface="Calibri" panose="020F0502020204030204" pitchFamily="34" charset="0"/>
                        </a:rPr>
                      </a:br>
                      <a:r>
                        <a:rPr lang="es-CL" sz="900" b="1" i="0" u="none" strike="noStrike" dirty="0">
                          <a:solidFill>
                            <a:srgbClr val="000000"/>
                          </a:solidFill>
                          <a:effectLst/>
                          <a:latin typeface="Calibri" panose="020F0502020204030204" pitchFamily="34" charset="0"/>
                        </a:rPr>
                        <a:t>(TT)</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45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gridSpan="3">
                  <a:txBody>
                    <a:bodyPr/>
                    <a:lstStyle/>
                    <a:p>
                      <a:pPr algn="ctr" fontAlgn="ctr"/>
                      <a:r>
                        <a:rPr lang="es-CL" sz="900" b="1" i="0" u="none" strike="noStrike">
                          <a:solidFill>
                            <a:srgbClr val="000000"/>
                          </a:solidFill>
                          <a:effectLst/>
                          <a:latin typeface="Calibri" panose="020F0502020204030204" pitchFamily="34" charset="0"/>
                        </a:rPr>
                        <a:t>Tiempo Demoras Externas</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(TDE)</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29AAC"/>
                    </a:solidFill>
                  </a:tcPr>
                </a:tc>
                <a:tc hMerge="1">
                  <a:txBody>
                    <a:bodyPr/>
                    <a:lstStyle/>
                    <a:p>
                      <a:endParaRPr lang="es-CL"/>
                    </a:p>
                  </a:txBody>
                  <a:tcPr/>
                </a:tc>
                <a:tc hMerge="1">
                  <a:txBody>
                    <a:bodyPr/>
                    <a:lstStyle/>
                    <a:p>
                      <a:endParaRPr lang="es-CL"/>
                    </a:p>
                  </a:txBody>
                  <a:tcPr/>
                </a:tc>
                <a:tc vMerge="1">
                  <a:txBody>
                    <a:bodyPr/>
                    <a:lstStyle/>
                    <a:p>
                      <a:endParaRPr lang="es-CL"/>
                    </a:p>
                  </a:txBody>
                  <a:tcPr/>
                </a:tc>
                <a:extLst>
                  <a:ext uri="{0D108BD9-81ED-4DB2-BD59-A6C34878D82A}">
                    <a16:rowId xmlns:a16="http://schemas.microsoft.com/office/drawing/2014/main" val="2938478297"/>
                  </a:ext>
                </a:extLst>
              </a:tr>
              <a:tr h="596752">
                <a:tc gridSpan="7">
                  <a:txBody>
                    <a:bodyPr/>
                    <a:lstStyle/>
                    <a:p>
                      <a:pPr algn="ctr" fontAlgn="ctr"/>
                      <a:r>
                        <a:rPr lang="es-CL" sz="900" b="1" i="0" u="none" strike="noStrike" dirty="0">
                          <a:solidFill>
                            <a:srgbClr val="000000"/>
                          </a:solidFill>
                          <a:effectLst/>
                          <a:latin typeface="Calibri" panose="020F0502020204030204" pitchFamily="34" charset="0"/>
                        </a:rPr>
                        <a:t>Tiempo Disponible</a:t>
                      </a:r>
                      <a:br>
                        <a:rPr lang="es-CL" sz="900" b="1" i="0" u="none" strike="noStrike" dirty="0">
                          <a:solidFill>
                            <a:srgbClr val="000000"/>
                          </a:solidFill>
                          <a:effectLst/>
                          <a:latin typeface="Calibri" panose="020F0502020204030204" pitchFamily="34" charset="0"/>
                        </a:rPr>
                      </a:br>
                      <a:r>
                        <a:rPr lang="es-CL" sz="900" b="1" i="0" u="none" strike="noStrike" dirty="0">
                          <a:solidFill>
                            <a:srgbClr val="000000"/>
                          </a:solidFill>
                          <a:effectLst/>
                          <a:latin typeface="Calibri" panose="020F0502020204030204" pitchFamily="34" charset="0"/>
                        </a:rPr>
                        <a:t>(TD)</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AB8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algn="ctr" fontAlgn="ctr"/>
                      <a:r>
                        <a:rPr lang="es-CL" sz="900" b="1" i="0" u="none" strike="noStrike">
                          <a:solidFill>
                            <a:srgbClr val="000000"/>
                          </a:solidFill>
                          <a:effectLst/>
                          <a:latin typeface="Calibri" panose="020F0502020204030204" pitchFamily="34" charset="0"/>
                        </a:rPr>
                        <a:t>Tiempo Mantenimiento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(TM)</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8070"/>
                    </a:solidFill>
                  </a:tcPr>
                </a:tc>
                <a:tc hMerge="1">
                  <a:txBody>
                    <a:bodyPr/>
                    <a:lstStyle/>
                    <a:p>
                      <a:endParaRPr lang="es-CL"/>
                    </a:p>
                  </a:txBody>
                  <a:tcPr/>
                </a:tc>
                <a:tc hMerge="1">
                  <a:txBody>
                    <a:bodyPr/>
                    <a:lstStyle/>
                    <a:p>
                      <a:endParaRPr lang="es-CL"/>
                    </a:p>
                  </a:txBody>
                  <a:tcPr/>
                </a:tc>
                <a:tc hMerge="1">
                  <a:txBody>
                    <a:bodyPr/>
                    <a:lstStyle/>
                    <a:p>
                      <a:endParaRPr lang="es-CL"/>
                    </a:p>
                  </a:txBody>
                  <a:tcPr/>
                </a:tc>
                <a:tc rowSpan="2">
                  <a:txBody>
                    <a:bodyPr/>
                    <a:lstStyle/>
                    <a:p>
                      <a:pPr algn="ctr" fontAlgn="ctr"/>
                      <a:r>
                        <a:rPr lang="es-CL" sz="900" b="1" i="0" u="none" strike="noStrike">
                          <a:solidFill>
                            <a:srgbClr val="000000"/>
                          </a:solidFill>
                          <a:effectLst/>
                          <a:latin typeface="Calibri" panose="020F0502020204030204" pitchFamily="34" charset="0"/>
                        </a:rPr>
                        <a:t>Otra Demora Externa</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(OE)</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s-CL" sz="900" b="1" i="0" u="none" strike="noStrike">
                          <a:solidFill>
                            <a:srgbClr val="000000"/>
                          </a:solidFill>
                          <a:effectLst/>
                          <a:latin typeface="Calibri" panose="020F0502020204030204" pitchFamily="34" charset="0"/>
                        </a:rPr>
                        <a:t>Demora Eléctrica Externa</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(EE)</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s-CL" sz="900" b="1" i="0" u="none" strike="noStrike">
                          <a:solidFill>
                            <a:srgbClr val="000000"/>
                          </a:solidFill>
                          <a:effectLst/>
                          <a:latin typeface="Calibri" panose="020F0502020204030204" pitchFamily="34" charset="0"/>
                        </a:rPr>
                        <a:t>Demora Clima Externa</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(CE)</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CL"/>
                    </a:p>
                  </a:txBody>
                  <a:tcPr/>
                </a:tc>
                <a:extLst>
                  <a:ext uri="{0D108BD9-81ED-4DB2-BD59-A6C34878D82A}">
                    <a16:rowId xmlns:a16="http://schemas.microsoft.com/office/drawing/2014/main" val="1264944704"/>
                  </a:ext>
                </a:extLst>
              </a:tr>
              <a:tr h="596752">
                <a:tc>
                  <a:txBody>
                    <a:bodyPr/>
                    <a:lstStyle/>
                    <a:p>
                      <a:pPr algn="ctr" fontAlgn="ctr"/>
                      <a:r>
                        <a:rPr lang="es-CL" sz="900" b="1" i="0" u="none" strike="noStrike">
                          <a:solidFill>
                            <a:srgbClr val="000000"/>
                          </a:solidFill>
                          <a:effectLst/>
                          <a:latin typeface="Calibri" panose="020F0502020204030204" pitchFamily="34" charset="0"/>
                        </a:rPr>
                        <a:t>Operativo Dinámico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(OD)</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Operativo No-dinámico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(ON)</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Demora Proceso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(DP)</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Demora No-Planificada</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(DNP)</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Demora Laboral</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(DL)</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Demora Reserva</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(DR)</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Demora Consecuente</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(DC)</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Mantenimiento Eléctrico No Planificado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(ME)</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a:solidFill>
                            <a:srgbClr val="000000"/>
                          </a:solidFill>
                          <a:effectLst/>
                          <a:latin typeface="Calibri" panose="020F0502020204030204" pitchFamily="34" charset="0"/>
                        </a:rPr>
                        <a:t>Mantenimiento Mecánico No Planificado</a:t>
                      </a:r>
                      <a:br>
                        <a:rPr lang="es-CL" sz="900" b="1" i="0" u="none" strike="noStrike">
                          <a:solidFill>
                            <a:srgbClr val="000000"/>
                          </a:solidFill>
                          <a:effectLst/>
                          <a:latin typeface="Calibri" panose="020F0502020204030204" pitchFamily="34" charset="0"/>
                        </a:rPr>
                      </a:br>
                      <a:r>
                        <a:rPr lang="es-CL" sz="900" b="1" i="0" u="none" strike="noStrike">
                          <a:solidFill>
                            <a:srgbClr val="000000"/>
                          </a:solidFill>
                          <a:effectLst/>
                          <a:latin typeface="Calibri" panose="020F0502020204030204" pitchFamily="34" charset="0"/>
                        </a:rPr>
                        <a:t>(MM)</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s-CL" sz="900" b="1" i="0" u="none" strike="noStrike" dirty="0">
                          <a:solidFill>
                            <a:srgbClr val="000000"/>
                          </a:solidFill>
                          <a:effectLst/>
                          <a:latin typeface="Calibri" panose="020F0502020204030204" pitchFamily="34" charset="0"/>
                        </a:rPr>
                        <a:t>Mantenimiento Operacional No Planificado</a:t>
                      </a:r>
                      <a:br>
                        <a:rPr lang="es-CL" sz="900" b="1" i="0" u="none" strike="noStrike" dirty="0">
                          <a:solidFill>
                            <a:srgbClr val="000000"/>
                          </a:solidFill>
                          <a:effectLst/>
                          <a:latin typeface="Calibri" panose="020F0502020204030204" pitchFamily="34" charset="0"/>
                        </a:rPr>
                      </a:br>
                      <a:r>
                        <a:rPr lang="es-CL" sz="900" b="1" i="0" u="none" strike="noStrike" dirty="0">
                          <a:solidFill>
                            <a:srgbClr val="000000"/>
                          </a:solidFill>
                          <a:effectLst/>
                          <a:latin typeface="Calibri" panose="020F0502020204030204" pitchFamily="34" charset="0"/>
                        </a:rPr>
                        <a:t>(MO)</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s-CL" sz="900" b="1" i="0" u="none" strike="noStrike" dirty="0">
                          <a:solidFill>
                            <a:srgbClr val="000000"/>
                          </a:solidFill>
                          <a:effectLst/>
                          <a:latin typeface="Calibri" panose="020F0502020204030204" pitchFamily="34" charset="0"/>
                        </a:rPr>
                        <a:t>Mantenimiento Planificado</a:t>
                      </a:r>
                      <a:br>
                        <a:rPr lang="es-CL" sz="900" b="1" i="0" u="none" strike="noStrike" dirty="0">
                          <a:solidFill>
                            <a:srgbClr val="000000"/>
                          </a:solidFill>
                          <a:effectLst/>
                          <a:latin typeface="Calibri" panose="020F0502020204030204" pitchFamily="34" charset="0"/>
                        </a:rPr>
                      </a:br>
                      <a:r>
                        <a:rPr lang="es-CL" sz="900" b="1" i="0" u="none" strike="noStrike" dirty="0">
                          <a:solidFill>
                            <a:srgbClr val="000000"/>
                          </a:solidFill>
                          <a:effectLst/>
                          <a:latin typeface="Calibri" panose="020F0502020204030204" pitchFamily="34" charset="0"/>
                        </a:rPr>
                        <a:t>(MP) </a:t>
                      </a:r>
                    </a:p>
                  </a:txBody>
                  <a:tcPr marL="2255" marR="2255" marT="2255" marB="108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294401134"/>
                  </a:ext>
                </a:extLst>
              </a:tr>
            </a:tbl>
          </a:graphicData>
        </a:graphic>
      </p:graphicFrame>
      <p:sp>
        <p:nvSpPr>
          <p:cNvPr id="9" name="Flecha: a la derecha 8">
            <a:extLst>
              <a:ext uri="{FF2B5EF4-FFF2-40B4-BE49-F238E27FC236}">
                <a16:creationId xmlns:a16="http://schemas.microsoft.com/office/drawing/2014/main" id="{9673E1B3-BD1A-B7EF-D767-4B7BFBA69598}"/>
              </a:ext>
            </a:extLst>
          </p:cNvPr>
          <p:cNvSpPr/>
          <p:nvPr/>
        </p:nvSpPr>
        <p:spPr>
          <a:xfrm rot="16200000">
            <a:off x="6383383" y="5120174"/>
            <a:ext cx="971006" cy="313508"/>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Flecha: a la derecha 9">
            <a:extLst>
              <a:ext uri="{FF2B5EF4-FFF2-40B4-BE49-F238E27FC236}">
                <a16:creationId xmlns:a16="http://schemas.microsoft.com/office/drawing/2014/main" id="{E07877E6-3944-B6D2-240C-93071BAF310D}"/>
              </a:ext>
            </a:extLst>
          </p:cNvPr>
          <p:cNvSpPr/>
          <p:nvPr/>
        </p:nvSpPr>
        <p:spPr>
          <a:xfrm rot="16200000">
            <a:off x="7034349" y="5120173"/>
            <a:ext cx="971006" cy="313508"/>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Flecha: a la derecha 10">
            <a:extLst>
              <a:ext uri="{FF2B5EF4-FFF2-40B4-BE49-F238E27FC236}">
                <a16:creationId xmlns:a16="http://schemas.microsoft.com/office/drawing/2014/main" id="{BC5573B3-B091-67F1-E08E-67BA2B2E2748}"/>
              </a:ext>
            </a:extLst>
          </p:cNvPr>
          <p:cNvSpPr/>
          <p:nvPr/>
        </p:nvSpPr>
        <p:spPr>
          <a:xfrm rot="16200000">
            <a:off x="7685314" y="5120172"/>
            <a:ext cx="971006" cy="313508"/>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2" name="Marcador de número de diapositiva 11">
            <a:extLst>
              <a:ext uri="{FF2B5EF4-FFF2-40B4-BE49-F238E27FC236}">
                <a16:creationId xmlns:a16="http://schemas.microsoft.com/office/drawing/2014/main" id="{330A30AC-4B12-3215-36EF-FD865F919A2D}"/>
              </a:ext>
            </a:extLst>
          </p:cNvPr>
          <p:cNvSpPr>
            <a:spLocks noGrp="1"/>
          </p:cNvSpPr>
          <p:nvPr>
            <p:ph type="sldNum" sz="quarter" idx="12"/>
          </p:nvPr>
        </p:nvSpPr>
        <p:spPr/>
        <p:txBody>
          <a:bodyPr/>
          <a:lstStyle/>
          <a:p>
            <a:fld id="{ED912E12-9DF5-47E5-8760-6375B81A7648}" type="slidenum">
              <a:rPr lang="es-CL" smtClean="0"/>
              <a:t>3</a:t>
            </a:fld>
            <a:endParaRPr lang="es-CL"/>
          </a:p>
        </p:txBody>
      </p:sp>
      <p:sp>
        <p:nvSpPr>
          <p:cNvPr id="5" name="CuadroTexto 4">
            <a:extLst>
              <a:ext uri="{FF2B5EF4-FFF2-40B4-BE49-F238E27FC236}">
                <a16:creationId xmlns:a16="http://schemas.microsoft.com/office/drawing/2014/main" id="{781D267F-CD15-419F-C8E9-D1382093A11B}"/>
              </a:ext>
            </a:extLst>
          </p:cNvPr>
          <p:cNvSpPr txBox="1"/>
          <p:nvPr/>
        </p:nvSpPr>
        <p:spPr>
          <a:xfrm>
            <a:off x="2856413" y="5162264"/>
            <a:ext cx="3518262" cy="1200329"/>
          </a:xfrm>
          <a:prstGeom prst="rect">
            <a:avLst/>
          </a:prstGeom>
          <a:noFill/>
        </p:spPr>
        <p:txBody>
          <a:bodyPr wrap="square" rtlCol="0">
            <a:spAutoFit/>
          </a:bodyPr>
          <a:lstStyle/>
          <a:p>
            <a:r>
              <a:rPr lang="es-MX" dirty="0"/>
              <a:t>En la etapa anterior se determinó que se trabajaría con mantenimiento predictivo a partir de los datos H-TUM.</a:t>
            </a:r>
            <a:endParaRPr lang="es-CL" dirty="0"/>
          </a:p>
        </p:txBody>
      </p:sp>
    </p:spTree>
    <p:extLst>
      <p:ext uri="{BB962C8B-B14F-4D97-AF65-F5344CB8AC3E}">
        <p14:creationId xmlns:p14="http://schemas.microsoft.com/office/powerpoint/2010/main" val="3621462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51A3F-F878-559D-DCD3-FE9A39167865}"/>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22BBACB-3E2E-9BAF-69D3-E43EB8FF920B}"/>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20B54602-3C1F-D280-82A2-DEA426B659F9}"/>
              </a:ext>
            </a:extLst>
          </p:cNvPr>
          <p:cNvSpPr>
            <a:spLocks noGrp="1"/>
          </p:cNvSpPr>
          <p:nvPr>
            <p:ph type="title"/>
          </p:nvPr>
        </p:nvSpPr>
        <p:spPr>
          <a:xfrm>
            <a:off x="0" y="2766219"/>
            <a:ext cx="2225040" cy="1261496"/>
          </a:xfrm>
        </p:spPr>
        <p:txBody>
          <a:bodyPr>
            <a:normAutofit/>
          </a:bodyPr>
          <a:lstStyle/>
          <a:p>
            <a:pPr algn="ctr"/>
            <a:r>
              <a:rPr lang="es-MX" sz="3200" dirty="0">
                <a:solidFill>
                  <a:schemeClr val="bg1"/>
                </a:solidFill>
                <a:latin typeface="Bahnschrift" panose="020B0502040204020203" pitchFamily="34" charset="0"/>
              </a:rPr>
              <a:t>Etapa 1</a:t>
            </a:r>
            <a:endParaRPr lang="es-CL" sz="3200" dirty="0">
              <a:solidFill>
                <a:schemeClr val="bg1"/>
              </a:solidFill>
              <a:latin typeface="Bahnschrift" panose="020B0502040204020203" pitchFamily="34" charset="0"/>
            </a:endParaRPr>
          </a:p>
        </p:txBody>
      </p:sp>
      <p:sp>
        <p:nvSpPr>
          <p:cNvPr id="12" name="Marcador de número de diapositiva 11">
            <a:extLst>
              <a:ext uri="{FF2B5EF4-FFF2-40B4-BE49-F238E27FC236}">
                <a16:creationId xmlns:a16="http://schemas.microsoft.com/office/drawing/2014/main" id="{F48054AC-8176-ADBE-EC35-68C0971453E1}"/>
              </a:ext>
            </a:extLst>
          </p:cNvPr>
          <p:cNvSpPr>
            <a:spLocks noGrp="1"/>
          </p:cNvSpPr>
          <p:nvPr>
            <p:ph type="sldNum" sz="quarter" idx="12"/>
          </p:nvPr>
        </p:nvSpPr>
        <p:spPr/>
        <p:txBody>
          <a:bodyPr/>
          <a:lstStyle/>
          <a:p>
            <a:fld id="{ED912E12-9DF5-47E5-8760-6375B81A7648}" type="slidenum">
              <a:rPr lang="es-CL" smtClean="0"/>
              <a:t>4</a:t>
            </a:fld>
            <a:endParaRPr lang="es-CL"/>
          </a:p>
        </p:txBody>
      </p:sp>
      <p:pic>
        <p:nvPicPr>
          <p:cNvPr id="5" name="Picture 2">
            <a:extLst>
              <a:ext uri="{FF2B5EF4-FFF2-40B4-BE49-F238E27FC236}">
                <a16:creationId xmlns:a16="http://schemas.microsoft.com/office/drawing/2014/main" id="{DD7C9BE2-403C-1F65-234E-D7F245F43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1492" y="705038"/>
            <a:ext cx="4348060" cy="27239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
            <a:extLst>
              <a:ext uri="{FF2B5EF4-FFF2-40B4-BE49-F238E27FC236}">
                <a16:creationId xmlns:a16="http://schemas.microsoft.com/office/drawing/2014/main" id="{94251F98-D91E-FB4D-E072-84FDB754E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6478" y="705038"/>
            <a:ext cx="4348060" cy="2723962"/>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8D8CACDB-0DD1-0711-7231-A7BA2DE0827B}"/>
              </a:ext>
            </a:extLst>
          </p:cNvPr>
          <p:cNvSpPr txBox="1"/>
          <p:nvPr/>
        </p:nvSpPr>
        <p:spPr>
          <a:xfrm>
            <a:off x="2425184" y="3853542"/>
            <a:ext cx="9437915" cy="1200329"/>
          </a:xfrm>
          <a:prstGeom prst="rect">
            <a:avLst/>
          </a:prstGeom>
          <a:noFill/>
        </p:spPr>
        <p:txBody>
          <a:bodyPr wrap="square" rtlCol="0">
            <a:spAutoFit/>
          </a:bodyPr>
          <a:lstStyle/>
          <a:p>
            <a:r>
              <a:rPr lang="es-MX" dirty="0"/>
              <a:t>Mediante métodos de exploración y análisis de datos, se determinó que existía una diferencia significativa al observar trayectos de equipos que anteceden a una reparación y los que no. Sin embargo, esta diferencia se vio aumentada por un error de escala. La diferencia no resultó ser lo suficientemente significativa.</a:t>
            </a:r>
            <a:endParaRPr lang="es-CL" dirty="0"/>
          </a:p>
        </p:txBody>
      </p:sp>
    </p:spTree>
    <p:extLst>
      <p:ext uri="{BB962C8B-B14F-4D97-AF65-F5344CB8AC3E}">
        <p14:creationId xmlns:p14="http://schemas.microsoft.com/office/powerpoint/2010/main" val="404062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1E3D9-B6A4-F63E-E2C2-F8E84E22440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EAE0D01F-8309-D99E-F32C-F77C2C0F5387}"/>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2BF9FA9A-4063-812D-0F97-552776170334}"/>
              </a:ext>
            </a:extLst>
          </p:cNvPr>
          <p:cNvSpPr>
            <a:spLocks noGrp="1"/>
          </p:cNvSpPr>
          <p:nvPr>
            <p:ph type="title"/>
          </p:nvPr>
        </p:nvSpPr>
        <p:spPr>
          <a:xfrm>
            <a:off x="0" y="2766219"/>
            <a:ext cx="2225040" cy="1261496"/>
          </a:xfrm>
        </p:spPr>
        <p:txBody>
          <a:bodyPr>
            <a:normAutofit/>
          </a:bodyPr>
          <a:lstStyle/>
          <a:p>
            <a:pPr algn="ctr"/>
            <a:r>
              <a:rPr lang="es-MX" sz="3200" dirty="0">
                <a:solidFill>
                  <a:schemeClr val="bg1"/>
                </a:solidFill>
                <a:latin typeface="Bahnschrift" panose="020B0502040204020203" pitchFamily="34" charset="0"/>
              </a:rPr>
              <a:t>Objetivos</a:t>
            </a:r>
            <a:endParaRPr lang="es-CL" sz="3200" dirty="0">
              <a:solidFill>
                <a:schemeClr val="bg1"/>
              </a:solidFill>
              <a:latin typeface="Bahnschrift" panose="020B0502040204020203" pitchFamily="34" charset="0"/>
            </a:endParaRPr>
          </a:p>
        </p:txBody>
      </p:sp>
      <p:sp>
        <p:nvSpPr>
          <p:cNvPr id="3" name="Marcador de número de diapositiva 2">
            <a:extLst>
              <a:ext uri="{FF2B5EF4-FFF2-40B4-BE49-F238E27FC236}">
                <a16:creationId xmlns:a16="http://schemas.microsoft.com/office/drawing/2014/main" id="{98A70117-3A51-F9BA-A75B-CD89B153D671}"/>
              </a:ext>
            </a:extLst>
          </p:cNvPr>
          <p:cNvSpPr>
            <a:spLocks noGrp="1"/>
          </p:cNvSpPr>
          <p:nvPr>
            <p:ph type="sldNum" sz="quarter" idx="12"/>
          </p:nvPr>
        </p:nvSpPr>
        <p:spPr/>
        <p:txBody>
          <a:bodyPr/>
          <a:lstStyle/>
          <a:p>
            <a:fld id="{ED912E12-9DF5-47E5-8760-6375B81A7648}" type="slidenum">
              <a:rPr lang="es-CL" smtClean="0"/>
              <a:t>5</a:t>
            </a:fld>
            <a:endParaRPr lang="es-CL"/>
          </a:p>
        </p:txBody>
      </p:sp>
      <p:sp>
        <p:nvSpPr>
          <p:cNvPr id="5" name="Rectángulo: esquinas redondeadas 4">
            <a:extLst>
              <a:ext uri="{FF2B5EF4-FFF2-40B4-BE49-F238E27FC236}">
                <a16:creationId xmlns:a16="http://schemas.microsoft.com/office/drawing/2014/main" id="{F9F72C20-F62C-D14F-D6D7-AA3EE6C1B29A}"/>
              </a:ext>
            </a:extLst>
          </p:cNvPr>
          <p:cNvSpPr/>
          <p:nvPr/>
        </p:nvSpPr>
        <p:spPr>
          <a:xfrm>
            <a:off x="4597036" y="927761"/>
            <a:ext cx="5458097" cy="1467394"/>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6" name="CuadroTexto 5">
            <a:extLst>
              <a:ext uri="{FF2B5EF4-FFF2-40B4-BE49-F238E27FC236}">
                <a16:creationId xmlns:a16="http://schemas.microsoft.com/office/drawing/2014/main" id="{70E3582B-0D4D-6D51-1229-52C0DAA7C70B}"/>
              </a:ext>
            </a:extLst>
          </p:cNvPr>
          <p:cNvSpPr txBox="1"/>
          <p:nvPr/>
        </p:nvSpPr>
        <p:spPr>
          <a:xfrm>
            <a:off x="4868089" y="1153627"/>
            <a:ext cx="4915989" cy="1015663"/>
          </a:xfrm>
          <a:prstGeom prst="rect">
            <a:avLst/>
          </a:prstGeom>
          <a:noFill/>
        </p:spPr>
        <p:txBody>
          <a:bodyPr wrap="square" rtlCol="0">
            <a:spAutoFit/>
          </a:bodyPr>
          <a:lstStyle/>
          <a:p>
            <a:r>
              <a:rPr lang="es-MX" sz="2000" b="1" dirty="0">
                <a:solidFill>
                  <a:schemeClr val="bg1"/>
                </a:solidFill>
                <a:latin typeface="Bahnschrift SemiBold SemiConden" panose="020B0502040204020203" pitchFamily="34" charset="0"/>
              </a:rPr>
              <a:t>Objetivo Final proyecto: </a:t>
            </a:r>
          </a:p>
          <a:p>
            <a:r>
              <a:rPr lang="es-MX" sz="2000" dirty="0">
                <a:solidFill>
                  <a:schemeClr val="bg1"/>
                </a:solidFill>
                <a:latin typeface="Bahnschrift SemiLight" panose="020B0502040204020203" pitchFamily="34" charset="0"/>
              </a:rPr>
              <a:t>Generar un modelo predictivo utilizable por el cliente.</a:t>
            </a:r>
            <a:endParaRPr lang="es-CL" sz="2000" dirty="0">
              <a:solidFill>
                <a:schemeClr val="bg1"/>
              </a:solidFill>
              <a:latin typeface="Bahnschrift SemiLight" panose="020B0502040204020203" pitchFamily="34" charset="0"/>
            </a:endParaRPr>
          </a:p>
        </p:txBody>
      </p:sp>
      <p:sp>
        <p:nvSpPr>
          <p:cNvPr id="7" name="Rectángulo: esquinas redondeadas 6">
            <a:extLst>
              <a:ext uri="{FF2B5EF4-FFF2-40B4-BE49-F238E27FC236}">
                <a16:creationId xmlns:a16="http://schemas.microsoft.com/office/drawing/2014/main" id="{2BEE5AEA-7509-FB88-CD54-9F6ECF73EF9F}"/>
              </a:ext>
            </a:extLst>
          </p:cNvPr>
          <p:cNvSpPr/>
          <p:nvPr/>
        </p:nvSpPr>
        <p:spPr>
          <a:xfrm>
            <a:off x="2573446" y="4634148"/>
            <a:ext cx="4360818" cy="1467394"/>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8" name="CuadroTexto 7">
            <a:extLst>
              <a:ext uri="{FF2B5EF4-FFF2-40B4-BE49-F238E27FC236}">
                <a16:creationId xmlns:a16="http://schemas.microsoft.com/office/drawing/2014/main" id="{4B850421-1D20-6A9D-FC6E-E107F34F6531}"/>
              </a:ext>
            </a:extLst>
          </p:cNvPr>
          <p:cNvSpPr txBox="1"/>
          <p:nvPr/>
        </p:nvSpPr>
        <p:spPr>
          <a:xfrm>
            <a:off x="2790008" y="4706126"/>
            <a:ext cx="3927694" cy="1323439"/>
          </a:xfrm>
          <a:prstGeom prst="rect">
            <a:avLst/>
          </a:prstGeom>
          <a:noFill/>
        </p:spPr>
        <p:txBody>
          <a:bodyPr wrap="square" rtlCol="0">
            <a:spAutoFit/>
          </a:bodyPr>
          <a:lstStyle/>
          <a:p>
            <a:r>
              <a:rPr lang="es-MX" sz="2000" dirty="0">
                <a:solidFill>
                  <a:schemeClr val="bg1"/>
                </a:solidFill>
                <a:latin typeface="Bahnschrift SemiBold SemiConden" panose="020B0502040204020203" pitchFamily="34" charset="0"/>
              </a:rPr>
              <a:t>Objetivo 1 Etapa 2: </a:t>
            </a:r>
          </a:p>
          <a:p>
            <a:r>
              <a:rPr lang="es-MX" sz="2000" dirty="0">
                <a:solidFill>
                  <a:schemeClr val="bg1"/>
                </a:solidFill>
                <a:latin typeface="Bahnschrift SemiLight" panose="020B0502040204020203" pitchFamily="34" charset="0"/>
              </a:rPr>
              <a:t>Entrenar un modelo que sea capaz de predecir una reparación no programada</a:t>
            </a:r>
            <a:endParaRPr lang="es-CL" sz="2000" dirty="0">
              <a:solidFill>
                <a:schemeClr val="bg1"/>
              </a:solidFill>
              <a:latin typeface="Bahnschrift SemiLight" panose="020B0502040204020203" pitchFamily="34" charset="0"/>
            </a:endParaRPr>
          </a:p>
        </p:txBody>
      </p:sp>
      <p:sp>
        <p:nvSpPr>
          <p:cNvPr id="9" name="Flecha: hacia abajo 8">
            <a:extLst>
              <a:ext uri="{FF2B5EF4-FFF2-40B4-BE49-F238E27FC236}">
                <a16:creationId xmlns:a16="http://schemas.microsoft.com/office/drawing/2014/main" id="{C5760803-183F-BA6E-F309-893CE65CE954}"/>
              </a:ext>
            </a:extLst>
          </p:cNvPr>
          <p:cNvSpPr/>
          <p:nvPr/>
        </p:nvSpPr>
        <p:spPr>
          <a:xfrm>
            <a:off x="6670765" y="2704011"/>
            <a:ext cx="1105988" cy="1467394"/>
          </a:xfrm>
          <a:prstGeom prst="downArrow">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CL"/>
          </a:p>
        </p:txBody>
      </p:sp>
      <p:sp>
        <p:nvSpPr>
          <p:cNvPr id="10" name="Rectángulo: esquinas redondeadas 9">
            <a:extLst>
              <a:ext uri="{FF2B5EF4-FFF2-40B4-BE49-F238E27FC236}">
                <a16:creationId xmlns:a16="http://schemas.microsoft.com/office/drawing/2014/main" id="{0C8B3E93-9F16-95BC-4F62-5FB488768203}"/>
              </a:ext>
            </a:extLst>
          </p:cNvPr>
          <p:cNvSpPr/>
          <p:nvPr/>
        </p:nvSpPr>
        <p:spPr>
          <a:xfrm>
            <a:off x="7602646" y="4634148"/>
            <a:ext cx="4360818" cy="1467394"/>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11" name="CuadroTexto 10">
            <a:extLst>
              <a:ext uri="{FF2B5EF4-FFF2-40B4-BE49-F238E27FC236}">
                <a16:creationId xmlns:a16="http://schemas.microsoft.com/office/drawing/2014/main" id="{3C08DC28-FF95-A788-0F2E-C9353B75294D}"/>
              </a:ext>
            </a:extLst>
          </p:cNvPr>
          <p:cNvSpPr txBox="1"/>
          <p:nvPr/>
        </p:nvSpPr>
        <p:spPr>
          <a:xfrm>
            <a:off x="7710927" y="4752292"/>
            <a:ext cx="4144256" cy="1231106"/>
          </a:xfrm>
          <a:prstGeom prst="rect">
            <a:avLst/>
          </a:prstGeom>
          <a:noFill/>
        </p:spPr>
        <p:txBody>
          <a:bodyPr wrap="square" rtlCol="0">
            <a:spAutoFit/>
          </a:bodyPr>
          <a:lstStyle/>
          <a:p>
            <a:r>
              <a:rPr lang="es-MX" sz="2000" dirty="0">
                <a:solidFill>
                  <a:schemeClr val="bg1"/>
                </a:solidFill>
                <a:latin typeface="Bahnschrift SemiBold SemiConden" panose="020B0502040204020203" pitchFamily="34" charset="0"/>
              </a:rPr>
              <a:t>Objetivo 2 Etapa 2: </a:t>
            </a:r>
          </a:p>
          <a:p>
            <a:r>
              <a:rPr lang="es-MX" dirty="0">
                <a:solidFill>
                  <a:schemeClr val="bg1"/>
                </a:solidFill>
                <a:latin typeface="Bahnschrift SemiLight" panose="020B0502040204020203" pitchFamily="34" charset="0"/>
              </a:rPr>
              <a:t>Producir una pipeline de inserción y procesamiento de datos desde H-TUM hasta el modelo </a:t>
            </a:r>
            <a:endParaRPr lang="es-CL" dirty="0">
              <a:solidFill>
                <a:schemeClr val="bg1"/>
              </a:solidFill>
              <a:latin typeface="Bahnschrift SemiLight" panose="020B0502040204020203" pitchFamily="34" charset="0"/>
            </a:endParaRPr>
          </a:p>
        </p:txBody>
      </p:sp>
    </p:spTree>
    <p:extLst>
      <p:ext uri="{BB962C8B-B14F-4D97-AF65-F5344CB8AC3E}">
        <p14:creationId xmlns:p14="http://schemas.microsoft.com/office/powerpoint/2010/main" val="294795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E9A12-EB40-2A4B-23B7-4697B3537B2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D9B8C57B-F422-0875-58A6-57FF592ACD01}"/>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68E633E7-88F4-8856-CD6F-FF24AE04FD8F}"/>
              </a:ext>
            </a:extLst>
          </p:cNvPr>
          <p:cNvSpPr>
            <a:spLocks noGrp="1"/>
          </p:cNvSpPr>
          <p:nvPr>
            <p:ph type="title"/>
          </p:nvPr>
        </p:nvSpPr>
        <p:spPr>
          <a:xfrm>
            <a:off x="0" y="2766219"/>
            <a:ext cx="2225040" cy="1261496"/>
          </a:xfrm>
        </p:spPr>
        <p:txBody>
          <a:bodyPr>
            <a:normAutofit/>
          </a:bodyPr>
          <a:lstStyle/>
          <a:p>
            <a:pPr algn="ctr"/>
            <a:r>
              <a:rPr lang="es-MX" sz="3200" dirty="0">
                <a:solidFill>
                  <a:schemeClr val="bg1"/>
                </a:solidFill>
                <a:latin typeface="Bahnschrift" panose="020B0502040204020203" pitchFamily="34" charset="0"/>
              </a:rPr>
              <a:t>Datos</a:t>
            </a:r>
            <a:endParaRPr lang="es-CL" sz="3200" dirty="0">
              <a:solidFill>
                <a:schemeClr val="bg1"/>
              </a:solidFill>
              <a:latin typeface="Bahnschrift" panose="020B0502040204020203" pitchFamily="34" charset="0"/>
            </a:endParaRPr>
          </a:p>
        </p:txBody>
      </p:sp>
      <p:pic>
        <p:nvPicPr>
          <p:cNvPr id="10" name="Imagen 9" descr="Gráfico, Gráfico de cajas y bigotes&#10;&#10;El contenido generado por IA puede ser incorrecto.">
            <a:extLst>
              <a:ext uri="{FF2B5EF4-FFF2-40B4-BE49-F238E27FC236}">
                <a16:creationId xmlns:a16="http://schemas.microsoft.com/office/drawing/2014/main" id="{35F1416D-D639-FE91-1712-9C41C9582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5957" y="1996819"/>
            <a:ext cx="6139543" cy="2582248"/>
          </a:xfrm>
          <a:prstGeom prst="rect">
            <a:avLst/>
          </a:prstGeom>
        </p:spPr>
      </p:pic>
      <p:pic>
        <p:nvPicPr>
          <p:cNvPr id="16" name="Imagen 15">
            <a:extLst>
              <a:ext uri="{FF2B5EF4-FFF2-40B4-BE49-F238E27FC236}">
                <a16:creationId xmlns:a16="http://schemas.microsoft.com/office/drawing/2014/main" id="{70A12E74-FE78-0B72-CFB9-AACC5E134C7A}"/>
              </a:ext>
            </a:extLst>
          </p:cNvPr>
          <p:cNvPicPr>
            <a:picLocks noChangeAspect="1"/>
          </p:cNvPicPr>
          <p:nvPr/>
        </p:nvPicPr>
        <p:blipFill>
          <a:blip r:embed="rId3"/>
          <a:stretch>
            <a:fillRect/>
          </a:stretch>
        </p:blipFill>
        <p:spPr>
          <a:xfrm>
            <a:off x="2346959" y="255686"/>
            <a:ext cx="9492343" cy="1421170"/>
          </a:xfrm>
          <a:prstGeom prst="rect">
            <a:avLst/>
          </a:prstGeom>
        </p:spPr>
      </p:pic>
      <p:sp>
        <p:nvSpPr>
          <p:cNvPr id="17" name="CuadroTexto 16">
            <a:extLst>
              <a:ext uri="{FF2B5EF4-FFF2-40B4-BE49-F238E27FC236}">
                <a16:creationId xmlns:a16="http://schemas.microsoft.com/office/drawing/2014/main" id="{ECE14EBB-CD3D-0313-AA35-AD2476D26CAB}"/>
              </a:ext>
            </a:extLst>
          </p:cNvPr>
          <p:cNvSpPr txBox="1"/>
          <p:nvPr/>
        </p:nvSpPr>
        <p:spPr>
          <a:xfrm>
            <a:off x="2939143" y="5179228"/>
            <a:ext cx="6776357" cy="646331"/>
          </a:xfrm>
          <a:prstGeom prst="rect">
            <a:avLst/>
          </a:prstGeom>
          <a:noFill/>
        </p:spPr>
        <p:txBody>
          <a:bodyPr wrap="square" rtlCol="0">
            <a:spAutoFit/>
          </a:bodyPr>
          <a:lstStyle/>
          <a:p>
            <a:r>
              <a:rPr lang="es-MX" dirty="0"/>
              <a:t>Los datos de H-TUM se transforman en una trayectoria continua que registra el estado del equipo en el tiempo.</a:t>
            </a:r>
            <a:endParaRPr lang="es-CL" dirty="0"/>
          </a:p>
        </p:txBody>
      </p:sp>
    </p:spTree>
    <p:extLst>
      <p:ext uri="{BB962C8B-B14F-4D97-AF65-F5344CB8AC3E}">
        <p14:creationId xmlns:p14="http://schemas.microsoft.com/office/powerpoint/2010/main" val="4244084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EBBDD-FEA2-BFB1-5340-20F6FC293FDE}"/>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B1435F40-9DDA-D77B-5FDD-663A4CA7AE2F}"/>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9193C966-077C-0D89-E4E5-E8D434F4C2E9}"/>
              </a:ext>
            </a:extLst>
          </p:cNvPr>
          <p:cNvSpPr>
            <a:spLocks noGrp="1"/>
          </p:cNvSpPr>
          <p:nvPr>
            <p:ph type="title"/>
          </p:nvPr>
        </p:nvSpPr>
        <p:spPr>
          <a:xfrm>
            <a:off x="0" y="2766219"/>
            <a:ext cx="2225040" cy="1261496"/>
          </a:xfrm>
        </p:spPr>
        <p:txBody>
          <a:bodyPr>
            <a:normAutofit/>
          </a:bodyPr>
          <a:lstStyle/>
          <a:p>
            <a:pPr algn="ctr"/>
            <a:r>
              <a:rPr lang="es-MX" sz="3200" dirty="0">
                <a:solidFill>
                  <a:schemeClr val="bg1"/>
                </a:solidFill>
                <a:latin typeface="Bahnschrift" panose="020B0502040204020203" pitchFamily="34" charset="0"/>
              </a:rPr>
              <a:t>Datos</a:t>
            </a:r>
            <a:endParaRPr lang="es-CL" sz="32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877E2200-7966-2C33-EB7B-22F9A910DFE7}"/>
              </a:ext>
            </a:extLst>
          </p:cNvPr>
          <p:cNvSpPr>
            <a:spLocks noGrp="1"/>
          </p:cNvSpPr>
          <p:nvPr>
            <p:ph type="sldNum" sz="quarter" idx="12"/>
          </p:nvPr>
        </p:nvSpPr>
        <p:spPr/>
        <p:txBody>
          <a:bodyPr/>
          <a:lstStyle/>
          <a:p>
            <a:fld id="{ED912E12-9DF5-47E5-8760-6375B81A7648}" type="slidenum">
              <a:rPr lang="es-CL" smtClean="0"/>
              <a:t>7</a:t>
            </a:fld>
            <a:endParaRPr lang="es-CL"/>
          </a:p>
        </p:txBody>
      </p:sp>
      <p:sp>
        <p:nvSpPr>
          <p:cNvPr id="12" name="CuadroTexto 11">
            <a:extLst>
              <a:ext uri="{FF2B5EF4-FFF2-40B4-BE49-F238E27FC236}">
                <a16:creationId xmlns:a16="http://schemas.microsoft.com/office/drawing/2014/main" id="{FB8301AC-8AF8-2C5F-8513-88DE8FAA01A2}"/>
              </a:ext>
            </a:extLst>
          </p:cNvPr>
          <p:cNvSpPr txBox="1"/>
          <p:nvPr/>
        </p:nvSpPr>
        <p:spPr>
          <a:xfrm>
            <a:off x="6059488" y="860335"/>
            <a:ext cx="5943600" cy="923330"/>
          </a:xfrm>
          <a:prstGeom prst="rect">
            <a:avLst/>
          </a:prstGeom>
          <a:noFill/>
        </p:spPr>
        <p:txBody>
          <a:bodyPr wrap="square" rtlCol="0">
            <a:spAutoFit/>
          </a:bodyPr>
          <a:lstStyle/>
          <a:p>
            <a:r>
              <a:rPr lang="es-MX" dirty="0"/>
              <a:t>Al guardarlos en la trayectoria se reduce la granularidad de los estados. Esto ayuda a la performance de modelos al reducir la dimensión del espacio categórico de estados.</a:t>
            </a:r>
            <a:endParaRPr lang="es-CL" dirty="0"/>
          </a:p>
        </p:txBody>
      </p:sp>
      <p:sp>
        <p:nvSpPr>
          <p:cNvPr id="3" name="Diagrama de flujo: conector 2">
            <a:extLst>
              <a:ext uri="{FF2B5EF4-FFF2-40B4-BE49-F238E27FC236}">
                <a16:creationId xmlns:a16="http://schemas.microsoft.com/office/drawing/2014/main" id="{B18AD0A5-E56B-3A58-F95B-17542861F3B5}"/>
              </a:ext>
            </a:extLst>
          </p:cNvPr>
          <p:cNvSpPr/>
          <p:nvPr/>
        </p:nvSpPr>
        <p:spPr>
          <a:xfrm>
            <a:off x="2737302" y="942226"/>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CuadroTexto 4">
            <a:extLst>
              <a:ext uri="{FF2B5EF4-FFF2-40B4-BE49-F238E27FC236}">
                <a16:creationId xmlns:a16="http://schemas.microsoft.com/office/drawing/2014/main" id="{18A9CC6E-5537-F471-5D52-A61A8673AD52}"/>
              </a:ext>
            </a:extLst>
          </p:cNvPr>
          <p:cNvSpPr txBox="1"/>
          <p:nvPr/>
        </p:nvSpPr>
        <p:spPr>
          <a:xfrm>
            <a:off x="2767691" y="1213399"/>
            <a:ext cx="850900" cy="369332"/>
          </a:xfrm>
          <a:prstGeom prst="rect">
            <a:avLst/>
          </a:prstGeom>
          <a:noFill/>
        </p:spPr>
        <p:txBody>
          <a:bodyPr wrap="square" rtlCol="0">
            <a:spAutoFit/>
          </a:bodyPr>
          <a:lstStyle/>
          <a:p>
            <a:pPr algn="ctr"/>
            <a:r>
              <a:rPr lang="es-MX" dirty="0">
                <a:latin typeface="Bahnschrift SemiLight" panose="020B0502040204020203" pitchFamily="34" charset="0"/>
              </a:rPr>
              <a:t>2201</a:t>
            </a:r>
            <a:endParaRPr lang="es-CL" dirty="0">
              <a:latin typeface="Bahnschrift SemiLight" panose="020B0502040204020203" pitchFamily="34" charset="0"/>
            </a:endParaRPr>
          </a:p>
        </p:txBody>
      </p:sp>
      <p:sp>
        <p:nvSpPr>
          <p:cNvPr id="7" name="Diagrama de flujo: conector 6">
            <a:extLst>
              <a:ext uri="{FF2B5EF4-FFF2-40B4-BE49-F238E27FC236}">
                <a16:creationId xmlns:a16="http://schemas.microsoft.com/office/drawing/2014/main" id="{8D9EFEDA-A679-0347-7DB7-CE5CCB2DDEF8}"/>
              </a:ext>
            </a:extLst>
          </p:cNvPr>
          <p:cNvSpPr/>
          <p:nvPr/>
        </p:nvSpPr>
        <p:spPr>
          <a:xfrm>
            <a:off x="4506142" y="943292"/>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CuadroTexto 7">
            <a:extLst>
              <a:ext uri="{FF2B5EF4-FFF2-40B4-BE49-F238E27FC236}">
                <a16:creationId xmlns:a16="http://schemas.microsoft.com/office/drawing/2014/main" id="{0028F6B9-2EC8-518A-62A3-6A5D303E4FAA}"/>
              </a:ext>
            </a:extLst>
          </p:cNvPr>
          <p:cNvSpPr txBox="1"/>
          <p:nvPr/>
        </p:nvSpPr>
        <p:spPr>
          <a:xfrm>
            <a:off x="4536531" y="1214465"/>
            <a:ext cx="850900" cy="369332"/>
          </a:xfrm>
          <a:prstGeom prst="rect">
            <a:avLst/>
          </a:prstGeom>
          <a:noFill/>
        </p:spPr>
        <p:txBody>
          <a:bodyPr wrap="square" rtlCol="0">
            <a:spAutoFit/>
          </a:bodyPr>
          <a:lstStyle/>
          <a:p>
            <a:pPr algn="ctr"/>
            <a:r>
              <a:rPr lang="es-MX" dirty="0">
                <a:latin typeface="Bahnschrift SemiLight" panose="020B0502040204020203" pitchFamily="34" charset="0"/>
              </a:rPr>
              <a:t>22</a:t>
            </a:r>
            <a:endParaRPr lang="es-CL" dirty="0">
              <a:latin typeface="Bahnschrift SemiLight" panose="020B0502040204020203" pitchFamily="34" charset="0"/>
            </a:endParaRPr>
          </a:p>
        </p:txBody>
      </p:sp>
      <p:sp>
        <p:nvSpPr>
          <p:cNvPr id="9" name="Flecha: a la derecha 8">
            <a:extLst>
              <a:ext uri="{FF2B5EF4-FFF2-40B4-BE49-F238E27FC236}">
                <a16:creationId xmlns:a16="http://schemas.microsoft.com/office/drawing/2014/main" id="{3D205DC9-E170-A052-655E-430D2F56336C}"/>
              </a:ext>
            </a:extLst>
          </p:cNvPr>
          <p:cNvSpPr/>
          <p:nvPr/>
        </p:nvSpPr>
        <p:spPr>
          <a:xfrm>
            <a:off x="3740150" y="1365250"/>
            <a:ext cx="673100" cy="95250"/>
          </a:xfrm>
          <a:prstGeom prst="righ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11" name="Diagrama de flujo: conector 10">
            <a:extLst>
              <a:ext uri="{FF2B5EF4-FFF2-40B4-BE49-F238E27FC236}">
                <a16:creationId xmlns:a16="http://schemas.microsoft.com/office/drawing/2014/main" id="{E871244A-DE1E-4404-31ED-E5E402499D9B}"/>
              </a:ext>
            </a:extLst>
          </p:cNvPr>
          <p:cNvSpPr/>
          <p:nvPr/>
        </p:nvSpPr>
        <p:spPr>
          <a:xfrm>
            <a:off x="8419644" y="2973161"/>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CuadroTexto 12">
            <a:extLst>
              <a:ext uri="{FF2B5EF4-FFF2-40B4-BE49-F238E27FC236}">
                <a16:creationId xmlns:a16="http://schemas.microsoft.com/office/drawing/2014/main" id="{AB329AA7-4AA7-7B7E-EBEC-6135FD01D4FF}"/>
              </a:ext>
            </a:extLst>
          </p:cNvPr>
          <p:cNvSpPr txBox="1"/>
          <p:nvPr/>
        </p:nvSpPr>
        <p:spPr>
          <a:xfrm>
            <a:off x="8450033" y="3244334"/>
            <a:ext cx="850900" cy="369332"/>
          </a:xfrm>
          <a:prstGeom prst="rect">
            <a:avLst/>
          </a:prstGeom>
          <a:noFill/>
        </p:spPr>
        <p:txBody>
          <a:bodyPr wrap="square" rtlCol="0">
            <a:spAutoFit/>
          </a:bodyPr>
          <a:lstStyle/>
          <a:p>
            <a:pPr algn="ctr"/>
            <a:r>
              <a:rPr lang="es-MX" dirty="0">
                <a:latin typeface="Bahnschrift SemiLight" panose="020B0502040204020203" pitchFamily="34" charset="0"/>
              </a:rPr>
              <a:t>22</a:t>
            </a:r>
            <a:endParaRPr lang="es-CL" dirty="0">
              <a:latin typeface="Bahnschrift SemiLight" panose="020B0502040204020203" pitchFamily="34" charset="0"/>
            </a:endParaRPr>
          </a:p>
        </p:txBody>
      </p:sp>
      <p:sp>
        <p:nvSpPr>
          <p:cNvPr id="14" name="Diagrama de flujo: conector 13">
            <a:extLst>
              <a:ext uri="{FF2B5EF4-FFF2-40B4-BE49-F238E27FC236}">
                <a16:creationId xmlns:a16="http://schemas.microsoft.com/office/drawing/2014/main" id="{02326866-95B2-8C76-0352-F800F5F6F16D}"/>
              </a:ext>
            </a:extLst>
          </p:cNvPr>
          <p:cNvSpPr/>
          <p:nvPr/>
        </p:nvSpPr>
        <p:spPr>
          <a:xfrm>
            <a:off x="9732645" y="2973161"/>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CuadroTexto 14">
            <a:extLst>
              <a:ext uri="{FF2B5EF4-FFF2-40B4-BE49-F238E27FC236}">
                <a16:creationId xmlns:a16="http://schemas.microsoft.com/office/drawing/2014/main" id="{4B9243EB-5EBF-6685-3AEF-15486D9EDCE6}"/>
              </a:ext>
            </a:extLst>
          </p:cNvPr>
          <p:cNvSpPr txBox="1"/>
          <p:nvPr/>
        </p:nvSpPr>
        <p:spPr>
          <a:xfrm>
            <a:off x="9763033" y="3244334"/>
            <a:ext cx="850900" cy="369332"/>
          </a:xfrm>
          <a:prstGeom prst="rect">
            <a:avLst/>
          </a:prstGeom>
          <a:noFill/>
        </p:spPr>
        <p:txBody>
          <a:bodyPr wrap="square" rtlCol="0">
            <a:spAutoFit/>
          </a:bodyPr>
          <a:lstStyle/>
          <a:p>
            <a:pPr algn="ctr"/>
            <a:r>
              <a:rPr lang="es-MX" dirty="0">
                <a:latin typeface="Bahnschrift SemiLight" panose="020B0502040204020203" pitchFamily="34" charset="0"/>
              </a:rPr>
              <a:t>23</a:t>
            </a:r>
            <a:endParaRPr lang="es-CL" dirty="0">
              <a:latin typeface="Bahnschrift SemiLight" panose="020B0502040204020203" pitchFamily="34" charset="0"/>
            </a:endParaRPr>
          </a:p>
        </p:txBody>
      </p:sp>
      <p:sp>
        <p:nvSpPr>
          <p:cNvPr id="20" name="CuadroTexto 19">
            <a:extLst>
              <a:ext uri="{FF2B5EF4-FFF2-40B4-BE49-F238E27FC236}">
                <a16:creationId xmlns:a16="http://schemas.microsoft.com/office/drawing/2014/main" id="{51094E9E-719C-71CD-FDC7-F33F5BC0DF56}"/>
              </a:ext>
            </a:extLst>
          </p:cNvPr>
          <p:cNvSpPr txBox="1"/>
          <p:nvPr/>
        </p:nvSpPr>
        <p:spPr>
          <a:xfrm>
            <a:off x="2415631" y="2919344"/>
            <a:ext cx="5943600" cy="1200329"/>
          </a:xfrm>
          <a:prstGeom prst="rect">
            <a:avLst/>
          </a:prstGeom>
          <a:noFill/>
        </p:spPr>
        <p:txBody>
          <a:bodyPr wrap="square" rtlCol="0">
            <a:spAutoFit/>
          </a:bodyPr>
          <a:lstStyle/>
          <a:p>
            <a:r>
              <a:rPr lang="es-MX" dirty="0"/>
              <a:t>Se eliminan de la trayectoria estados que no aportan a la predictibilidad del mantenimiento, como cambios de turnos, colación del operador, etc. (Conocimiento experto).</a:t>
            </a:r>
            <a:endParaRPr lang="es-CL" dirty="0"/>
          </a:p>
        </p:txBody>
      </p:sp>
      <p:sp>
        <p:nvSpPr>
          <p:cNvPr id="21" name="Diagrama de flujo: conector 20">
            <a:extLst>
              <a:ext uri="{FF2B5EF4-FFF2-40B4-BE49-F238E27FC236}">
                <a16:creationId xmlns:a16="http://schemas.microsoft.com/office/drawing/2014/main" id="{04FD6E44-E9E2-B360-507D-5348BDE433AE}"/>
              </a:ext>
            </a:extLst>
          </p:cNvPr>
          <p:cNvSpPr/>
          <p:nvPr/>
        </p:nvSpPr>
        <p:spPr>
          <a:xfrm>
            <a:off x="3100249" y="5122678"/>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2" name="CuadroTexto 21">
            <a:extLst>
              <a:ext uri="{FF2B5EF4-FFF2-40B4-BE49-F238E27FC236}">
                <a16:creationId xmlns:a16="http://schemas.microsoft.com/office/drawing/2014/main" id="{819E55FA-CA93-6552-CBF4-C977389FAB5E}"/>
              </a:ext>
            </a:extLst>
          </p:cNvPr>
          <p:cNvSpPr txBox="1"/>
          <p:nvPr/>
        </p:nvSpPr>
        <p:spPr>
          <a:xfrm>
            <a:off x="3130638" y="5393851"/>
            <a:ext cx="850900" cy="369332"/>
          </a:xfrm>
          <a:prstGeom prst="rect">
            <a:avLst/>
          </a:prstGeom>
          <a:noFill/>
        </p:spPr>
        <p:txBody>
          <a:bodyPr wrap="square" rtlCol="0">
            <a:spAutoFit/>
          </a:bodyPr>
          <a:lstStyle/>
          <a:p>
            <a:pPr algn="ctr"/>
            <a:r>
              <a:rPr lang="es-MX" dirty="0">
                <a:latin typeface="Bahnschrift SemiLight" panose="020B0502040204020203" pitchFamily="34" charset="0"/>
              </a:rPr>
              <a:t>41</a:t>
            </a:r>
            <a:endParaRPr lang="es-CL" dirty="0">
              <a:latin typeface="Bahnschrift SemiLight" panose="020B0502040204020203" pitchFamily="34" charset="0"/>
            </a:endParaRPr>
          </a:p>
        </p:txBody>
      </p:sp>
      <p:sp>
        <p:nvSpPr>
          <p:cNvPr id="23" name="Diagrama de flujo: conector 22">
            <a:extLst>
              <a:ext uri="{FF2B5EF4-FFF2-40B4-BE49-F238E27FC236}">
                <a16:creationId xmlns:a16="http://schemas.microsoft.com/office/drawing/2014/main" id="{EDE9FCAC-23E8-CDFF-DE13-F7731F83D11E}"/>
              </a:ext>
            </a:extLst>
          </p:cNvPr>
          <p:cNvSpPr/>
          <p:nvPr/>
        </p:nvSpPr>
        <p:spPr>
          <a:xfrm>
            <a:off x="4413250" y="5122678"/>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4" name="CuadroTexto 23">
            <a:extLst>
              <a:ext uri="{FF2B5EF4-FFF2-40B4-BE49-F238E27FC236}">
                <a16:creationId xmlns:a16="http://schemas.microsoft.com/office/drawing/2014/main" id="{FA21DA99-EE91-6490-275F-18DA219BAD12}"/>
              </a:ext>
            </a:extLst>
          </p:cNvPr>
          <p:cNvSpPr txBox="1"/>
          <p:nvPr/>
        </p:nvSpPr>
        <p:spPr>
          <a:xfrm>
            <a:off x="4443638" y="5393851"/>
            <a:ext cx="850900" cy="369332"/>
          </a:xfrm>
          <a:prstGeom prst="rect">
            <a:avLst/>
          </a:prstGeom>
          <a:noFill/>
        </p:spPr>
        <p:txBody>
          <a:bodyPr wrap="square" rtlCol="0">
            <a:spAutoFit/>
          </a:bodyPr>
          <a:lstStyle/>
          <a:p>
            <a:pPr algn="ctr"/>
            <a:r>
              <a:rPr lang="es-MX" dirty="0">
                <a:latin typeface="Bahnschrift SemiLight" panose="020B0502040204020203" pitchFamily="34" charset="0"/>
              </a:rPr>
              <a:t>42</a:t>
            </a:r>
            <a:endParaRPr lang="es-CL" dirty="0">
              <a:latin typeface="Bahnschrift SemiLight" panose="020B0502040204020203" pitchFamily="34" charset="0"/>
            </a:endParaRPr>
          </a:p>
        </p:txBody>
      </p:sp>
      <p:sp>
        <p:nvSpPr>
          <p:cNvPr id="25" name="Diagrama de flujo: conector 24">
            <a:extLst>
              <a:ext uri="{FF2B5EF4-FFF2-40B4-BE49-F238E27FC236}">
                <a16:creationId xmlns:a16="http://schemas.microsoft.com/office/drawing/2014/main" id="{2DE65939-C076-6A5E-724D-DF0EDA506F5A}"/>
              </a:ext>
            </a:extLst>
          </p:cNvPr>
          <p:cNvSpPr/>
          <p:nvPr/>
        </p:nvSpPr>
        <p:spPr>
          <a:xfrm>
            <a:off x="5726251" y="5144086"/>
            <a:ext cx="911677" cy="911677"/>
          </a:xfrm>
          <a:prstGeom prst="flowChartConnector">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6" name="CuadroTexto 25">
            <a:extLst>
              <a:ext uri="{FF2B5EF4-FFF2-40B4-BE49-F238E27FC236}">
                <a16:creationId xmlns:a16="http://schemas.microsoft.com/office/drawing/2014/main" id="{6C74DEC7-1B7B-6029-7583-A9109479959E}"/>
              </a:ext>
            </a:extLst>
          </p:cNvPr>
          <p:cNvSpPr txBox="1"/>
          <p:nvPr/>
        </p:nvSpPr>
        <p:spPr>
          <a:xfrm>
            <a:off x="5756639" y="5415259"/>
            <a:ext cx="850900" cy="369332"/>
          </a:xfrm>
          <a:prstGeom prst="rect">
            <a:avLst/>
          </a:prstGeom>
          <a:noFill/>
        </p:spPr>
        <p:txBody>
          <a:bodyPr wrap="square" rtlCol="0">
            <a:spAutoFit/>
          </a:bodyPr>
          <a:lstStyle/>
          <a:p>
            <a:pPr algn="ctr"/>
            <a:r>
              <a:rPr lang="es-MX" dirty="0">
                <a:latin typeface="Bahnschrift SemiLight" panose="020B0502040204020203" pitchFamily="34" charset="0"/>
              </a:rPr>
              <a:t>50</a:t>
            </a:r>
            <a:endParaRPr lang="es-CL" dirty="0">
              <a:latin typeface="Bahnschrift SemiLight" panose="020B0502040204020203" pitchFamily="34" charset="0"/>
            </a:endParaRPr>
          </a:p>
        </p:txBody>
      </p:sp>
      <p:sp>
        <p:nvSpPr>
          <p:cNvPr id="27" name="CuadroTexto 26">
            <a:extLst>
              <a:ext uri="{FF2B5EF4-FFF2-40B4-BE49-F238E27FC236}">
                <a16:creationId xmlns:a16="http://schemas.microsoft.com/office/drawing/2014/main" id="{77DD062C-1229-83E9-6122-FD01993CFFDE}"/>
              </a:ext>
            </a:extLst>
          </p:cNvPr>
          <p:cNvSpPr txBox="1"/>
          <p:nvPr/>
        </p:nvSpPr>
        <p:spPr>
          <a:xfrm>
            <a:off x="7218000" y="4839852"/>
            <a:ext cx="4785088" cy="923330"/>
          </a:xfrm>
          <a:prstGeom prst="rect">
            <a:avLst/>
          </a:prstGeom>
          <a:noFill/>
        </p:spPr>
        <p:txBody>
          <a:bodyPr wrap="square" rtlCol="0">
            <a:spAutoFit/>
          </a:bodyPr>
          <a:lstStyle/>
          <a:p>
            <a:r>
              <a:rPr lang="es-MX" dirty="0"/>
              <a:t>Se eliminan estados estadísticamente insignificantes (Menos de 5 registros en todo el año).</a:t>
            </a:r>
            <a:endParaRPr lang="es-CL" dirty="0"/>
          </a:p>
        </p:txBody>
      </p:sp>
    </p:spTree>
    <p:extLst>
      <p:ext uri="{BB962C8B-B14F-4D97-AF65-F5344CB8AC3E}">
        <p14:creationId xmlns:p14="http://schemas.microsoft.com/office/powerpoint/2010/main" val="3554113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46E7-BFE8-725B-023B-67E5181FA81B}"/>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5DD9E0BB-111C-1A20-3393-9168A1486B64}"/>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E446E639-9938-C2B9-732D-C7A8090F3F90}"/>
              </a:ext>
            </a:extLst>
          </p:cNvPr>
          <p:cNvSpPr>
            <a:spLocks noGrp="1"/>
          </p:cNvSpPr>
          <p:nvPr>
            <p:ph type="title"/>
          </p:nvPr>
        </p:nvSpPr>
        <p:spPr>
          <a:xfrm>
            <a:off x="0" y="2766219"/>
            <a:ext cx="2225040" cy="1261496"/>
          </a:xfrm>
        </p:spPr>
        <p:txBody>
          <a:bodyPr>
            <a:normAutofit/>
          </a:bodyPr>
          <a:lstStyle/>
          <a:p>
            <a:pPr algn="ctr"/>
            <a:r>
              <a:rPr lang="es-MX" sz="3200" dirty="0">
                <a:solidFill>
                  <a:schemeClr val="bg1"/>
                </a:solidFill>
                <a:latin typeface="Bahnschrift" panose="020B0502040204020203" pitchFamily="34" charset="0"/>
              </a:rPr>
              <a:t>Datos</a:t>
            </a:r>
            <a:endParaRPr lang="es-CL" sz="32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7CEDEB65-914B-40C5-1C88-AC60D69EE956}"/>
              </a:ext>
            </a:extLst>
          </p:cNvPr>
          <p:cNvSpPr>
            <a:spLocks noGrp="1"/>
          </p:cNvSpPr>
          <p:nvPr>
            <p:ph type="sldNum" sz="quarter" idx="12"/>
          </p:nvPr>
        </p:nvSpPr>
        <p:spPr/>
        <p:txBody>
          <a:bodyPr/>
          <a:lstStyle/>
          <a:p>
            <a:fld id="{ED912E12-9DF5-47E5-8760-6375B81A7648}" type="slidenum">
              <a:rPr lang="es-CL" smtClean="0"/>
              <a:t>8</a:t>
            </a:fld>
            <a:endParaRPr lang="es-CL"/>
          </a:p>
        </p:txBody>
      </p:sp>
      <p:sp>
        <p:nvSpPr>
          <p:cNvPr id="12" name="CuadroTexto 11">
            <a:extLst>
              <a:ext uri="{FF2B5EF4-FFF2-40B4-BE49-F238E27FC236}">
                <a16:creationId xmlns:a16="http://schemas.microsoft.com/office/drawing/2014/main" id="{2EEB60FA-992A-2AD0-CEB1-6334CC2E3DED}"/>
              </a:ext>
            </a:extLst>
          </p:cNvPr>
          <p:cNvSpPr txBox="1"/>
          <p:nvPr/>
        </p:nvSpPr>
        <p:spPr>
          <a:xfrm>
            <a:off x="2726872" y="5369609"/>
            <a:ext cx="5943600" cy="1200329"/>
          </a:xfrm>
          <a:prstGeom prst="rect">
            <a:avLst/>
          </a:prstGeom>
          <a:noFill/>
        </p:spPr>
        <p:txBody>
          <a:bodyPr wrap="square" rtlCol="0">
            <a:spAutoFit/>
          </a:bodyPr>
          <a:lstStyle/>
          <a:p>
            <a:r>
              <a:rPr lang="es-MX" dirty="0"/>
              <a:t>La trayectoria se transforma en una serie de tiempo discretizada en quintos de hora. Cada punto es una versión </a:t>
            </a:r>
            <a:r>
              <a:rPr lang="es-MX" dirty="0" err="1"/>
              <a:t>One</a:t>
            </a:r>
            <a:r>
              <a:rPr lang="es-MX" dirty="0"/>
              <a:t>-Hot-</a:t>
            </a:r>
            <a:r>
              <a:rPr lang="es-MX" dirty="0" err="1"/>
              <a:t>Encoded</a:t>
            </a:r>
            <a:r>
              <a:rPr lang="es-MX" dirty="0"/>
              <a:t> de los estados (1 si se encuentra en ese estado, 0 si no) .</a:t>
            </a:r>
            <a:endParaRPr lang="es-CL" dirty="0"/>
          </a:p>
        </p:txBody>
      </p:sp>
      <p:sp>
        <p:nvSpPr>
          <p:cNvPr id="39" name="Flecha: a la derecha 38">
            <a:extLst>
              <a:ext uri="{FF2B5EF4-FFF2-40B4-BE49-F238E27FC236}">
                <a16:creationId xmlns:a16="http://schemas.microsoft.com/office/drawing/2014/main" id="{84BD82A4-596E-0C87-5823-3DFE50D0D106}"/>
              </a:ext>
            </a:extLst>
          </p:cNvPr>
          <p:cNvSpPr/>
          <p:nvPr/>
        </p:nvSpPr>
        <p:spPr>
          <a:xfrm>
            <a:off x="2922814" y="1175657"/>
            <a:ext cx="8588829" cy="365125"/>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41" name="Conector recto 40">
            <a:extLst>
              <a:ext uri="{FF2B5EF4-FFF2-40B4-BE49-F238E27FC236}">
                <a16:creationId xmlns:a16="http://schemas.microsoft.com/office/drawing/2014/main" id="{381CB03A-B6AA-7667-F20C-AE54EEC4BE69}"/>
              </a:ext>
            </a:extLst>
          </p:cNvPr>
          <p:cNvCxnSpPr/>
          <p:nvPr/>
        </p:nvCxnSpPr>
        <p:spPr>
          <a:xfrm>
            <a:off x="3314700" y="1175657"/>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ector recto 41">
            <a:extLst>
              <a:ext uri="{FF2B5EF4-FFF2-40B4-BE49-F238E27FC236}">
                <a16:creationId xmlns:a16="http://schemas.microsoft.com/office/drawing/2014/main" id="{8F4D8421-4195-B20A-1863-7EDCFE4647A4}"/>
              </a:ext>
            </a:extLst>
          </p:cNvPr>
          <p:cNvCxnSpPr/>
          <p:nvPr/>
        </p:nvCxnSpPr>
        <p:spPr>
          <a:xfrm>
            <a:off x="4490357" y="1175657"/>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Conector recto 49">
            <a:extLst>
              <a:ext uri="{FF2B5EF4-FFF2-40B4-BE49-F238E27FC236}">
                <a16:creationId xmlns:a16="http://schemas.microsoft.com/office/drawing/2014/main" id="{F5B551CE-7D49-6903-7B9F-4C09B9BE0A81}"/>
              </a:ext>
            </a:extLst>
          </p:cNvPr>
          <p:cNvCxnSpPr/>
          <p:nvPr/>
        </p:nvCxnSpPr>
        <p:spPr>
          <a:xfrm>
            <a:off x="5617029" y="1165225"/>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Conector recto 50">
            <a:extLst>
              <a:ext uri="{FF2B5EF4-FFF2-40B4-BE49-F238E27FC236}">
                <a16:creationId xmlns:a16="http://schemas.microsoft.com/office/drawing/2014/main" id="{7532CBF8-7EE6-E0BD-932F-1C04777A7345}"/>
              </a:ext>
            </a:extLst>
          </p:cNvPr>
          <p:cNvCxnSpPr/>
          <p:nvPr/>
        </p:nvCxnSpPr>
        <p:spPr>
          <a:xfrm>
            <a:off x="6678386" y="1175657"/>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Conector recto 52">
            <a:extLst>
              <a:ext uri="{FF2B5EF4-FFF2-40B4-BE49-F238E27FC236}">
                <a16:creationId xmlns:a16="http://schemas.microsoft.com/office/drawing/2014/main" id="{F49B1BCD-6C92-F99C-CDFD-6DD3509C608A}"/>
              </a:ext>
            </a:extLst>
          </p:cNvPr>
          <p:cNvCxnSpPr/>
          <p:nvPr/>
        </p:nvCxnSpPr>
        <p:spPr>
          <a:xfrm>
            <a:off x="7805058" y="1165225"/>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Conector recto 53">
            <a:extLst>
              <a:ext uri="{FF2B5EF4-FFF2-40B4-BE49-F238E27FC236}">
                <a16:creationId xmlns:a16="http://schemas.microsoft.com/office/drawing/2014/main" id="{2C818EC0-B2E7-542A-BE9A-99160E89EE49}"/>
              </a:ext>
            </a:extLst>
          </p:cNvPr>
          <p:cNvCxnSpPr/>
          <p:nvPr/>
        </p:nvCxnSpPr>
        <p:spPr>
          <a:xfrm>
            <a:off x="9013372" y="1175657"/>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Conector recto 54">
            <a:extLst>
              <a:ext uri="{FF2B5EF4-FFF2-40B4-BE49-F238E27FC236}">
                <a16:creationId xmlns:a16="http://schemas.microsoft.com/office/drawing/2014/main" id="{081279F9-0854-6E5C-2547-A84B27402AD5}"/>
              </a:ext>
            </a:extLst>
          </p:cNvPr>
          <p:cNvCxnSpPr/>
          <p:nvPr/>
        </p:nvCxnSpPr>
        <p:spPr>
          <a:xfrm>
            <a:off x="10140044" y="1165225"/>
            <a:ext cx="0" cy="506186"/>
          </a:xfrm>
          <a:prstGeom prst="line">
            <a:avLst/>
          </a:prstGeom>
        </p:spPr>
        <p:style>
          <a:lnRef idx="2">
            <a:schemeClr val="accent1"/>
          </a:lnRef>
          <a:fillRef idx="0">
            <a:schemeClr val="accent1"/>
          </a:fillRef>
          <a:effectRef idx="1">
            <a:schemeClr val="accent1"/>
          </a:effectRef>
          <a:fontRef idx="minor">
            <a:schemeClr val="tx1"/>
          </a:fontRef>
        </p:style>
      </p:cxnSp>
      <p:sp>
        <p:nvSpPr>
          <p:cNvPr id="56" name="CuadroTexto 55">
            <a:extLst>
              <a:ext uri="{FF2B5EF4-FFF2-40B4-BE49-F238E27FC236}">
                <a16:creationId xmlns:a16="http://schemas.microsoft.com/office/drawing/2014/main" id="{2D8F3618-D6C0-F4E1-2A4A-24E6D2B065E1}"/>
              </a:ext>
            </a:extLst>
          </p:cNvPr>
          <p:cNvSpPr txBox="1"/>
          <p:nvPr/>
        </p:nvSpPr>
        <p:spPr>
          <a:xfrm>
            <a:off x="10367099" y="1557110"/>
            <a:ext cx="2352857" cy="1200329"/>
          </a:xfrm>
          <a:prstGeom prst="rect">
            <a:avLst/>
          </a:prstGeom>
          <a:noFill/>
        </p:spPr>
        <p:txBody>
          <a:bodyPr wrap="square" rtlCol="0">
            <a:spAutoFit/>
          </a:bodyPr>
          <a:lstStyle/>
          <a:p>
            <a:r>
              <a:rPr lang="es-MX" sz="3600" b="1" dirty="0">
                <a:latin typeface="Bahnschrift" panose="020B0502040204020203" pitchFamily="34" charset="0"/>
              </a:rPr>
              <a:t>[0.2hrs]</a:t>
            </a:r>
          </a:p>
          <a:p>
            <a:endParaRPr lang="es-CL" sz="3600" b="1" dirty="0">
              <a:latin typeface="Bahnschrift" panose="020B0502040204020203" pitchFamily="34" charset="0"/>
            </a:endParaRPr>
          </a:p>
        </p:txBody>
      </p:sp>
      <p:sp>
        <p:nvSpPr>
          <p:cNvPr id="57" name="CuadroTexto 56">
            <a:extLst>
              <a:ext uri="{FF2B5EF4-FFF2-40B4-BE49-F238E27FC236}">
                <a16:creationId xmlns:a16="http://schemas.microsoft.com/office/drawing/2014/main" id="{9464CB5C-59CB-73AD-E74B-9093735D4809}"/>
              </a:ext>
            </a:extLst>
          </p:cNvPr>
          <p:cNvSpPr txBox="1"/>
          <p:nvPr/>
        </p:nvSpPr>
        <p:spPr>
          <a:xfrm>
            <a:off x="5453743" y="1959429"/>
            <a:ext cx="408212" cy="369332"/>
          </a:xfrm>
          <a:prstGeom prst="rect">
            <a:avLst/>
          </a:prstGeom>
          <a:noFill/>
        </p:spPr>
        <p:txBody>
          <a:bodyPr wrap="square" rtlCol="0">
            <a:spAutoFit/>
          </a:bodyPr>
          <a:lstStyle/>
          <a:p>
            <a:r>
              <a:rPr lang="es-MX" b="1" dirty="0">
                <a:latin typeface="Bahnschrift" panose="020B0502040204020203" pitchFamily="34" charset="0"/>
              </a:rPr>
              <a:t>X</a:t>
            </a:r>
          </a:p>
        </p:txBody>
      </p:sp>
      <p:sp>
        <p:nvSpPr>
          <p:cNvPr id="60" name="Flecha: hacia abajo 59">
            <a:extLst>
              <a:ext uri="{FF2B5EF4-FFF2-40B4-BE49-F238E27FC236}">
                <a16:creationId xmlns:a16="http://schemas.microsoft.com/office/drawing/2014/main" id="{4726D1C3-7040-8AED-DA51-EC45CBB4CAFD}"/>
              </a:ext>
            </a:extLst>
          </p:cNvPr>
          <p:cNvSpPr/>
          <p:nvPr/>
        </p:nvSpPr>
        <p:spPr>
          <a:xfrm>
            <a:off x="5535386" y="2600186"/>
            <a:ext cx="163286" cy="10287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aphicFrame>
        <p:nvGraphicFramePr>
          <p:cNvPr id="61" name="Tabla 60">
            <a:extLst>
              <a:ext uri="{FF2B5EF4-FFF2-40B4-BE49-F238E27FC236}">
                <a16:creationId xmlns:a16="http://schemas.microsoft.com/office/drawing/2014/main" id="{9BC9769B-C103-57DE-5E92-10097F126425}"/>
              </a:ext>
            </a:extLst>
          </p:cNvPr>
          <p:cNvGraphicFramePr>
            <a:graphicFrameLocks noGrp="1"/>
          </p:cNvGraphicFramePr>
          <p:nvPr>
            <p:extLst>
              <p:ext uri="{D42A27DB-BD31-4B8C-83A1-F6EECF244321}">
                <p14:modId xmlns:p14="http://schemas.microsoft.com/office/powerpoint/2010/main" val="4206930853"/>
              </p:ext>
            </p:extLst>
          </p:nvPr>
        </p:nvGraphicFramePr>
        <p:xfrm>
          <a:off x="2720112" y="3801933"/>
          <a:ext cx="8128000" cy="101092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173223157"/>
                    </a:ext>
                  </a:extLst>
                </a:gridCol>
                <a:gridCol w="812800">
                  <a:extLst>
                    <a:ext uri="{9D8B030D-6E8A-4147-A177-3AD203B41FA5}">
                      <a16:colId xmlns:a16="http://schemas.microsoft.com/office/drawing/2014/main" val="2333859290"/>
                    </a:ext>
                  </a:extLst>
                </a:gridCol>
                <a:gridCol w="812800">
                  <a:extLst>
                    <a:ext uri="{9D8B030D-6E8A-4147-A177-3AD203B41FA5}">
                      <a16:colId xmlns:a16="http://schemas.microsoft.com/office/drawing/2014/main" val="2613007102"/>
                    </a:ext>
                  </a:extLst>
                </a:gridCol>
                <a:gridCol w="812800">
                  <a:extLst>
                    <a:ext uri="{9D8B030D-6E8A-4147-A177-3AD203B41FA5}">
                      <a16:colId xmlns:a16="http://schemas.microsoft.com/office/drawing/2014/main" val="2539916372"/>
                    </a:ext>
                  </a:extLst>
                </a:gridCol>
                <a:gridCol w="812800">
                  <a:extLst>
                    <a:ext uri="{9D8B030D-6E8A-4147-A177-3AD203B41FA5}">
                      <a16:colId xmlns:a16="http://schemas.microsoft.com/office/drawing/2014/main" val="469190714"/>
                    </a:ext>
                  </a:extLst>
                </a:gridCol>
                <a:gridCol w="812800">
                  <a:extLst>
                    <a:ext uri="{9D8B030D-6E8A-4147-A177-3AD203B41FA5}">
                      <a16:colId xmlns:a16="http://schemas.microsoft.com/office/drawing/2014/main" val="1650078292"/>
                    </a:ext>
                  </a:extLst>
                </a:gridCol>
                <a:gridCol w="812800">
                  <a:extLst>
                    <a:ext uri="{9D8B030D-6E8A-4147-A177-3AD203B41FA5}">
                      <a16:colId xmlns:a16="http://schemas.microsoft.com/office/drawing/2014/main" val="4171617255"/>
                    </a:ext>
                  </a:extLst>
                </a:gridCol>
                <a:gridCol w="812800">
                  <a:extLst>
                    <a:ext uri="{9D8B030D-6E8A-4147-A177-3AD203B41FA5}">
                      <a16:colId xmlns:a16="http://schemas.microsoft.com/office/drawing/2014/main" val="3293948852"/>
                    </a:ext>
                  </a:extLst>
                </a:gridCol>
                <a:gridCol w="812800">
                  <a:extLst>
                    <a:ext uri="{9D8B030D-6E8A-4147-A177-3AD203B41FA5}">
                      <a16:colId xmlns:a16="http://schemas.microsoft.com/office/drawing/2014/main" val="3189870875"/>
                    </a:ext>
                  </a:extLst>
                </a:gridCol>
                <a:gridCol w="812800">
                  <a:extLst>
                    <a:ext uri="{9D8B030D-6E8A-4147-A177-3AD203B41FA5}">
                      <a16:colId xmlns:a16="http://schemas.microsoft.com/office/drawing/2014/main" val="1771660218"/>
                    </a:ext>
                  </a:extLst>
                </a:gridCol>
              </a:tblGrid>
              <a:tr h="370840">
                <a:tc>
                  <a:txBody>
                    <a:bodyPr/>
                    <a:lstStyle/>
                    <a:p>
                      <a:r>
                        <a:rPr lang="es-MX" dirty="0"/>
                        <a:t>State1</a:t>
                      </a:r>
                      <a:endParaRPr lang="es-CL" dirty="0"/>
                    </a:p>
                  </a:txBody>
                  <a:tcPr/>
                </a:tc>
                <a:tc>
                  <a:txBody>
                    <a:bodyPr/>
                    <a:lstStyle/>
                    <a:p>
                      <a:r>
                        <a:rPr lang="es-MX" dirty="0"/>
                        <a:t>State2</a:t>
                      </a:r>
                      <a:endParaRPr lang="es-CL" dirty="0"/>
                    </a:p>
                  </a:txBody>
                  <a:tcPr/>
                </a:tc>
                <a:tc>
                  <a:txBody>
                    <a:bodyPr/>
                    <a:lstStyle/>
                    <a:p>
                      <a:r>
                        <a:rPr lang="es-MX" dirty="0"/>
                        <a:t>State3</a:t>
                      </a:r>
                      <a:endParaRPr lang="es-CL" dirty="0"/>
                    </a:p>
                  </a:txBody>
                  <a:tcPr/>
                </a:tc>
                <a:tc>
                  <a:txBody>
                    <a:bodyPr/>
                    <a:lstStyle/>
                    <a:p>
                      <a:r>
                        <a:rPr lang="es-MX" dirty="0"/>
                        <a:t>State4</a:t>
                      </a:r>
                      <a:endParaRPr lang="es-CL" dirty="0"/>
                    </a:p>
                  </a:txBody>
                  <a:tcPr/>
                </a:tc>
                <a:tc>
                  <a:txBody>
                    <a:bodyPr/>
                    <a:lstStyle/>
                    <a:p>
                      <a:r>
                        <a:rPr lang="es-MX" dirty="0"/>
                        <a:t>State5</a:t>
                      </a:r>
                      <a:endParaRPr lang="es-CL" dirty="0"/>
                    </a:p>
                  </a:txBody>
                  <a:tcPr/>
                </a:tc>
                <a:tc>
                  <a:txBody>
                    <a:bodyPr/>
                    <a:lstStyle/>
                    <a:p>
                      <a:r>
                        <a:rPr lang="es-MX" dirty="0"/>
                        <a:t>State6</a:t>
                      </a:r>
                      <a:endParaRPr lang="es-CL" dirty="0"/>
                    </a:p>
                  </a:txBody>
                  <a:tcPr/>
                </a:tc>
                <a:tc>
                  <a:txBody>
                    <a:bodyPr/>
                    <a:lstStyle/>
                    <a:p>
                      <a:r>
                        <a:rPr lang="es-MX" dirty="0"/>
                        <a:t>State7</a:t>
                      </a:r>
                      <a:endParaRPr lang="es-CL" dirty="0"/>
                    </a:p>
                  </a:txBody>
                  <a:tcPr/>
                </a:tc>
                <a:tc>
                  <a:txBody>
                    <a:bodyPr/>
                    <a:lstStyle/>
                    <a:p>
                      <a:r>
                        <a:rPr lang="es-MX" dirty="0"/>
                        <a:t>State8</a:t>
                      </a:r>
                      <a:endParaRPr lang="es-CL" dirty="0"/>
                    </a:p>
                  </a:txBody>
                  <a:tcPr/>
                </a:tc>
                <a:tc>
                  <a:txBody>
                    <a:bodyPr/>
                    <a:lstStyle/>
                    <a:p>
                      <a:r>
                        <a:rPr lang="es-MX" dirty="0"/>
                        <a:t>State9</a:t>
                      </a:r>
                      <a:endParaRPr lang="es-CL" dirty="0"/>
                    </a:p>
                  </a:txBody>
                  <a:tcPr/>
                </a:tc>
                <a:tc>
                  <a:txBody>
                    <a:bodyPr/>
                    <a:lstStyle/>
                    <a:p>
                      <a:r>
                        <a:rPr lang="es-MX" dirty="0"/>
                        <a:t>State10</a:t>
                      </a:r>
                      <a:endParaRPr lang="es-CL" dirty="0"/>
                    </a:p>
                  </a:txBody>
                  <a:tcPr/>
                </a:tc>
                <a:extLst>
                  <a:ext uri="{0D108BD9-81ED-4DB2-BD59-A6C34878D82A}">
                    <a16:rowId xmlns:a16="http://schemas.microsoft.com/office/drawing/2014/main" val="1621125531"/>
                  </a:ext>
                </a:extLst>
              </a:tr>
              <a:tr h="370840">
                <a:tc>
                  <a:txBody>
                    <a:bodyPr/>
                    <a:lstStyle/>
                    <a:p>
                      <a:r>
                        <a:rPr lang="es-MX" dirty="0"/>
                        <a:t>0</a:t>
                      </a:r>
                      <a:endParaRPr lang="es-CL" dirty="0"/>
                    </a:p>
                  </a:txBody>
                  <a:tcPr/>
                </a:tc>
                <a:tc>
                  <a:txBody>
                    <a:bodyPr/>
                    <a:lstStyle/>
                    <a:p>
                      <a:r>
                        <a:rPr lang="es-MX" dirty="0"/>
                        <a:t>1</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extLst>
                  <a:ext uri="{0D108BD9-81ED-4DB2-BD59-A6C34878D82A}">
                    <a16:rowId xmlns:a16="http://schemas.microsoft.com/office/drawing/2014/main" val="2281790020"/>
                  </a:ext>
                </a:extLst>
              </a:tr>
            </a:tbl>
          </a:graphicData>
        </a:graphic>
      </p:graphicFrame>
    </p:spTree>
    <p:extLst>
      <p:ext uri="{BB962C8B-B14F-4D97-AF65-F5344CB8AC3E}">
        <p14:creationId xmlns:p14="http://schemas.microsoft.com/office/powerpoint/2010/main" val="139724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914B-92C5-709E-99AB-342CF301BB5D}"/>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7C250587-BB5D-42ED-212F-FBE80F136350}"/>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17EAF19B-DC92-2216-981C-A5BEC70C8259}"/>
              </a:ext>
            </a:extLst>
          </p:cNvPr>
          <p:cNvSpPr>
            <a:spLocks noGrp="1"/>
          </p:cNvSpPr>
          <p:nvPr>
            <p:ph type="title"/>
          </p:nvPr>
        </p:nvSpPr>
        <p:spPr>
          <a:xfrm>
            <a:off x="0" y="2766219"/>
            <a:ext cx="2225040" cy="1261496"/>
          </a:xfrm>
        </p:spPr>
        <p:txBody>
          <a:bodyPr>
            <a:normAutofit/>
          </a:bodyPr>
          <a:lstStyle/>
          <a:p>
            <a:pPr algn="ctr"/>
            <a:r>
              <a:rPr lang="es-MX" sz="2400" dirty="0">
                <a:solidFill>
                  <a:schemeClr val="bg1"/>
                </a:solidFill>
                <a:latin typeface="Bahnschrift" panose="020B0502040204020203" pitchFamily="34" charset="0"/>
              </a:rPr>
              <a:t>Preparación para el entrenamiento</a:t>
            </a:r>
            <a:endParaRPr lang="es-CL" sz="2400" dirty="0">
              <a:solidFill>
                <a:schemeClr val="bg1"/>
              </a:solidFill>
              <a:latin typeface="Bahnschrift" panose="020B0502040204020203" pitchFamily="34" charset="0"/>
            </a:endParaRPr>
          </a:p>
        </p:txBody>
      </p:sp>
      <p:sp>
        <p:nvSpPr>
          <p:cNvPr id="8" name="CuadroTexto 7">
            <a:extLst>
              <a:ext uri="{FF2B5EF4-FFF2-40B4-BE49-F238E27FC236}">
                <a16:creationId xmlns:a16="http://schemas.microsoft.com/office/drawing/2014/main" id="{94C690C7-E8B0-93AB-661A-4B0099C865CA}"/>
              </a:ext>
            </a:extLst>
          </p:cNvPr>
          <p:cNvSpPr txBox="1"/>
          <p:nvPr/>
        </p:nvSpPr>
        <p:spPr>
          <a:xfrm>
            <a:off x="2774768" y="2417802"/>
            <a:ext cx="3837214" cy="1477328"/>
          </a:xfrm>
          <a:prstGeom prst="rect">
            <a:avLst/>
          </a:prstGeom>
          <a:noFill/>
        </p:spPr>
        <p:txBody>
          <a:bodyPr wrap="square" rtlCol="0">
            <a:spAutoFit/>
          </a:bodyPr>
          <a:lstStyle/>
          <a:p>
            <a:r>
              <a:rPr lang="es-MX" dirty="0"/>
              <a:t>Con los datos procesados se tomaron dos acercamientos para generar un modelo. Un modelo de regresión y un modelo de clasificación.</a:t>
            </a:r>
            <a:endParaRPr lang="es-CL" dirty="0"/>
          </a:p>
        </p:txBody>
      </p:sp>
      <p:pic>
        <p:nvPicPr>
          <p:cNvPr id="6" name="Imagen 5">
            <a:extLst>
              <a:ext uri="{FF2B5EF4-FFF2-40B4-BE49-F238E27FC236}">
                <a16:creationId xmlns:a16="http://schemas.microsoft.com/office/drawing/2014/main" id="{2F3D9D6B-F661-0B27-45BB-FD92CB430140}"/>
              </a:ext>
            </a:extLst>
          </p:cNvPr>
          <p:cNvPicPr>
            <a:picLocks noChangeAspect="1"/>
          </p:cNvPicPr>
          <p:nvPr/>
        </p:nvPicPr>
        <p:blipFill>
          <a:blip r:embed="rId2"/>
          <a:stretch>
            <a:fillRect/>
          </a:stretch>
        </p:blipFill>
        <p:spPr>
          <a:xfrm>
            <a:off x="6375167" y="320239"/>
            <a:ext cx="5816833" cy="2905100"/>
          </a:xfrm>
          <a:prstGeom prst="rect">
            <a:avLst/>
          </a:prstGeom>
        </p:spPr>
      </p:pic>
      <p:pic>
        <p:nvPicPr>
          <p:cNvPr id="10" name="Imagen 9">
            <a:extLst>
              <a:ext uri="{FF2B5EF4-FFF2-40B4-BE49-F238E27FC236}">
                <a16:creationId xmlns:a16="http://schemas.microsoft.com/office/drawing/2014/main" id="{9EE5DE9F-BDB5-1363-9CC3-BC24FE947514}"/>
              </a:ext>
            </a:extLst>
          </p:cNvPr>
          <p:cNvPicPr>
            <a:picLocks noChangeAspect="1"/>
          </p:cNvPicPr>
          <p:nvPr/>
        </p:nvPicPr>
        <p:blipFill>
          <a:blip r:embed="rId3"/>
          <a:stretch>
            <a:fillRect/>
          </a:stretch>
        </p:blipFill>
        <p:spPr>
          <a:xfrm>
            <a:off x="7151592" y="3632662"/>
            <a:ext cx="4263981" cy="3068227"/>
          </a:xfrm>
          <a:prstGeom prst="rect">
            <a:avLst/>
          </a:prstGeom>
        </p:spPr>
      </p:pic>
    </p:spTree>
    <p:extLst>
      <p:ext uri="{BB962C8B-B14F-4D97-AF65-F5344CB8AC3E}">
        <p14:creationId xmlns:p14="http://schemas.microsoft.com/office/powerpoint/2010/main" val="306626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E8C0C-C060-78DB-66BF-66C46986D7AD}"/>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CEF34473-5CB6-C22F-BA8B-2B142B2B62B8}"/>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8EE80ACE-0A00-5419-1D65-6CA4C72B1334}"/>
              </a:ext>
            </a:extLst>
          </p:cNvPr>
          <p:cNvSpPr>
            <a:spLocks noGrp="1"/>
          </p:cNvSpPr>
          <p:nvPr>
            <p:ph type="title"/>
          </p:nvPr>
        </p:nvSpPr>
        <p:spPr>
          <a:xfrm>
            <a:off x="0" y="2766219"/>
            <a:ext cx="2225040" cy="1261496"/>
          </a:xfrm>
        </p:spPr>
        <p:txBody>
          <a:bodyPr>
            <a:normAutofit/>
          </a:bodyPr>
          <a:lstStyle/>
          <a:p>
            <a:pPr algn="ctr"/>
            <a:r>
              <a:rPr lang="es-MX" sz="2400" dirty="0">
                <a:solidFill>
                  <a:schemeClr val="bg1"/>
                </a:solidFill>
                <a:latin typeface="Bahnschrift" panose="020B0502040204020203" pitchFamily="34" charset="0"/>
              </a:rPr>
              <a:t>Modelo de regresión</a:t>
            </a:r>
            <a:endParaRPr lang="es-CL" sz="2400" dirty="0">
              <a:solidFill>
                <a:schemeClr val="bg1"/>
              </a:solidFill>
              <a:latin typeface="Bahnschrift" panose="020B0502040204020203" pitchFamily="34" charset="0"/>
            </a:endParaRPr>
          </a:p>
        </p:txBody>
      </p:sp>
      <p:sp>
        <p:nvSpPr>
          <p:cNvPr id="15" name="Flecha: a la derecha 14">
            <a:extLst>
              <a:ext uri="{FF2B5EF4-FFF2-40B4-BE49-F238E27FC236}">
                <a16:creationId xmlns:a16="http://schemas.microsoft.com/office/drawing/2014/main" id="{EF94D78F-1EFA-BCFF-BD19-F6029485447D}"/>
              </a:ext>
            </a:extLst>
          </p:cNvPr>
          <p:cNvSpPr/>
          <p:nvPr/>
        </p:nvSpPr>
        <p:spPr>
          <a:xfrm>
            <a:off x="2904548" y="726649"/>
            <a:ext cx="8588829" cy="365125"/>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6" name="Conector recto 15">
            <a:extLst>
              <a:ext uri="{FF2B5EF4-FFF2-40B4-BE49-F238E27FC236}">
                <a16:creationId xmlns:a16="http://schemas.microsoft.com/office/drawing/2014/main" id="{C126D62B-3911-7833-3864-9A83A4CDF66E}"/>
              </a:ext>
            </a:extLst>
          </p:cNvPr>
          <p:cNvCxnSpPr/>
          <p:nvPr/>
        </p:nvCxnSpPr>
        <p:spPr>
          <a:xfrm>
            <a:off x="3296434" y="726649"/>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B9BC93AE-96C7-54CF-02DF-CEDEFC0F2BFC}"/>
              </a:ext>
            </a:extLst>
          </p:cNvPr>
          <p:cNvCxnSpPr/>
          <p:nvPr/>
        </p:nvCxnSpPr>
        <p:spPr>
          <a:xfrm>
            <a:off x="5115835" y="738608"/>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337F3089-F91E-A420-8A8C-B8F7074C2618}"/>
              </a:ext>
            </a:extLst>
          </p:cNvPr>
          <p:cNvCxnSpPr/>
          <p:nvPr/>
        </p:nvCxnSpPr>
        <p:spPr>
          <a:xfrm>
            <a:off x="6660120" y="726649"/>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1F984668-7DF9-E69E-5624-3C3E9B6D5F33}"/>
              </a:ext>
            </a:extLst>
          </p:cNvPr>
          <p:cNvCxnSpPr/>
          <p:nvPr/>
        </p:nvCxnSpPr>
        <p:spPr>
          <a:xfrm>
            <a:off x="8995106" y="726649"/>
            <a:ext cx="0" cy="506186"/>
          </a:xfrm>
          <a:prstGeom prst="line">
            <a:avLst/>
          </a:prstGeom>
        </p:spPr>
        <p:style>
          <a:lnRef idx="2">
            <a:schemeClr val="accent1"/>
          </a:lnRef>
          <a:fillRef idx="0">
            <a:schemeClr val="accent1"/>
          </a:fillRef>
          <a:effectRef idx="1">
            <a:schemeClr val="accent1"/>
          </a:effectRef>
          <a:fontRef idx="minor">
            <a:schemeClr val="tx1"/>
          </a:fontRef>
        </p:style>
      </p:cxnSp>
      <p:pic>
        <p:nvPicPr>
          <p:cNvPr id="24" name="Imagen 23" descr="Imagen en blanco y negro&#10;&#10;El contenido generado por IA puede ser incorrecto.">
            <a:extLst>
              <a:ext uri="{FF2B5EF4-FFF2-40B4-BE49-F238E27FC236}">
                <a16:creationId xmlns:a16="http://schemas.microsoft.com/office/drawing/2014/main" id="{D4A8615E-6F18-7174-3855-773A3A82E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2523" y="280576"/>
            <a:ext cx="365125" cy="365125"/>
          </a:xfrm>
          <a:prstGeom prst="rect">
            <a:avLst/>
          </a:prstGeom>
        </p:spPr>
      </p:pic>
      <p:pic>
        <p:nvPicPr>
          <p:cNvPr id="25" name="Imagen 24" descr="Imagen en blanco y negro&#10;&#10;El contenido generado por IA puede ser incorrecto.">
            <a:extLst>
              <a:ext uri="{FF2B5EF4-FFF2-40B4-BE49-F238E27FC236}">
                <a16:creationId xmlns:a16="http://schemas.microsoft.com/office/drawing/2014/main" id="{71606860-6528-8CE6-0D39-27DD6ECF93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7232" y="296733"/>
            <a:ext cx="365125" cy="365125"/>
          </a:xfrm>
          <a:prstGeom prst="rect">
            <a:avLst/>
          </a:prstGeom>
        </p:spPr>
      </p:pic>
      <p:sp>
        <p:nvSpPr>
          <p:cNvPr id="26" name="CuadroTexto 25">
            <a:extLst>
              <a:ext uri="{FF2B5EF4-FFF2-40B4-BE49-F238E27FC236}">
                <a16:creationId xmlns:a16="http://schemas.microsoft.com/office/drawing/2014/main" id="{5B3FB9A9-3B96-2422-AB60-1096B29E229B}"/>
              </a:ext>
            </a:extLst>
          </p:cNvPr>
          <p:cNvSpPr txBox="1"/>
          <p:nvPr/>
        </p:nvSpPr>
        <p:spPr>
          <a:xfrm>
            <a:off x="6499689" y="1287067"/>
            <a:ext cx="408212" cy="369332"/>
          </a:xfrm>
          <a:prstGeom prst="rect">
            <a:avLst/>
          </a:prstGeom>
          <a:noFill/>
        </p:spPr>
        <p:txBody>
          <a:bodyPr wrap="square" rtlCol="0">
            <a:spAutoFit/>
          </a:bodyPr>
          <a:lstStyle/>
          <a:p>
            <a:r>
              <a:rPr lang="es-MX" b="1" dirty="0">
                <a:latin typeface="Bahnschrift" panose="020B0502040204020203" pitchFamily="34" charset="0"/>
              </a:rPr>
              <a:t>X</a:t>
            </a:r>
          </a:p>
        </p:txBody>
      </p:sp>
      <p:sp>
        <p:nvSpPr>
          <p:cNvPr id="27" name="Abrir llave 26">
            <a:extLst>
              <a:ext uri="{FF2B5EF4-FFF2-40B4-BE49-F238E27FC236}">
                <a16:creationId xmlns:a16="http://schemas.microsoft.com/office/drawing/2014/main" id="{37F0CEDA-BC33-6BBB-E386-E4A070874D18}"/>
              </a:ext>
            </a:extLst>
          </p:cNvPr>
          <p:cNvSpPr/>
          <p:nvPr/>
        </p:nvSpPr>
        <p:spPr>
          <a:xfrm rot="16200000">
            <a:off x="7769778" y="709345"/>
            <a:ext cx="365125" cy="210549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CL" sz="8000" dirty="0"/>
          </a:p>
        </p:txBody>
      </p:sp>
      <p:sp>
        <p:nvSpPr>
          <p:cNvPr id="28" name="CuadroTexto 27">
            <a:extLst>
              <a:ext uri="{FF2B5EF4-FFF2-40B4-BE49-F238E27FC236}">
                <a16:creationId xmlns:a16="http://schemas.microsoft.com/office/drawing/2014/main" id="{5EB5D6EA-572F-8601-1E72-33C91DE1B734}"/>
              </a:ext>
            </a:extLst>
          </p:cNvPr>
          <p:cNvSpPr txBox="1"/>
          <p:nvPr/>
        </p:nvSpPr>
        <p:spPr>
          <a:xfrm>
            <a:off x="6899597" y="2092096"/>
            <a:ext cx="2105489" cy="369332"/>
          </a:xfrm>
          <a:prstGeom prst="rect">
            <a:avLst/>
          </a:prstGeom>
          <a:noFill/>
        </p:spPr>
        <p:txBody>
          <a:bodyPr wrap="square" rtlCol="0">
            <a:spAutoFit/>
          </a:bodyPr>
          <a:lstStyle/>
          <a:p>
            <a:pPr algn="ctr"/>
            <a:r>
              <a:rPr lang="es-MX" dirty="0"/>
              <a:t>2hrs</a:t>
            </a:r>
            <a:endParaRPr lang="es-CL" dirty="0"/>
          </a:p>
        </p:txBody>
      </p:sp>
      <p:sp>
        <p:nvSpPr>
          <p:cNvPr id="31" name="Flecha: hacia abajo 30">
            <a:extLst>
              <a:ext uri="{FF2B5EF4-FFF2-40B4-BE49-F238E27FC236}">
                <a16:creationId xmlns:a16="http://schemas.microsoft.com/office/drawing/2014/main" id="{6B084732-5345-2838-3398-FEA8FE9BD6DA}"/>
              </a:ext>
            </a:extLst>
          </p:cNvPr>
          <p:cNvSpPr/>
          <p:nvPr/>
        </p:nvSpPr>
        <p:spPr>
          <a:xfrm>
            <a:off x="10353438" y="1700097"/>
            <a:ext cx="120456" cy="13850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2" name="CuadroTexto 31">
            <a:extLst>
              <a:ext uri="{FF2B5EF4-FFF2-40B4-BE49-F238E27FC236}">
                <a16:creationId xmlns:a16="http://schemas.microsoft.com/office/drawing/2014/main" id="{57E07854-CE8C-C032-E6F1-006E4A976DF1}"/>
              </a:ext>
            </a:extLst>
          </p:cNvPr>
          <p:cNvSpPr txBox="1"/>
          <p:nvPr/>
        </p:nvSpPr>
        <p:spPr>
          <a:xfrm>
            <a:off x="2382171" y="3377327"/>
            <a:ext cx="3227901" cy="3139321"/>
          </a:xfrm>
          <a:prstGeom prst="rect">
            <a:avLst/>
          </a:prstGeom>
          <a:noFill/>
        </p:spPr>
        <p:txBody>
          <a:bodyPr wrap="square" rtlCol="0">
            <a:spAutoFit/>
          </a:bodyPr>
          <a:lstStyle/>
          <a:p>
            <a:r>
              <a:rPr lang="es-MX" dirty="0"/>
              <a:t>En cada instante se calcula el tiempo restante para la próxima reparación no programada. Luego se transforma ese tiempo en una “probabilidad”. Vale 0 cuando ocurre una reparación y vale 1 el instante de tiempo antes de la reparación. Un valor cercano a 1 sería indicador de una reparación próxima.</a:t>
            </a:r>
            <a:endParaRPr lang="es-CL" dirty="0"/>
          </a:p>
        </p:txBody>
      </p:sp>
      <p:pic>
        <p:nvPicPr>
          <p:cNvPr id="37" name="Imagen 36">
            <a:extLst>
              <a:ext uri="{FF2B5EF4-FFF2-40B4-BE49-F238E27FC236}">
                <a16:creationId xmlns:a16="http://schemas.microsoft.com/office/drawing/2014/main" id="{094F9ED1-F1D0-8B98-DFA2-793BE5FC43F9}"/>
              </a:ext>
            </a:extLst>
          </p:cNvPr>
          <p:cNvPicPr>
            <a:picLocks noChangeAspect="1"/>
          </p:cNvPicPr>
          <p:nvPr/>
        </p:nvPicPr>
        <p:blipFill>
          <a:blip r:embed="rId3"/>
          <a:stretch>
            <a:fillRect/>
          </a:stretch>
        </p:blipFill>
        <p:spPr>
          <a:xfrm>
            <a:off x="5410200" y="3447181"/>
            <a:ext cx="6420746" cy="3172268"/>
          </a:xfrm>
          <a:prstGeom prst="rect">
            <a:avLst/>
          </a:prstGeom>
        </p:spPr>
      </p:pic>
      <p:sp>
        <p:nvSpPr>
          <p:cNvPr id="38" name="CuadroTexto 37">
            <a:extLst>
              <a:ext uri="{FF2B5EF4-FFF2-40B4-BE49-F238E27FC236}">
                <a16:creationId xmlns:a16="http://schemas.microsoft.com/office/drawing/2014/main" id="{B144EE93-BF74-F664-89DC-35CE274FE8CD}"/>
              </a:ext>
            </a:extLst>
          </p:cNvPr>
          <p:cNvSpPr txBox="1"/>
          <p:nvPr/>
        </p:nvSpPr>
        <p:spPr>
          <a:xfrm>
            <a:off x="8108191" y="4848649"/>
            <a:ext cx="408212" cy="369332"/>
          </a:xfrm>
          <a:prstGeom prst="rect">
            <a:avLst/>
          </a:prstGeom>
          <a:noFill/>
        </p:spPr>
        <p:txBody>
          <a:bodyPr wrap="square" rtlCol="0">
            <a:spAutoFit/>
          </a:bodyPr>
          <a:lstStyle/>
          <a:p>
            <a:r>
              <a:rPr lang="es-MX" b="1" dirty="0">
                <a:latin typeface="Bahnschrift" panose="020B0502040204020203" pitchFamily="34" charset="0"/>
              </a:rPr>
              <a:t>X</a:t>
            </a:r>
          </a:p>
        </p:txBody>
      </p:sp>
      <p:pic>
        <p:nvPicPr>
          <p:cNvPr id="39" name="Imagen 38" descr="Imagen en blanco y negro&#10;&#10;El contenido generado por IA puede ser incorrecto.">
            <a:extLst>
              <a:ext uri="{FF2B5EF4-FFF2-40B4-BE49-F238E27FC236}">
                <a16:creationId xmlns:a16="http://schemas.microsoft.com/office/drawing/2014/main" id="{1BF54C4E-491C-2C02-A70C-0591AFCFA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4705" y="6506741"/>
            <a:ext cx="226238" cy="226238"/>
          </a:xfrm>
          <a:prstGeom prst="rect">
            <a:avLst/>
          </a:prstGeom>
        </p:spPr>
      </p:pic>
      <p:pic>
        <p:nvPicPr>
          <p:cNvPr id="40" name="Imagen 39" descr="Imagen en blanco y negro&#10;&#10;El contenido generado por IA puede ser incorrecto.">
            <a:extLst>
              <a:ext uri="{FF2B5EF4-FFF2-40B4-BE49-F238E27FC236}">
                <a16:creationId xmlns:a16="http://schemas.microsoft.com/office/drawing/2014/main" id="{663C3B14-04EE-5625-A091-2421A4DF8D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4702" y="6523912"/>
            <a:ext cx="226238" cy="226238"/>
          </a:xfrm>
          <a:prstGeom prst="rect">
            <a:avLst/>
          </a:prstGeom>
        </p:spPr>
      </p:pic>
      <p:pic>
        <p:nvPicPr>
          <p:cNvPr id="41" name="Imagen 40" descr="Imagen en blanco y negro&#10;&#10;El contenido generado por IA puede ser incorrecto.">
            <a:extLst>
              <a:ext uri="{FF2B5EF4-FFF2-40B4-BE49-F238E27FC236}">
                <a16:creationId xmlns:a16="http://schemas.microsoft.com/office/drawing/2014/main" id="{0B8092E7-CCC9-1145-F3BC-7E404A44B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557" y="6506741"/>
            <a:ext cx="226238" cy="226238"/>
          </a:xfrm>
          <a:prstGeom prst="rect">
            <a:avLst/>
          </a:prstGeom>
        </p:spPr>
      </p:pic>
      <p:pic>
        <p:nvPicPr>
          <p:cNvPr id="42" name="Imagen 41" descr="Imagen en blanco y negro&#10;&#10;El contenido generado por IA puede ser incorrecto.">
            <a:extLst>
              <a:ext uri="{FF2B5EF4-FFF2-40B4-BE49-F238E27FC236}">
                <a16:creationId xmlns:a16="http://schemas.microsoft.com/office/drawing/2014/main" id="{757D703D-5446-4E48-D57C-B9913E26A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3871" y="329128"/>
            <a:ext cx="365125" cy="365125"/>
          </a:xfrm>
          <a:prstGeom prst="rect">
            <a:avLst/>
          </a:prstGeom>
        </p:spPr>
      </p:pic>
    </p:spTree>
    <p:extLst>
      <p:ext uri="{BB962C8B-B14F-4D97-AF65-F5344CB8AC3E}">
        <p14:creationId xmlns:p14="http://schemas.microsoft.com/office/powerpoint/2010/main" val="2435554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8FEA-4615-2971-C64B-5B4242B7E242}"/>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7217D2A-2FDC-2442-17D3-70DB018F1E3F}"/>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1B5255CB-A352-D53E-B9BC-9896B7E219DD}"/>
              </a:ext>
            </a:extLst>
          </p:cNvPr>
          <p:cNvSpPr>
            <a:spLocks noGrp="1"/>
          </p:cNvSpPr>
          <p:nvPr>
            <p:ph type="title"/>
          </p:nvPr>
        </p:nvSpPr>
        <p:spPr>
          <a:xfrm>
            <a:off x="0" y="2766219"/>
            <a:ext cx="2225040" cy="1261496"/>
          </a:xfrm>
        </p:spPr>
        <p:txBody>
          <a:bodyPr>
            <a:normAutofit/>
          </a:bodyPr>
          <a:lstStyle/>
          <a:p>
            <a:pPr algn="ctr"/>
            <a:r>
              <a:rPr lang="es-MX" sz="2400" dirty="0">
                <a:solidFill>
                  <a:schemeClr val="bg1"/>
                </a:solidFill>
                <a:latin typeface="Bahnschrift" panose="020B0502040204020203" pitchFamily="34" charset="0"/>
              </a:rPr>
              <a:t>Modelo de Clasificación</a:t>
            </a:r>
            <a:endParaRPr lang="es-CL" sz="2400" dirty="0">
              <a:solidFill>
                <a:schemeClr val="bg1"/>
              </a:solidFill>
              <a:latin typeface="Bahnschrift" panose="020B0502040204020203" pitchFamily="34" charset="0"/>
            </a:endParaRPr>
          </a:p>
        </p:txBody>
      </p:sp>
      <p:sp>
        <p:nvSpPr>
          <p:cNvPr id="15" name="Flecha: a la derecha 14">
            <a:extLst>
              <a:ext uri="{FF2B5EF4-FFF2-40B4-BE49-F238E27FC236}">
                <a16:creationId xmlns:a16="http://schemas.microsoft.com/office/drawing/2014/main" id="{5564C4FD-CB02-1793-7676-D8D75D175E97}"/>
              </a:ext>
            </a:extLst>
          </p:cNvPr>
          <p:cNvSpPr/>
          <p:nvPr/>
        </p:nvSpPr>
        <p:spPr>
          <a:xfrm>
            <a:off x="2904548" y="726649"/>
            <a:ext cx="8588829" cy="365125"/>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19" name="Conector recto 18">
            <a:extLst>
              <a:ext uri="{FF2B5EF4-FFF2-40B4-BE49-F238E27FC236}">
                <a16:creationId xmlns:a16="http://schemas.microsoft.com/office/drawing/2014/main" id="{715D2E0D-606D-A298-BBFC-8B164E7B658A}"/>
              </a:ext>
            </a:extLst>
          </p:cNvPr>
          <p:cNvCxnSpPr/>
          <p:nvPr/>
        </p:nvCxnSpPr>
        <p:spPr>
          <a:xfrm>
            <a:off x="5891894" y="669437"/>
            <a:ext cx="0" cy="506186"/>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2C80BC7A-68A2-7624-E1C4-378D08C0368A}"/>
              </a:ext>
            </a:extLst>
          </p:cNvPr>
          <p:cNvCxnSpPr/>
          <p:nvPr/>
        </p:nvCxnSpPr>
        <p:spPr>
          <a:xfrm>
            <a:off x="10464485" y="694253"/>
            <a:ext cx="0" cy="506186"/>
          </a:xfrm>
          <a:prstGeom prst="line">
            <a:avLst/>
          </a:prstGeom>
        </p:spPr>
        <p:style>
          <a:lnRef idx="2">
            <a:schemeClr val="accent1"/>
          </a:lnRef>
          <a:fillRef idx="0">
            <a:schemeClr val="accent1"/>
          </a:fillRef>
          <a:effectRef idx="1">
            <a:schemeClr val="accent1"/>
          </a:effectRef>
          <a:fontRef idx="minor">
            <a:schemeClr val="tx1"/>
          </a:fontRef>
        </p:style>
      </p:cxnSp>
      <p:pic>
        <p:nvPicPr>
          <p:cNvPr id="24" name="Imagen 23" descr="Imagen en blanco y negro&#10;&#10;El contenido generado por IA puede ser incorrecto.">
            <a:extLst>
              <a:ext uri="{FF2B5EF4-FFF2-40B4-BE49-F238E27FC236}">
                <a16:creationId xmlns:a16="http://schemas.microsoft.com/office/drawing/2014/main" id="{F0F2B689-F0F9-CAC6-380D-9B2BB0E37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4664" y="326597"/>
            <a:ext cx="365125" cy="365125"/>
          </a:xfrm>
          <a:prstGeom prst="rect">
            <a:avLst/>
          </a:prstGeom>
        </p:spPr>
      </p:pic>
      <p:sp>
        <p:nvSpPr>
          <p:cNvPr id="26" name="CuadroTexto 25">
            <a:extLst>
              <a:ext uri="{FF2B5EF4-FFF2-40B4-BE49-F238E27FC236}">
                <a16:creationId xmlns:a16="http://schemas.microsoft.com/office/drawing/2014/main" id="{B822F688-4E7A-E86F-3967-FE211954DAD9}"/>
              </a:ext>
            </a:extLst>
          </p:cNvPr>
          <p:cNvSpPr txBox="1"/>
          <p:nvPr/>
        </p:nvSpPr>
        <p:spPr>
          <a:xfrm>
            <a:off x="5732444" y="244836"/>
            <a:ext cx="408212" cy="369332"/>
          </a:xfrm>
          <a:prstGeom prst="rect">
            <a:avLst/>
          </a:prstGeom>
          <a:noFill/>
        </p:spPr>
        <p:txBody>
          <a:bodyPr wrap="square" rtlCol="0">
            <a:spAutoFit/>
          </a:bodyPr>
          <a:lstStyle/>
          <a:p>
            <a:r>
              <a:rPr lang="es-MX" b="1" dirty="0">
                <a:latin typeface="Bahnschrift" panose="020B0502040204020203" pitchFamily="34" charset="0"/>
              </a:rPr>
              <a:t>X</a:t>
            </a:r>
          </a:p>
        </p:txBody>
      </p:sp>
      <p:sp>
        <p:nvSpPr>
          <p:cNvPr id="27" name="Abrir llave 26">
            <a:extLst>
              <a:ext uri="{FF2B5EF4-FFF2-40B4-BE49-F238E27FC236}">
                <a16:creationId xmlns:a16="http://schemas.microsoft.com/office/drawing/2014/main" id="{A4FCD968-6ECA-346A-0E76-ACFCED026632}"/>
              </a:ext>
            </a:extLst>
          </p:cNvPr>
          <p:cNvSpPr/>
          <p:nvPr/>
        </p:nvSpPr>
        <p:spPr>
          <a:xfrm rot="16200000">
            <a:off x="9691425" y="1023666"/>
            <a:ext cx="365125" cy="1180996"/>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CL" sz="8000" dirty="0"/>
          </a:p>
        </p:txBody>
      </p:sp>
      <p:sp>
        <p:nvSpPr>
          <p:cNvPr id="31" name="Flecha: hacia abajo 30">
            <a:extLst>
              <a:ext uri="{FF2B5EF4-FFF2-40B4-BE49-F238E27FC236}">
                <a16:creationId xmlns:a16="http://schemas.microsoft.com/office/drawing/2014/main" id="{D6EF1C39-AB7F-9EF1-EE83-332ED83AA7BB}"/>
              </a:ext>
            </a:extLst>
          </p:cNvPr>
          <p:cNvSpPr/>
          <p:nvPr/>
        </p:nvSpPr>
        <p:spPr>
          <a:xfrm>
            <a:off x="7968719" y="1449562"/>
            <a:ext cx="606495" cy="13166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2" name="CuadroTexto 31">
            <a:extLst>
              <a:ext uri="{FF2B5EF4-FFF2-40B4-BE49-F238E27FC236}">
                <a16:creationId xmlns:a16="http://schemas.microsoft.com/office/drawing/2014/main" id="{CA08D8E6-A925-3BB2-BFBC-50267F659511}"/>
              </a:ext>
            </a:extLst>
          </p:cNvPr>
          <p:cNvSpPr txBox="1"/>
          <p:nvPr/>
        </p:nvSpPr>
        <p:spPr>
          <a:xfrm>
            <a:off x="2364791" y="4731189"/>
            <a:ext cx="8099694" cy="2031325"/>
          </a:xfrm>
          <a:prstGeom prst="rect">
            <a:avLst/>
          </a:prstGeom>
          <a:noFill/>
        </p:spPr>
        <p:txBody>
          <a:bodyPr wrap="square" rtlCol="0">
            <a:spAutoFit/>
          </a:bodyPr>
          <a:lstStyle/>
          <a:p>
            <a:r>
              <a:rPr lang="es-MX" dirty="0"/>
              <a:t>A partir de un instante en el tiempo se observa un intervalo (</a:t>
            </a:r>
            <a:r>
              <a:rPr lang="es-MX" dirty="0" err="1"/>
              <a:t>ej</a:t>
            </a:r>
            <a:r>
              <a:rPr lang="es-MX" dirty="0"/>
              <a:t>: 7 días) con una brecha (gap) entre el intervalo y el evento. La brecha es de una cantidad de tiempo definida (</a:t>
            </a:r>
            <a:r>
              <a:rPr lang="es-MX" dirty="0" err="1"/>
              <a:t>ej</a:t>
            </a:r>
            <a:r>
              <a:rPr lang="es-MX" dirty="0"/>
              <a:t>: 24 </a:t>
            </a:r>
            <a:r>
              <a:rPr lang="es-MX" dirty="0" err="1"/>
              <a:t>hrs</a:t>
            </a:r>
            <a:r>
              <a:rPr lang="es-MX" dirty="0"/>
              <a:t>). A partir del intervalo se construye una distribución de tiempo. </a:t>
            </a:r>
          </a:p>
          <a:p>
            <a:endParaRPr lang="es-MX" dirty="0"/>
          </a:p>
          <a:p>
            <a:r>
              <a:rPr lang="es-MX" dirty="0"/>
              <a:t>Una distribución que antecede a una reparación se clasifica como positivo, y una no reparación como negativo.</a:t>
            </a:r>
            <a:endParaRPr lang="es-CL" dirty="0"/>
          </a:p>
        </p:txBody>
      </p:sp>
      <p:sp>
        <p:nvSpPr>
          <p:cNvPr id="3" name="CuadroTexto 2">
            <a:extLst>
              <a:ext uri="{FF2B5EF4-FFF2-40B4-BE49-F238E27FC236}">
                <a16:creationId xmlns:a16="http://schemas.microsoft.com/office/drawing/2014/main" id="{163E05C4-60A7-98DB-E818-658B74DB75BE}"/>
              </a:ext>
            </a:extLst>
          </p:cNvPr>
          <p:cNvSpPr txBox="1"/>
          <p:nvPr/>
        </p:nvSpPr>
        <p:spPr>
          <a:xfrm>
            <a:off x="9584526" y="1917711"/>
            <a:ext cx="879959" cy="369332"/>
          </a:xfrm>
          <a:prstGeom prst="rect">
            <a:avLst/>
          </a:prstGeom>
          <a:noFill/>
        </p:spPr>
        <p:txBody>
          <a:bodyPr wrap="square" rtlCol="0">
            <a:spAutoFit/>
          </a:bodyPr>
          <a:lstStyle/>
          <a:p>
            <a:r>
              <a:rPr lang="es-MX" dirty="0">
                <a:latin typeface="Bahnschrift" panose="020B0502040204020203" pitchFamily="34" charset="0"/>
              </a:rPr>
              <a:t>Gap</a:t>
            </a:r>
            <a:endParaRPr lang="es-CL" dirty="0">
              <a:latin typeface="Bahnschrift" panose="020B0502040204020203" pitchFamily="34" charset="0"/>
            </a:endParaRPr>
          </a:p>
        </p:txBody>
      </p:sp>
      <p:sp>
        <p:nvSpPr>
          <p:cNvPr id="5" name="Rectángulo 4">
            <a:extLst>
              <a:ext uri="{FF2B5EF4-FFF2-40B4-BE49-F238E27FC236}">
                <a16:creationId xmlns:a16="http://schemas.microsoft.com/office/drawing/2014/main" id="{0FBA72DC-3343-FECA-CABD-93B9366DAC8B}"/>
              </a:ext>
            </a:extLst>
          </p:cNvPr>
          <p:cNvSpPr/>
          <p:nvPr/>
        </p:nvSpPr>
        <p:spPr>
          <a:xfrm>
            <a:off x="7198962" y="670327"/>
            <a:ext cx="2105489" cy="473790"/>
          </a:xfrm>
          <a:prstGeom prst="rect">
            <a:avLst/>
          </a:prstGeom>
          <a:noFill/>
          <a:ln w="57150">
            <a:solidFill>
              <a:schemeClr val="accent1">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Abrir llave 5">
            <a:extLst>
              <a:ext uri="{FF2B5EF4-FFF2-40B4-BE49-F238E27FC236}">
                <a16:creationId xmlns:a16="http://schemas.microsoft.com/office/drawing/2014/main" id="{A46BFF0C-3D07-A562-8654-E76039930B17}"/>
              </a:ext>
            </a:extLst>
          </p:cNvPr>
          <p:cNvSpPr/>
          <p:nvPr/>
        </p:nvSpPr>
        <p:spPr>
          <a:xfrm rot="16200000">
            <a:off x="5109261" y="1006033"/>
            <a:ext cx="365125" cy="1180996"/>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CL" sz="8000" dirty="0"/>
          </a:p>
        </p:txBody>
      </p:sp>
      <p:sp>
        <p:nvSpPr>
          <p:cNvPr id="7" name="CuadroTexto 6">
            <a:extLst>
              <a:ext uri="{FF2B5EF4-FFF2-40B4-BE49-F238E27FC236}">
                <a16:creationId xmlns:a16="http://schemas.microsoft.com/office/drawing/2014/main" id="{6FD49573-AA0B-66C7-9B33-B3ECB152366E}"/>
              </a:ext>
            </a:extLst>
          </p:cNvPr>
          <p:cNvSpPr txBox="1"/>
          <p:nvPr/>
        </p:nvSpPr>
        <p:spPr>
          <a:xfrm>
            <a:off x="4960147" y="1866630"/>
            <a:ext cx="879959" cy="369332"/>
          </a:xfrm>
          <a:prstGeom prst="rect">
            <a:avLst/>
          </a:prstGeom>
          <a:noFill/>
        </p:spPr>
        <p:txBody>
          <a:bodyPr wrap="square" rtlCol="0">
            <a:spAutoFit/>
          </a:bodyPr>
          <a:lstStyle/>
          <a:p>
            <a:r>
              <a:rPr lang="es-MX" dirty="0">
                <a:latin typeface="Bahnschrift" panose="020B0502040204020203" pitchFamily="34" charset="0"/>
              </a:rPr>
              <a:t>Gap</a:t>
            </a:r>
            <a:endParaRPr lang="es-CL" dirty="0">
              <a:latin typeface="Bahnschrift" panose="020B0502040204020203" pitchFamily="34" charset="0"/>
            </a:endParaRPr>
          </a:p>
        </p:txBody>
      </p:sp>
      <p:sp>
        <p:nvSpPr>
          <p:cNvPr id="8" name="Rectángulo 7">
            <a:extLst>
              <a:ext uri="{FF2B5EF4-FFF2-40B4-BE49-F238E27FC236}">
                <a16:creationId xmlns:a16="http://schemas.microsoft.com/office/drawing/2014/main" id="{D3F771F6-CE0B-A258-4E97-B0796AA7A6C5}"/>
              </a:ext>
            </a:extLst>
          </p:cNvPr>
          <p:cNvSpPr/>
          <p:nvPr/>
        </p:nvSpPr>
        <p:spPr>
          <a:xfrm>
            <a:off x="2549657" y="701833"/>
            <a:ext cx="2105489" cy="473790"/>
          </a:xfrm>
          <a:prstGeom prst="rect">
            <a:avLst/>
          </a:prstGeom>
          <a:noFill/>
          <a:ln w="57150">
            <a:solidFill>
              <a:schemeClr val="accent1">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aphicFrame>
        <p:nvGraphicFramePr>
          <p:cNvPr id="9" name="Tabla 8">
            <a:extLst>
              <a:ext uri="{FF2B5EF4-FFF2-40B4-BE49-F238E27FC236}">
                <a16:creationId xmlns:a16="http://schemas.microsoft.com/office/drawing/2014/main" id="{AE08317E-C87E-DCC5-0F9F-F254209BF039}"/>
              </a:ext>
            </a:extLst>
          </p:cNvPr>
          <p:cNvGraphicFramePr>
            <a:graphicFrameLocks noGrp="1"/>
          </p:cNvGraphicFramePr>
          <p:nvPr>
            <p:extLst>
              <p:ext uri="{D42A27DB-BD31-4B8C-83A1-F6EECF244321}">
                <p14:modId xmlns:p14="http://schemas.microsoft.com/office/powerpoint/2010/main" val="2243229210"/>
              </p:ext>
            </p:extLst>
          </p:nvPr>
        </p:nvGraphicFramePr>
        <p:xfrm>
          <a:off x="4567871" y="2940915"/>
          <a:ext cx="7408190" cy="1248224"/>
        </p:xfrm>
        <a:graphic>
          <a:graphicData uri="http://schemas.openxmlformats.org/drawingml/2006/table">
            <a:tbl>
              <a:tblPr firstRow="1" bandRow="1">
                <a:tableStyleId>{5C22544A-7EE6-4342-B048-85BDC9FD1C3A}</a:tableStyleId>
              </a:tblPr>
              <a:tblGrid>
                <a:gridCol w="740819">
                  <a:extLst>
                    <a:ext uri="{9D8B030D-6E8A-4147-A177-3AD203B41FA5}">
                      <a16:colId xmlns:a16="http://schemas.microsoft.com/office/drawing/2014/main" val="4173223157"/>
                    </a:ext>
                  </a:extLst>
                </a:gridCol>
                <a:gridCol w="740819">
                  <a:extLst>
                    <a:ext uri="{9D8B030D-6E8A-4147-A177-3AD203B41FA5}">
                      <a16:colId xmlns:a16="http://schemas.microsoft.com/office/drawing/2014/main" val="2333859290"/>
                    </a:ext>
                  </a:extLst>
                </a:gridCol>
                <a:gridCol w="740819">
                  <a:extLst>
                    <a:ext uri="{9D8B030D-6E8A-4147-A177-3AD203B41FA5}">
                      <a16:colId xmlns:a16="http://schemas.microsoft.com/office/drawing/2014/main" val="2613007102"/>
                    </a:ext>
                  </a:extLst>
                </a:gridCol>
                <a:gridCol w="740819">
                  <a:extLst>
                    <a:ext uri="{9D8B030D-6E8A-4147-A177-3AD203B41FA5}">
                      <a16:colId xmlns:a16="http://schemas.microsoft.com/office/drawing/2014/main" val="2539916372"/>
                    </a:ext>
                  </a:extLst>
                </a:gridCol>
                <a:gridCol w="740819">
                  <a:extLst>
                    <a:ext uri="{9D8B030D-6E8A-4147-A177-3AD203B41FA5}">
                      <a16:colId xmlns:a16="http://schemas.microsoft.com/office/drawing/2014/main" val="469190714"/>
                    </a:ext>
                  </a:extLst>
                </a:gridCol>
                <a:gridCol w="740819">
                  <a:extLst>
                    <a:ext uri="{9D8B030D-6E8A-4147-A177-3AD203B41FA5}">
                      <a16:colId xmlns:a16="http://schemas.microsoft.com/office/drawing/2014/main" val="1650078292"/>
                    </a:ext>
                  </a:extLst>
                </a:gridCol>
                <a:gridCol w="740819">
                  <a:extLst>
                    <a:ext uri="{9D8B030D-6E8A-4147-A177-3AD203B41FA5}">
                      <a16:colId xmlns:a16="http://schemas.microsoft.com/office/drawing/2014/main" val="4171617255"/>
                    </a:ext>
                  </a:extLst>
                </a:gridCol>
                <a:gridCol w="740819">
                  <a:extLst>
                    <a:ext uri="{9D8B030D-6E8A-4147-A177-3AD203B41FA5}">
                      <a16:colId xmlns:a16="http://schemas.microsoft.com/office/drawing/2014/main" val="3293948852"/>
                    </a:ext>
                  </a:extLst>
                </a:gridCol>
                <a:gridCol w="740819">
                  <a:extLst>
                    <a:ext uri="{9D8B030D-6E8A-4147-A177-3AD203B41FA5}">
                      <a16:colId xmlns:a16="http://schemas.microsoft.com/office/drawing/2014/main" val="3189870875"/>
                    </a:ext>
                  </a:extLst>
                </a:gridCol>
                <a:gridCol w="740819">
                  <a:extLst>
                    <a:ext uri="{9D8B030D-6E8A-4147-A177-3AD203B41FA5}">
                      <a16:colId xmlns:a16="http://schemas.microsoft.com/office/drawing/2014/main" val="1771660218"/>
                    </a:ext>
                  </a:extLst>
                </a:gridCol>
              </a:tblGrid>
              <a:tr h="790333">
                <a:tc>
                  <a:txBody>
                    <a:bodyPr/>
                    <a:lstStyle/>
                    <a:p>
                      <a:r>
                        <a:rPr lang="es-MX" dirty="0"/>
                        <a:t>State1</a:t>
                      </a:r>
                      <a:endParaRPr lang="es-CL" dirty="0"/>
                    </a:p>
                  </a:txBody>
                  <a:tcPr/>
                </a:tc>
                <a:tc>
                  <a:txBody>
                    <a:bodyPr/>
                    <a:lstStyle/>
                    <a:p>
                      <a:r>
                        <a:rPr lang="es-MX" dirty="0"/>
                        <a:t>State2</a:t>
                      </a:r>
                      <a:endParaRPr lang="es-CL" dirty="0"/>
                    </a:p>
                  </a:txBody>
                  <a:tcPr/>
                </a:tc>
                <a:tc>
                  <a:txBody>
                    <a:bodyPr/>
                    <a:lstStyle/>
                    <a:p>
                      <a:r>
                        <a:rPr lang="es-MX" dirty="0"/>
                        <a:t>State3</a:t>
                      </a:r>
                      <a:endParaRPr lang="es-CL" dirty="0"/>
                    </a:p>
                  </a:txBody>
                  <a:tcPr/>
                </a:tc>
                <a:tc>
                  <a:txBody>
                    <a:bodyPr/>
                    <a:lstStyle/>
                    <a:p>
                      <a:r>
                        <a:rPr lang="es-MX" dirty="0"/>
                        <a:t>State4</a:t>
                      </a:r>
                      <a:endParaRPr lang="es-CL" dirty="0"/>
                    </a:p>
                  </a:txBody>
                  <a:tcPr/>
                </a:tc>
                <a:tc>
                  <a:txBody>
                    <a:bodyPr/>
                    <a:lstStyle/>
                    <a:p>
                      <a:r>
                        <a:rPr lang="es-MX" dirty="0"/>
                        <a:t>State5</a:t>
                      </a:r>
                      <a:endParaRPr lang="es-CL" dirty="0"/>
                    </a:p>
                  </a:txBody>
                  <a:tcPr/>
                </a:tc>
                <a:tc>
                  <a:txBody>
                    <a:bodyPr/>
                    <a:lstStyle/>
                    <a:p>
                      <a:r>
                        <a:rPr lang="es-MX" dirty="0"/>
                        <a:t>State6</a:t>
                      </a:r>
                      <a:endParaRPr lang="es-CL" dirty="0"/>
                    </a:p>
                  </a:txBody>
                  <a:tcPr/>
                </a:tc>
                <a:tc>
                  <a:txBody>
                    <a:bodyPr/>
                    <a:lstStyle/>
                    <a:p>
                      <a:r>
                        <a:rPr lang="es-MX"/>
                        <a:t>State7</a:t>
                      </a:r>
                      <a:endParaRPr lang="es-CL" dirty="0"/>
                    </a:p>
                  </a:txBody>
                  <a:tcPr/>
                </a:tc>
                <a:tc>
                  <a:txBody>
                    <a:bodyPr/>
                    <a:lstStyle/>
                    <a:p>
                      <a:r>
                        <a:rPr lang="es-MX"/>
                        <a:t>State8</a:t>
                      </a:r>
                      <a:endParaRPr lang="es-CL" dirty="0"/>
                    </a:p>
                  </a:txBody>
                  <a:tcPr/>
                </a:tc>
                <a:tc>
                  <a:txBody>
                    <a:bodyPr/>
                    <a:lstStyle/>
                    <a:p>
                      <a:r>
                        <a:rPr lang="es-MX"/>
                        <a:t>State9</a:t>
                      </a:r>
                      <a:endParaRPr lang="es-CL" dirty="0"/>
                    </a:p>
                  </a:txBody>
                  <a:tcPr/>
                </a:tc>
                <a:tc>
                  <a:txBody>
                    <a:bodyPr/>
                    <a:lstStyle/>
                    <a:p>
                      <a:r>
                        <a:rPr lang="es-MX" dirty="0"/>
                        <a:t>State10</a:t>
                      </a:r>
                      <a:endParaRPr lang="es-CL" dirty="0"/>
                    </a:p>
                  </a:txBody>
                  <a:tcPr/>
                </a:tc>
                <a:extLst>
                  <a:ext uri="{0D108BD9-81ED-4DB2-BD59-A6C34878D82A}">
                    <a16:rowId xmlns:a16="http://schemas.microsoft.com/office/drawing/2014/main" val="1621125531"/>
                  </a:ext>
                </a:extLst>
              </a:tr>
              <a:tr h="457891">
                <a:tc>
                  <a:txBody>
                    <a:bodyPr/>
                    <a:lstStyle/>
                    <a:p>
                      <a:r>
                        <a:rPr lang="es-MX" dirty="0"/>
                        <a:t>0.2</a:t>
                      </a:r>
                      <a:endParaRPr lang="es-CL" dirty="0"/>
                    </a:p>
                  </a:txBody>
                  <a:tcPr/>
                </a:tc>
                <a:tc>
                  <a:txBody>
                    <a:bodyPr/>
                    <a:lstStyle/>
                    <a:p>
                      <a:r>
                        <a:rPr lang="es-MX" dirty="0"/>
                        <a:t>0.4</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tc>
                  <a:txBody>
                    <a:bodyPr/>
                    <a:lstStyle/>
                    <a:p>
                      <a:r>
                        <a:rPr lang="es-MX" dirty="0"/>
                        <a:t>0.3</a:t>
                      </a:r>
                      <a:endParaRPr lang="es-CL" dirty="0"/>
                    </a:p>
                  </a:txBody>
                  <a:tcPr/>
                </a:tc>
                <a:tc>
                  <a:txBody>
                    <a:bodyPr/>
                    <a:lstStyle/>
                    <a:p>
                      <a:r>
                        <a:rPr lang="es-MX" dirty="0"/>
                        <a:t>0.1</a:t>
                      </a:r>
                      <a:endParaRPr lang="es-CL" dirty="0"/>
                    </a:p>
                  </a:txBody>
                  <a:tcPr/>
                </a:tc>
                <a:tc>
                  <a:txBody>
                    <a:bodyPr/>
                    <a:lstStyle/>
                    <a:p>
                      <a:r>
                        <a:rPr lang="es-MX" dirty="0"/>
                        <a:t>0</a:t>
                      </a:r>
                      <a:endParaRPr lang="es-CL" dirty="0"/>
                    </a:p>
                  </a:txBody>
                  <a:tcPr/>
                </a:tc>
                <a:tc>
                  <a:txBody>
                    <a:bodyPr/>
                    <a:lstStyle/>
                    <a:p>
                      <a:r>
                        <a:rPr lang="es-MX" dirty="0"/>
                        <a:t>0.1</a:t>
                      </a:r>
                      <a:endParaRPr lang="es-CL" dirty="0"/>
                    </a:p>
                  </a:txBody>
                  <a:tcPr/>
                </a:tc>
                <a:tc>
                  <a:txBody>
                    <a:bodyPr/>
                    <a:lstStyle/>
                    <a:p>
                      <a:r>
                        <a:rPr lang="es-MX" dirty="0"/>
                        <a:t>0</a:t>
                      </a:r>
                      <a:endParaRPr lang="es-CL" dirty="0"/>
                    </a:p>
                  </a:txBody>
                  <a:tcPr/>
                </a:tc>
                <a:tc>
                  <a:txBody>
                    <a:bodyPr/>
                    <a:lstStyle/>
                    <a:p>
                      <a:r>
                        <a:rPr lang="es-MX" dirty="0"/>
                        <a:t>0</a:t>
                      </a:r>
                      <a:endParaRPr lang="es-CL" dirty="0"/>
                    </a:p>
                  </a:txBody>
                  <a:tcPr/>
                </a:tc>
                <a:extLst>
                  <a:ext uri="{0D108BD9-81ED-4DB2-BD59-A6C34878D82A}">
                    <a16:rowId xmlns:a16="http://schemas.microsoft.com/office/drawing/2014/main" val="2281790020"/>
                  </a:ext>
                </a:extLst>
              </a:tr>
            </a:tbl>
          </a:graphicData>
        </a:graphic>
      </p:graphicFrame>
    </p:spTree>
    <p:extLst>
      <p:ext uri="{BB962C8B-B14F-4D97-AF65-F5344CB8AC3E}">
        <p14:creationId xmlns:p14="http://schemas.microsoft.com/office/powerpoint/2010/main" val="2220944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6F47E-9D82-6747-9C83-2A058FE2D8FA}"/>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B14AA8B3-AE51-545E-168F-5BEFD1AD38C6}"/>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7DDF1B82-8383-E2B6-F39F-82489BE22C24}"/>
              </a:ext>
            </a:extLst>
          </p:cNvPr>
          <p:cNvSpPr>
            <a:spLocks noGrp="1"/>
          </p:cNvSpPr>
          <p:nvPr>
            <p:ph type="title"/>
          </p:nvPr>
        </p:nvSpPr>
        <p:spPr>
          <a:xfrm>
            <a:off x="0" y="2766219"/>
            <a:ext cx="2225040" cy="1261496"/>
          </a:xfrm>
        </p:spPr>
        <p:txBody>
          <a:bodyPr>
            <a:noAutofit/>
          </a:bodyPr>
          <a:lstStyle/>
          <a:p>
            <a:pPr algn="ctr"/>
            <a:r>
              <a:rPr lang="es-MX" sz="2250" dirty="0">
                <a:solidFill>
                  <a:schemeClr val="bg1"/>
                </a:solidFill>
                <a:latin typeface="Bahnschrift" panose="020B0502040204020203" pitchFamily="34" charset="0"/>
              </a:rPr>
              <a:t>Caracterización de los datos</a:t>
            </a:r>
            <a:endParaRPr lang="es-CL" sz="2250" dirty="0">
              <a:solidFill>
                <a:schemeClr val="bg1"/>
              </a:solidFill>
              <a:latin typeface="Bahnschrift" panose="020B0502040204020203" pitchFamily="34" charset="0"/>
            </a:endParaRPr>
          </a:p>
        </p:txBody>
      </p:sp>
      <p:sp>
        <p:nvSpPr>
          <p:cNvPr id="15" name="Flecha: a la derecha 14">
            <a:extLst>
              <a:ext uri="{FF2B5EF4-FFF2-40B4-BE49-F238E27FC236}">
                <a16:creationId xmlns:a16="http://schemas.microsoft.com/office/drawing/2014/main" id="{04032B56-F5C4-05FE-6472-B04C697B5D67}"/>
              </a:ext>
            </a:extLst>
          </p:cNvPr>
          <p:cNvSpPr/>
          <p:nvPr/>
        </p:nvSpPr>
        <p:spPr>
          <a:xfrm>
            <a:off x="2873550" y="2583656"/>
            <a:ext cx="8588829" cy="365125"/>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21" name="Conector recto 20">
            <a:extLst>
              <a:ext uri="{FF2B5EF4-FFF2-40B4-BE49-F238E27FC236}">
                <a16:creationId xmlns:a16="http://schemas.microsoft.com/office/drawing/2014/main" id="{1F61BCAB-267F-96B4-1A8A-D50D129BA3AD}"/>
              </a:ext>
            </a:extLst>
          </p:cNvPr>
          <p:cNvCxnSpPr/>
          <p:nvPr/>
        </p:nvCxnSpPr>
        <p:spPr>
          <a:xfrm>
            <a:off x="5701447" y="2599984"/>
            <a:ext cx="0" cy="506186"/>
          </a:xfrm>
          <a:prstGeom prst="line">
            <a:avLst/>
          </a:prstGeom>
        </p:spPr>
        <p:style>
          <a:lnRef idx="2">
            <a:schemeClr val="accent1"/>
          </a:lnRef>
          <a:fillRef idx="0">
            <a:schemeClr val="accent1"/>
          </a:fillRef>
          <a:effectRef idx="1">
            <a:schemeClr val="accent1"/>
          </a:effectRef>
          <a:fontRef idx="minor">
            <a:schemeClr val="tx1"/>
          </a:fontRef>
        </p:style>
      </p:cxnSp>
      <p:pic>
        <p:nvPicPr>
          <p:cNvPr id="24" name="Imagen 23" descr="Imagen en blanco y negro&#10;&#10;El contenido generado por IA puede ser incorrecto.">
            <a:extLst>
              <a:ext uri="{FF2B5EF4-FFF2-40B4-BE49-F238E27FC236}">
                <a16:creationId xmlns:a16="http://schemas.microsoft.com/office/drawing/2014/main" id="{187204BD-6D92-5D3F-BB06-04898D5CA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0428" y="2126788"/>
            <a:ext cx="365125" cy="365125"/>
          </a:xfrm>
          <a:prstGeom prst="rect">
            <a:avLst/>
          </a:prstGeom>
        </p:spPr>
      </p:pic>
      <p:sp>
        <p:nvSpPr>
          <p:cNvPr id="32" name="CuadroTexto 31">
            <a:extLst>
              <a:ext uri="{FF2B5EF4-FFF2-40B4-BE49-F238E27FC236}">
                <a16:creationId xmlns:a16="http://schemas.microsoft.com/office/drawing/2014/main" id="{581A0259-7DE9-6AF9-3E25-7FDD87016EF2}"/>
              </a:ext>
            </a:extLst>
          </p:cNvPr>
          <p:cNvSpPr txBox="1"/>
          <p:nvPr/>
        </p:nvSpPr>
        <p:spPr>
          <a:xfrm>
            <a:off x="2873550" y="4027715"/>
            <a:ext cx="8099694" cy="1200329"/>
          </a:xfrm>
          <a:prstGeom prst="rect">
            <a:avLst/>
          </a:prstGeom>
          <a:noFill/>
        </p:spPr>
        <p:txBody>
          <a:bodyPr wrap="square" rtlCol="0">
            <a:spAutoFit/>
          </a:bodyPr>
          <a:lstStyle/>
          <a:p>
            <a:r>
              <a:rPr lang="es-MX" dirty="0"/>
              <a:t>En la línea de tiempo existen dos tipos de reparaciones. Esporádicas y en grupo (</a:t>
            </a:r>
            <a:r>
              <a:rPr lang="es-MX" dirty="0" err="1"/>
              <a:t>Cluster</a:t>
            </a:r>
            <a:r>
              <a:rPr lang="es-MX" dirty="0"/>
              <a:t>). Tanto para la regresión como para la clasificación se entrenaron modelos que toman en consideración solo las reparaciones esporádicas y otros que toman en consideración todas las reparaciones.</a:t>
            </a:r>
            <a:endParaRPr lang="es-CL" dirty="0"/>
          </a:p>
        </p:txBody>
      </p:sp>
      <p:cxnSp>
        <p:nvCxnSpPr>
          <p:cNvPr id="10" name="Conector recto 9">
            <a:extLst>
              <a:ext uri="{FF2B5EF4-FFF2-40B4-BE49-F238E27FC236}">
                <a16:creationId xmlns:a16="http://schemas.microsoft.com/office/drawing/2014/main" id="{A2A684FA-742D-46D1-DBCC-80181529DC04}"/>
              </a:ext>
            </a:extLst>
          </p:cNvPr>
          <p:cNvCxnSpPr/>
          <p:nvPr/>
        </p:nvCxnSpPr>
        <p:spPr>
          <a:xfrm>
            <a:off x="8785610" y="2583656"/>
            <a:ext cx="0" cy="506186"/>
          </a:xfrm>
          <a:prstGeom prst="line">
            <a:avLst/>
          </a:prstGeom>
        </p:spPr>
        <p:style>
          <a:lnRef idx="2">
            <a:schemeClr val="accent1"/>
          </a:lnRef>
          <a:fillRef idx="0">
            <a:schemeClr val="accent1"/>
          </a:fillRef>
          <a:effectRef idx="1">
            <a:schemeClr val="accent1"/>
          </a:effectRef>
          <a:fontRef idx="minor">
            <a:schemeClr val="tx1"/>
          </a:fontRef>
        </p:style>
      </p:cxnSp>
      <p:pic>
        <p:nvPicPr>
          <p:cNvPr id="11" name="Imagen 10" descr="Imagen en blanco y negro&#10;&#10;El contenido generado por IA puede ser incorrecto.">
            <a:extLst>
              <a:ext uri="{FF2B5EF4-FFF2-40B4-BE49-F238E27FC236}">
                <a16:creationId xmlns:a16="http://schemas.microsoft.com/office/drawing/2014/main" id="{E6A33382-97F8-573A-4EF2-B8DF3E197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4591" y="2110460"/>
            <a:ext cx="365125" cy="365125"/>
          </a:xfrm>
          <a:prstGeom prst="rect">
            <a:avLst/>
          </a:prstGeom>
        </p:spPr>
      </p:pic>
      <p:cxnSp>
        <p:nvCxnSpPr>
          <p:cNvPr id="12" name="Conector recto 11">
            <a:extLst>
              <a:ext uri="{FF2B5EF4-FFF2-40B4-BE49-F238E27FC236}">
                <a16:creationId xmlns:a16="http://schemas.microsoft.com/office/drawing/2014/main" id="{CD343CFE-D98D-A0C6-FECF-FA1B8DC20F3F}"/>
              </a:ext>
            </a:extLst>
          </p:cNvPr>
          <p:cNvCxnSpPr/>
          <p:nvPr/>
        </p:nvCxnSpPr>
        <p:spPr>
          <a:xfrm>
            <a:off x="9411028" y="2583656"/>
            <a:ext cx="0" cy="506186"/>
          </a:xfrm>
          <a:prstGeom prst="line">
            <a:avLst/>
          </a:prstGeom>
        </p:spPr>
        <p:style>
          <a:lnRef idx="2">
            <a:schemeClr val="accent1"/>
          </a:lnRef>
          <a:fillRef idx="0">
            <a:schemeClr val="accent1"/>
          </a:fillRef>
          <a:effectRef idx="1">
            <a:schemeClr val="accent1"/>
          </a:effectRef>
          <a:fontRef idx="minor">
            <a:schemeClr val="tx1"/>
          </a:fontRef>
        </p:style>
      </p:cxnSp>
      <p:pic>
        <p:nvPicPr>
          <p:cNvPr id="13" name="Imagen 12" descr="Imagen en blanco y negro&#10;&#10;El contenido generado por IA puede ser incorrecto.">
            <a:extLst>
              <a:ext uri="{FF2B5EF4-FFF2-40B4-BE49-F238E27FC236}">
                <a16:creationId xmlns:a16="http://schemas.microsoft.com/office/drawing/2014/main" id="{17B82A2C-3754-34E9-9C5E-551A0152EC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0009" y="2110460"/>
            <a:ext cx="365125" cy="365125"/>
          </a:xfrm>
          <a:prstGeom prst="rect">
            <a:avLst/>
          </a:prstGeom>
        </p:spPr>
      </p:pic>
      <p:cxnSp>
        <p:nvCxnSpPr>
          <p:cNvPr id="14" name="Conector recto 13">
            <a:extLst>
              <a:ext uri="{FF2B5EF4-FFF2-40B4-BE49-F238E27FC236}">
                <a16:creationId xmlns:a16="http://schemas.microsoft.com/office/drawing/2014/main" id="{BD52C166-CB31-F58A-BA65-110D2CA53BAA}"/>
              </a:ext>
            </a:extLst>
          </p:cNvPr>
          <p:cNvCxnSpPr/>
          <p:nvPr/>
        </p:nvCxnSpPr>
        <p:spPr>
          <a:xfrm>
            <a:off x="10248438" y="2599984"/>
            <a:ext cx="0" cy="506186"/>
          </a:xfrm>
          <a:prstGeom prst="line">
            <a:avLst/>
          </a:prstGeom>
        </p:spPr>
        <p:style>
          <a:lnRef idx="2">
            <a:schemeClr val="accent1"/>
          </a:lnRef>
          <a:fillRef idx="0">
            <a:schemeClr val="accent1"/>
          </a:fillRef>
          <a:effectRef idx="1">
            <a:schemeClr val="accent1"/>
          </a:effectRef>
          <a:fontRef idx="minor">
            <a:schemeClr val="tx1"/>
          </a:fontRef>
        </p:style>
      </p:cxnSp>
      <p:pic>
        <p:nvPicPr>
          <p:cNvPr id="16" name="Imagen 15" descr="Imagen en blanco y negro&#10;&#10;El contenido generado por IA puede ser incorrecto.">
            <a:extLst>
              <a:ext uri="{FF2B5EF4-FFF2-40B4-BE49-F238E27FC236}">
                <a16:creationId xmlns:a16="http://schemas.microsoft.com/office/drawing/2014/main" id="{FBAEA684-6B66-5F1E-3E21-4DFF66890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7419" y="2126788"/>
            <a:ext cx="365125" cy="365125"/>
          </a:xfrm>
          <a:prstGeom prst="rect">
            <a:avLst/>
          </a:prstGeom>
        </p:spPr>
      </p:pic>
    </p:spTree>
    <p:extLst>
      <p:ext uri="{BB962C8B-B14F-4D97-AF65-F5344CB8AC3E}">
        <p14:creationId xmlns:p14="http://schemas.microsoft.com/office/powerpoint/2010/main" val="808974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D26C-9E35-827A-BE79-AE6C91C2EE5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69B104F-A5F3-A755-2974-11EB55D12AD9}"/>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3B2EF0D2-BE1B-16F6-0639-A1A219A68C10}"/>
              </a:ext>
            </a:extLst>
          </p:cNvPr>
          <p:cNvSpPr>
            <a:spLocks noGrp="1"/>
          </p:cNvSpPr>
          <p:nvPr>
            <p:ph type="title"/>
          </p:nvPr>
        </p:nvSpPr>
        <p:spPr>
          <a:xfrm>
            <a:off x="0" y="2766219"/>
            <a:ext cx="2225040" cy="1261496"/>
          </a:xfrm>
        </p:spPr>
        <p:txBody>
          <a:bodyPr>
            <a:noAutofit/>
          </a:bodyPr>
          <a:lstStyle/>
          <a:p>
            <a:pPr algn="ctr"/>
            <a:r>
              <a:rPr lang="es-MX" sz="3200" dirty="0">
                <a:solidFill>
                  <a:schemeClr val="bg1"/>
                </a:solidFill>
                <a:latin typeface="Bahnschrift" panose="020B0502040204020203" pitchFamily="34" charset="0"/>
              </a:rPr>
              <a:t>Métricas</a:t>
            </a:r>
            <a:br>
              <a:rPr lang="es-MX" sz="3200" dirty="0">
                <a:solidFill>
                  <a:schemeClr val="bg1"/>
                </a:solidFill>
                <a:latin typeface="Bahnschrift" panose="020B0502040204020203" pitchFamily="34" charset="0"/>
              </a:rPr>
            </a:br>
            <a:r>
              <a:rPr lang="es-MX" sz="3200" dirty="0">
                <a:solidFill>
                  <a:schemeClr val="bg1"/>
                </a:solidFill>
                <a:latin typeface="Bahnschrift" panose="020B0502040204020203" pitchFamily="34" charset="0"/>
              </a:rPr>
              <a:t>de evaluación</a:t>
            </a:r>
            <a:endParaRPr lang="es-CL" sz="3200" dirty="0">
              <a:solidFill>
                <a:schemeClr val="bg1"/>
              </a:solidFill>
              <a:latin typeface="Bahnschrift" panose="020B0502040204020203" pitchFamily="34" charset="0"/>
            </a:endParaRPr>
          </a:p>
        </p:txBody>
      </p:sp>
      <p:sp>
        <p:nvSpPr>
          <p:cNvPr id="6" name="Título 1">
            <a:extLst>
              <a:ext uri="{FF2B5EF4-FFF2-40B4-BE49-F238E27FC236}">
                <a16:creationId xmlns:a16="http://schemas.microsoft.com/office/drawing/2014/main" id="{02A258CA-C273-6A61-C994-500C8D51F283}"/>
              </a:ext>
            </a:extLst>
          </p:cNvPr>
          <p:cNvSpPr txBox="1">
            <a:spLocks/>
          </p:cNvSpPr>
          <p:nvPr/>
        </p:nvSpPr>
        <p:spPr>
          <a:xfrm>
            <a:off x="4358810" y="3296446"/>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Modelo de clasificación</a:t>
            </a:r>
            <a:endParaRPr lang="es-CL" sz="3200" dirty="0">
              <a:latin typeface="Bahnschrift SemiBold SemiConden" panose="020B0502040204020203" pitchFamily="34" charset="0"/>
            </a:endParaRPr>
          </a:p>
        </p:txBody>
      </p:sp>
      <p:sp>
        <p:nvSpPr>
          <p:cNvPr id="7" name="Título 1">
            <a:extLst>
              <a:ext uri="{FF2B5EF4-FFF2-40B4-BE49-F238E27FC236}">
                <a16:creationId xmlns:a16="http://schemas.microsoft.com/office/drawing/2014/main" id="{ED284FB4-4D09-4B1F-C75D-446179AF2B44}"/>
              </a:ext>
            </a:extLst>
          </p:cNvPr>
          <p:cNvSpPr txBox="1">
            <a:spLocks/>
          </p:cNvSpPr>
          <p:nvPr/>
        </p:nvSpPr>
        <p:spPr>
          <a:xfrm>
            <a:off x="4127715" y="853897"/>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Modelo de regresión</a:t>
            </a:r>
            <a:endParaRPr lang="es-CL" sz="3200" dirty="0">
              <a:latin typeface="Bahnschrift SemiBold SemiConden" panose="020B0502040204020203" pitchFamily="34" charset="0"/>
            </a:endParaRPr>
          </a:p>
        </p:txBody>
      </p:sp>
      <p:sp>
        <p:nvSpPr>
          <p:cNvPr id="8" name="CuadroTexto 7">
            <a:extLst>
              <a:ext uri="{FF2B5EF4-FFF2-40B4-BE49-F238E27FC236}">
                <a16:creationId xmlns:a16="http://schemas.microsoft.com/office/drawing/2014/main" id="{7B6A853A-87FD-6E2D-A8A0-638A01AAE8B5}"/>
              </a:ext>
            </a:extLst>
          </p:cNvPr>
          <p:cNvSpPr txBox="1"/>
          <p:nvPr/>
        </p:nvSpPr>
        <p:spPr>
          <a:xfrm>
            <a:off x="4127714" y="4557942"/>
            <a:ext cx="4602997" cy="646331"/>
          </a:xfrm>
          <a:prstGeom prst="rect">
            <a:avLst/>
          </a:prstGeom>
          <a:noFill/>
        </p:spPr>
        <p:txBody>
          <a:bodyPr wrap="square" rtlCol="0">
            <a:spAutoFit/>
          </a:bodyPr>
          <a:lstStyle/>
          <a:p>
            <a:r>
              <a:rPr lang="es-MX" dirty="0"/>
              <a:t>Métricas clásicas como </a:t>
            </a:r>
            <a:r>
              <a:rPr lang="es-MX" dirty="0" err="1"/>
              <a:t>accuracy</a:t>
            </a:r>
            <a:r>
              <a:rPr lang="es-MX" dirty="0"/>
              <a:t>, ROC AUC, sensibilidad, etc.</a:t>
            </a:r>
            <a:endParaRPr lang="es-CL" dirty="0"/>
          </a:p>
        </p:txBody>
      </p:sp>
      <p:sp>
        <p:nvSpPr>
          <p:cNvPr id="9" name="CuadroTexto 8">
            <a:extLst>
              <a:ext uri="{FF2B5EF4-FFF2-40B4-BE49-F238E27FC236}">
                <a16:creationId xmlns:a16="http://schemas.microsoft.com/office/drawing/2014/main" id="{D8A9AAD7-913F-A8B2-91A0-088875F9A836}"/>
              </a:ext>
            </a:extLst>
          </p:cNvPr>
          <p:cNvSpPr txBox="1"/>
          <p:nvPr/>
        </p:nvSpPr>
        <p:spPr>
          <a:xfrm>
            <a:off x="4127714" y="1930727"/>
            <a:ext cx="6136300" cy="369332"/>
          </a:xfrm>
          <a:prstGeom prst="rect">
            <a:avLst/>
          </a:prstGeom>
          <a:noFill/>
        </p:spPr>
        <p:txBody>
          <a:bodyPr wrap="square" rtlCol="0">
            <a:spAutoFit/>
          </a:bodyPr>
          <a:lstStyle/>
          <a:p>
            <a:r>
              <a:rPr lang="es-MX" dirty="0"/>
              <a:t>MSE, MAE y métrica customizada: </a:t>
            </a:r>
            <a:r>
              <a:rPr lang="es-MX" dirty="0" err="1"/>
              <a:t>Spike-Accuracy</a:t>
            </a:r>
            <a:r>
              <a:rPr lang="es-MX" dirty="0"/>
              <a:t> 1 y 2</a:t>
            </a:r>
            <a:endParaRPr lang="es-CL" dirty="0"/>
          </a:p>
        </p:txBody>
      </p:sp>
    </p:spTree>
    <p:extLst>
      <p:ext uri="{BB962C8B-B14F-4D97-AF65-F5344CB8AC3E}">
        <p14:creationId xmlns:p14="http://schemas.microsoft.com/office/powerpoint/2010/main" val="43000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1D72-E355-A4F9-736E-4E06246F045B}"/>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83A6BC5E-A87B-614F-4334-22456D2E879B}"/>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59E1E40E-22CC-5EA6-7B0F-5F9E293A60E6}"/>
              </a:ext>
            </a:extLst>
          </p:cNvPr>
          <p:cNvSpPr>
            <a:spLocks noGrp="1"/>
          </p:cNvSpPr>
          <p:nvPr>
            <p:ph type="title"/>
          </p:nvPr>
        </p:nvSpPr>
        <p:spPr>
          <a:xfrm>
            <a:off x="0" y="2766219"/>
            <a:ext cx="2221523" cy="1261496"/>
          </a:xfrm>
        </p:spPr>
        <p:txBody>
          <a:bodyPr>
            <a:normAutofit/>
          </a:bodyPr>
          <a:lstStyle/>
          <a:p>
            <a:pPr algn="ctr"/>
            <a:r>
              <a:rPr lang="es-MX" sz="2400" dirty="0">
                <a:solidFill>
                  <a:schemeClr val="bg1"/>
                </a:solidFill>
                <a:latin typeface="Bahnschrift" panose="020B0502040204020203" pitchFamily="34" charset="0"/>
              </a:rPr>
              <a:t>Performance de los modelos</a:t>
            </a:r>
            <a:endParaRPr lang="es-CL" sz="24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4013F3B4-AC51-9604-566D-69264B8CD2F1}"/>
              </a:ext>
            </a:extLst>
          </p:cNvPr>
          <p:cNvSpPr>
            <a:spLocks noGrp="1"/>
          </p:cNvSpPr>
          <p:nvPr>
            <p:ph type="sldNum" sz="quarter" idx="12"/>
          </p:nvPr>
        </p:nvSpPr>
        <p:spPr>
          <a:xfrm>
            <a:off x="5854487" y="6735775"/>
            <a:ext cx="2743200" cy="365125"/>
          </a:xfrm>
        </p:spPr>
        <p:txBody>
          <a:bodyPr/>
          <a:lstStyle/>
          <a:p>
            <a:fld id="{ED912E12-9DF5-47E5-8760-6375B81A7648}" type="slidenum">
              <a:rPr lang="es-CL" smtClean="0"/>
              <a:t>14</a:t>
            </a:fld>
            <a:endParaRPr lang="es-CL"/>
          </a:p>
        </p:txBody>
      </p:sp>
      <p:sp>
        <p:nvSpPr>
          <p:cNvPr id="6" name="Título 1">
            <a:extLst>
              <a:ext uri="{FF2B5EF4-FFF2-40B4-BE49-F238E27FC236}">
                <a16:creationId xmlns:a16="http://schemas.microsoft.com/office/drawing/2014/main" id="{29AB07B6-70AA-2BC9-D7BB-C1F95002CD40}"/>
              </a:ext>
            </a:extLst>
          </p:cNvPr>
          <p:cNvSpPr txBox="1">
            <a:spLocks/>
          </p:cNvSpPr>
          <p:nvPr/>
        </p:nvSpPr>
        <p:spPr>
          <a:xfrm>
            <a:off x="5352082" y="126914"/>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Regresión: LSTM</a:t>
            </a:r>
            <a:endParaRPr lang="es-CL" sz="3200" dirty="0">
              <a:latin typeface="Bahnschrift SemiBold SemiConden" panose="020B0502040204020203" pitchFamily="34" charset="0"/>
            </a:endParaRPr>
          </a:p>
        </p:txBody>
      </p:sp>
      <p:pic>
        <p:nvPicPr>
          <p:cNvPr id="15" name="Imagen 14">
            <a:extLst>
              <a:ext uri="{FF2B5EF4-FFF2-40B4-BE49-F238E27FC236}">
                <a16:creationId xmlns:a16="http://schemas.microsoft.com/office/drawing/2014/main" id="{375FF2F5-F631-A012-6A1A-3285A9A4E5F7}"/>
              </a:ext>
            </a:extLst>
          </p:cNvPr>
          <p:cNvPicPr>
            <a:picLocks noChangeAspect="1"/>
          </p:cNvPicPr>
          <p:nvPr/>
        </p:nvPicPr>
        <p:blipFill>
          <a:blip r:embed="rId2"/>
          <a:srcRect r="58942"/>
          <a:stretch/>
        </p:blipFill>
        <p:spPr>
          <a:xfrm>
            <a:off x="3072542" y="1198006"/>
            <a:ext cx="6626163" cy="1684679"/>
          </a:xfrm>
          <a:prstGeom prst="rect">
            <a:avLst/>
          </a:prstGeom>
        </p:spPr>
      </p:pic>
      <p:sp>
        <p:nvSpPr>
          <p:cNvPr id="17" name="CuadroTexto 16">
            <a:extLst>
              <a:ext uri="{FF2B5EF4-FFF2-40B4-BE49-F238E27FC236}">
                <a16:creationId xmlns:a16="http://schemas.microsoft.com/office/drawing/2014/main" id="{97E6F0FD-A55E-4BC8-6238-B30AC8D17CF8}"/>
              </a:ext>
            </a:extLst>
          </p:cNvPr>
          <p:cNvSpPr txBox="1"/>
          <p:nvPr/>
        </p:nvSpPr>
        <p:spPr>
          <a:xfrm>
            <a:off x="4796727" y="4182666"/>
            <a:ext cx="4491924" cy="1754326"/>
          </a:xfrm>
          <a:prstGeom prst="rect">
            <a:avLst/>
          </a:prstGeom>
          <a:noFill/>
        </p:spPr>
        <p:txBody>
          <a:bodyPr wrap="square" rtlCol="0">
            <a:spAutoFit/>
          </a:bodyPr>
          <a:lstStyle/>
          <a:p>
            <a:r>
              <a:rPr lang="es-MX" dirty="0"/>
              <a:t>La función de pérdida es un MSE customizada. Como la función es en su mayoría creciente monótona, se penaliza comportamientos no crecientes. El parámetro lambda ajusta la penalización.</a:t>
            </a:r>
          </a:p>
          <a:p>
            <a:endParaRPr lang="es-CL" dirty="0"/>
          </a:p>
        </p:txBody>
      </p:sp>
    </p:spTree>
    <p:extLst>
      <p:ext uri="{BB962C8B-B14F-4D97-AF65-F5344CB8AC3E}">
        <p14:creationId xmlns:p14="http://schemas.microsoft.com/office/powerpoint/2010/main" val="1161468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9AA4-D256-ADB2-1574-82E3609F80EF}"/>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A1FFC238-82BD-D4BA-CDF1-94D90D176A8C}"/>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E152D78A-2AB2-F51D-7A31-509EA16F8CB3}"/>
              </a:ext>
            </a:extLst>
          </p:cNvPr>
          <p:cNvSpPr>
            <a:spLocks noGrp="1"/>
          </p:cNvSpPr>
          <p:nvPr>
            <p:ph type="title"/>
          </p:nvPr>
        </p:nvSpPr>
        <p:spPr>
          <a:xfrm>
            <a:off x="0" y="2766219"/>
            <a:ext cx="2225040" cy="1261496"/>
          </a:xfrm>
        </p:spPr>
        <p:txBody>
          <a:bodyPr>
            <a:noAutofit/>
          </a:bodyPr>
          <a:lstStyle/>
          <a:p>
            <a:pPr algn="ctr"/>
            <a:r>
              <a:rPr lang="es-MX" sz="3200" dirty="0">
                <a:solidFill>
                  <a:schemeClr val="bg1"/>
                </a:solidFill>
                <a:latin typeface="Bahnschrift" panose="020B0502040204020203" pitchFamily="34" charset="0"/>
              </a:rPr>
              <a:t>Métricas</a:t>
            </a:r>
            <a:br>
              <a:rPr lang="es-MX" sz="3200" dirty="0">
                <a:solidFill>
                  <a:schemeClr val="bg1"/>
                </a:solidFill>
                <a:latin typeface="Bahnschrift" panose="020B0502040204020203" pitchFamily="34" charset="0"/>
              </a:rPr>
            </a:br>
            <a:r>
              <a:rPr lang="es-MX" sz="3200" dirty="0">
                <a:solidFill>
                  <a:schemeClr val="bg1"/>
                </a:solidFill>
                <a:latin typeface="Bahnschrift" panose="020B0502040204020203" pitchFamily="34" charset="0"/>
              </a:rPr>
              <a:t>de evaluación</a:t>
            </a:r>
            <a:endParaRPr lang="es-CL" sz="3200" dirty="0">
              <a:solidFill>
                <a:schemeClr val="bg1"/>
              </a:solidFill>
              <a:latin typeface="Bahnschrift" panose="020B0502040204020203" pitchFamily="34" charset="0"/>
            </a:endParaRPr>
          </a:p>
        </p:txBody>
      </p:sp>
      <p:sp>
        <p:nvSpPr>
          <p:cNvPr id="6" name="Título 1">
            <a:extLst>
              <a:ext uri="{FF2B5EF4-FFF2-40B4-BE49-F238E27FC236}">
                <a16:creationId xmlns:a16="http://schemas.microsoft.com/office/drawing/2014/main" id="{81FD399D-AB5A-8A86-6A32-EB441D4A2CBA}"/>
              </a:ext>
            </a:extLst>
          </p:cNvPr>
          <p:cNvSpPr txBox="1">
            <a:spLocks/>
          </p:cNvSpPr>
          <p:nvPr/>
        </p:nvSpPr>
        <p:spPr>
          <a:xfrm>
            <a:off x="5352082" y="126914"/>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err="1">
                <a:latin typeface="Bahnschrift SemiBold SemiConden" panose="020B0502040204020203" pitchFamily="34" charset="0"/>
              </a:rPr>
              <a:t>Spike-Accuracy</a:t>
            </a:r>
            <a:endParaRPr lang="es-CL" sz="3200" dirty="0">
              <a:latin typeface="Bahnschrift SemiBold SemiConden" panose="020B0502040204020203" pitchFamily="34" charset="0"/>
            </a:endParaRPr>
          </a:p>
        </p:txBody>
      </p:sp>
      <p:sp>
        <p:nvSpPr>
          <p:cNvPr id="10" name="CuadroTexto 9">
            <a:extLst>
              <a:ext uri="{FF2B5EF4-FFF2-40B4-BE49-F238E27FC236}">
                <a16:creationId xmlns:a16="http://schemas.microsoft.com/office/drawing/2014/main" id="{C80863EE-C7C3-01A2-928A-655D27845D60}"/>
              </a:ext>
            </a:extLst>
          </p:cNvPr>
          <p:cNvSpPr txBox="1"/>
          <p:nvPr/>
        </p:nvSpPr>
        <p:spPr>
          <a:xfrm>
            <a:off x="2423610" y="5458359"/>
            <a:ext cx="3332136" cy="1200329"/>
          </a:xfrm>
          <a:prstGeom prst="rect">
            <a:avLst/>
          </a:prstGeom>
          <a:noFill/>
        </p:spPr>
        <p:txBody>
          <a:bodyPr wrap="square" rtlCol="0">
            <a:spAutoFit/>
          </a:bodyPr>
          <a:lstStyle/>
          <a:p>
            <a:pPr algn="ctr"/>
            <a:r>
              <a:rPr lang="es-MX" b="1" dirty="0"/>
              <a:t>TP=Cantidad máximos locales sobre el límite cuando el valor target está sobre el límite *</a:t>
            </a:r>
          </a:p>
          <a:p>
            <a:pPr algn="ctr"/>
            <a:r>
              <a:rPr lang="es-MX" b="1" dirty="0"/>
              <a:t>(“True Positives”)</a:t>
            </a:r>
            <a:endParaRPr lang="es-CL" b="1" dirty="0"/>
          </a:p>
        </p:txBody>
      </p:sp>
      <p:sp>
        <p:nvSpPr>
          <p:cNvPr id="13" name="CuadroTexto 12">
            <a:extLst>
              <a:ext uri="{FF2B5EF4-FFF2-40B4-BE49-F238E27FC236}">
                <a16:creationId xmlns:a16="http://schemas.microsoft.com/office/drawing/2014/main" id="{699EC6A6-3BCB-0FBC-6EDA-67A1DAE4A790}"/>
              </a:ext>
            </a:extLst>
          </p:cNvPr>
          <p:cNvSpPr txBox="1"/>
          <p:nvPr/>
        </p:nvSpPr>
        <p:spPr>
          <a:xfrm>
            <a:off x="8859864" y="5837490"/>
            <a:ext cx="3332136" cy="923330"/>
          </a:xfrm>
          <a:prstGeom prst="rect">
            <a:avLst/>
          </a:prstGeom>
          <a:noFill/>
        </p:spPr>
        <p:txBody>
          <a:bodyPr wrap="square" rtlCol="0">
            <a:spAutoFit/>
          </a:bodyPr>
          <a:lstStyle/>
          <a:p>
            <a:pPr algn="ctr"/>
            <a:r>
              <a:rPr lang="es-MX" b="1" dirty="0"/>
              <a:t>Total=Cantidad de </a:t>
            </a:r>
            <a:r>
              <a:rPr lang="es-MX" b="1" dirty="0" err="1"/>
              <a:t>spikes</a:t>
            </a:r>
            <a:r>
              <a:rPr lang="es-MX" b="1" dirty="0"/>
              <a:t> (Número de reparaciones en el intervalo) </a:t>
            </a:r>
            <a:endParaRPr lang="es-CL" b="1" dirty="0"/>
          </a:p>
        </p:txBody>
      </p:sp>
      <p:sp>
        <p:nvSpPr>
          <p:cNvPr id="16" name="CuadroTexto 15">
            <a:extLst>
              <a:ext uri="{FF2B5EF4-FFF2-40B4-BE49-F238E27FC236}">
                <a16:creationId xmlns:a16="http://schemas.microsoft.com/office/drawing/2014/main" id="{721422DA-9C0A-3A7C-9F63-763E05CE5620}"/>
              </a:ext>
            </a:extLst>
          </p:cNvPr>
          <p:cNvSpPr txBox="1"/>
          <p:nvPr/>
        </p:nvSpPr>
        <p:spPr>
          <a:xfrm>
            <a:off x="5954317" y="5481638"/>
            <a:ext cx="3332136" cy="1200329"/>
          </a:xfrm>
          <a:prstGeom prst="rect">
            <a:avLst/>
          </a:prstGeom>
          <a:noFill/>
        </p:spPr>
        <p:txBody>
          <a:bodyPr wrap="square" rtlCol="0">
            <a:spAutoFit/>
          </a:bodyPr>
          <a:lstStyle/>
          <a:p>
            <a:pPr algn="ctr"/>
            <a:r>
              <a:rPr lang="es-MX" b="1" dirty="0"/>
              <a:t>FP=Máximos locales sobre el límite cuando la predicción está bajo el límite</a:t>
            </a:r>
          </a:p>
          <a:p>
            <a:pPr algn="ctr"/>
            <a:r>
              <a:rPr lang="es-MX" b="1" dirty="0"/>
              <a:t>(“False Positives”)</a:t>
            </a:r>
            <a:endParaRPr lang="es-CL" b="1" dirty="0"/>
          </a:p>
        </p:txBody>
      </p:sp>
      <p:pic>
        <p:nvPicPr>
          <p:cNvPr id="20" name="Imagen 19">
            <a:extLst>
              <a:ext uri="{FF2B5EF4-FFF2-40B4-BE49-F238E27FC236}">
                <a16:creationId xmlns:a16="http://schemas.microsoft.com/office/drawing/2014/main" id="{0168BBA8-8BA3-D883-B18A-F01900A5D735}"/>
              </a:ext>
            </a:extLst>
          </p:cNvPr>
          <p:cNvPicPr>
            <a:picLocks noChangeAspect="1"/>
          </p:cNvPicPr>
          <p:nvPr/>
        </p:nvPicPr>
        <p:blipFill>
          <a:blip r:embed="rId2"/>
          <a:stretch>
            <a:fillRect/>
          </a:stretch>
        </p:blipFill>
        <p:spPr>
          <a:xfrm>
            <a:off x="9625515" y="1652356"/>
            <a:ext cx="2384616" cy="464624"/>
          </a:xfrm>
          <a:prstGeom prst="rect">
            <a:avLst/>
          </a:prstGeom>
        </p:spPr>
      </p:pic>
      <p:pic>
        <p:nvPicPr>
          <p:cNvPr id="29" name="Imagen 28">
            <a:extLst>
              <a:ext uri="{FF2B5EF4-FFF2-40B4-BE49-F238E27FC236}">
                <a16:creationId xmlns:a16="http://schemas.microsoft.com/office/drawing/2014/main" id="{5E28D2B4-A331-72E8-77E3-6C8765F47349}"/>
              </a:ext>
            </a:extLst>
          </p:cNvPr>
          <p:cNvPicPr>
            <a:picLocks noChangeAspect="1"/>
          </p:cNvPicPr>
          <p:nvPr/>
        </p:nvPicPr>
        <p:blipFill>
          <a:blip r:embed="rId3"/>
          <a:stretch>
            <a:fillRect/>
          </a:stretch>
        </p:blipFill>
        <p:spPr>
          <a:xfrm>
            <a:off x="9625515" y="2302504"/>
            <a:ext cx="2604513" cy="464624"/>
          </a:xfrm>
          <a:prstGeom prst="rect">
            <a:avLst/>
          </a:prstGeom>
        </p:spPr>
      </p:pic>
      <p:pic>
        <p:nvPicPr>
          <p:cNvPr id="7" name="Imagen 6">
            <a:extLst>
              <a:ext uri="{FF2B5EF4-FFF2-40B4-BE49-F238E27FC236}">
                <a16:creationId xmlns:a16="http://schemas.microsoft.com/office/drawing/2014/main" id="{15E900C3-D9D4-D882-4DDF-0BCE7286AB30}"/>
              </a:ext>
            </a:extLst>
          </p:cNvPr>
          <p:cNvPicPr>
            <a:picLocks noChangeAspect="1"/>
          </p:cNvPicPr>
          <p:nvPr/>
        </p:nvPicPr>
        <p:blipFill>
          <a:blip r:embed="rId4"/>
          <a:stretch>
            <a:fillRect/>
          </a:stretch>
        </p:blipFill>
        <p:spPr>
          <a:xfrm>
            <a:off x="2423610" y="1341111"/>
            <a:ext cx="7201905" cy="3743847"/>
          </a:xfrm>
          <a:prstGeom prst="rect">
            <a:avLst/>
          </a:prstGeom>
        </p:spPr>
      </p:pic>
      <p:pic>
        <p:nvPicPr>
          <p:cNvPr id="9" name="Imagen 8">
            <a:extLst>
              <a:ext uri="{FF2B5EF4-FFF2-40B4-BE49-F238E27FC236}">
                <a16:creationId xmlns:a16="http://schemas.microsoft.com/office/drawing/2014/main" id="{695F4B39-8444-3CA7-B7B0-A6FAFC38E6C0}"/>
              </a:ext>
            </a:extLst>
          </p:cNvPr>
          <p:cNvPicPr>
            <a:picLocks noChangeAspect="1"/>
          </p:cNvPicPr>
          <p:nvPr/>
        </p:nvPicPr>
        <p:blipFill>
          <a:blip r:embed="rId5"/>
          <a:srcRect r="41788"/>
          <a:stretch/>
        </p:blipFill>
        <p:spPr>
          <a:xfrm>
            <a:off x="9625516" y="3308903"/>
            <a:ext cx="2384615" cy="406259"/>
          </a:xfrm>
          <a:prstGeom prst="rect">
            <a:avLst/>
          </a:prstGeom>
        </p:spPr>
      </p:pic>
    </p:spTree>
    <p:extLst>
      <p:ext uri="{BB962C8B-B14F-4D97-AF65-F5344CB8AC3E}">
        <p14:creationId xmlns:p14="http://schemas.microsoft.com/office/powerpoint/2010/main" val="3505816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FBA1-1123-9418-71CA-5C8C1BF6C973}"/>
            </a:ext>
          </a:extLst>
        </p:cNvPr>
        <p:cNvGrpSpPr/>
        <p:nvPr/>
      </p:nvGrpSpPr>
      <p:grpSpPr>
        <a:xfrm>
          <a:off x="0" y="0"/>
          <a:ext cx="0" cy="0"/>
          <a:chOff x="0" y="0"/>
          <a:chExt cx="0" cy="0"/>
        </a:xfrm>
      </p:grpSpPr>
      <p:pic>
        <p:nvPicPr>
          <p:cNvPr id="21" name="Imagen 20">
            <a:extLst>
              <a:ext uri="{FF2B5EF4-FFF2-40B4-BE49-F238E27FC236}">
                <a16:creationId xmlns:a16="http://schemas.microsoft.com/office/drawing/2014/main" id="{891D2678-3C85-08EF-0E38-7BECE5D69AD6}"/>
              </a:ext>
            </a:extLst>
          </p:cNvPr>
          <p:cNvPicPr>
            <a:picLocks noChangeAspect="1"/>
          </p:cNvPicPr>
          <p:nvPr/>
        </p:nvPicPr>
        <p:blipFill>
          <a:blip r:embed="rId2"/>
          <a:stretch>
            <a:fillRect/>
          </a:stretch>
        </p:blipFill>
        <p:spPr>
          <a:xfrm>
            <a:off x="3057098" y="1118312"/>
            <a:ext cx="6925102" cy="3609653"/>
          </a:xfrm>
          <a:prstGeom prst="rect">
            <a:avLst/>
          </a:prstGeom>
        </p:spPr>
      </p:pic>
      <p:sp>
        <p:nvSpPr>
          <p:cNvPr id="4" name="Rectángulo 3">
            <a:extLst>
              <a:ext uri="{FF2B5EF4-FFF2-40B4-BE49-F238E27FC236}">
                <a16:creationId xmlns:a16="http://schemas.microsoft.com/office/drawing/2014/main" id="{72AFA997-42BB-C320-4D5E-9159D0FF1C65}"/>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EB628B86-EB76-A5FA-2A65-5EF788847439}"/>
              </a:ext>
            </a:extLst>
          </p:cNvPr>
          <p:cNvSpPr>
            <a:spLocks noGrp="1"/>
          </p:cNvSpPr>
          <p:nvPr>
            <p:ph type="title"/>
          </p:nvPr>
        </p:nvSpPr>
        <p:spPr>
          <a:xfrm>
            <a:off x="0" y="2766219"/>
            <a:ext cx="2221523" cy="1261496"/>
          </a:xfrm>
        </p:spPr>
        <p:txBody>
          <a:bodyPr>
            <a:normAutofit/>
          </a:bodyPr>
          <a:lstStyle/>
          <a:p>
            <a:pPr algn="ctr"/>
            <a:r>
              <a:rPr lang="es-MX" sz="2400" dirty="0">
                <a:solidFill>
                  <a:schemeClr val="bg1"/>
                </a:solidFill>
                <a:latin typeface="Bahnschrift" panose="020B0502040204020203" pitchFamily="34" charset="0"/>
              </a:rPr>
              <a:t>Performance de los modelos</a:t>
            </a:r>
            <a:endParaRPr lang="es-CL" sz="24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D41F8105-4D65-F12A-8EF2-51C9912EED58}"/>
              </a:ext>
            </a:extLst>
          </p:cNvPr>
          <p:cNvSpPr>
            <a:spLocks noGrp="1"/>
          </p:cNvSpPr>
          <p:nvPr>
            <p:ph type="sldNum" sz="quarter" idx="12"/>
          </p:nvPr>
        </p:nvSpPr>
        <p:spPr/>
        <p:txBody>
          <a:bodyPr/>
          <a:lstStyle/>
          <a:p>
            <a:fld id="{ED912E12-9DF5-47E5-8760-6375B81A7648}" type="slidenum">
              <a:rPr lang="es-CL" smtClean="0"/>
              <a:t>16</a:t>
            </a:fld>
            <a:endParaRPr lang="es-CL"/>
          </a:p>
        </p:txBody>
      </p:sp>
      <p:sp>
        <p:nvSpPr>
          <p:cNvPr id="6" name="Título 1">
            <a:extLst>
              <a:ext uri="{FF2B5EF4-FFF2-40B4-BE49-F238E27FC236}">
                <a16:creationId xmlns:a16="http://schemas.microsoft.com/office/drawing/2014/main" id="{E0205C5D-C205-95D9-BB16-C90D312D6DA5}"/>
              </a:ext>
            </a:extLst>
          </p:cNvPr>
          <p:cNvSpPr txBox="1">
            <a:spLocks/>
          </p:cNvSpPr>
          <p:nvPr/>
        </p:nvSpPr>
        <p:spPr>
          <a:xfrm>
            <a:off x="5352082" y="126914"/>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Regresión: LSTM</a:t>
            </a:r>
            <a:endParaRPr lang="es-CL" sz="3200" dirty="0">
              <a:latin typeface="Bahnschrift SemiBold SemiConden" panose="020B0502040204020203" pitchFamily="34" charset="0"/>
            </a:endParaRPr>
          </a:p>
        </p:txBody>
      </p:sp>
      <p:sp>
        <p:nvSpPr>
          <p:cNvPr id="19" name="CuadroTexto 18">
            <a:extLst>
              <a:ext uri="{FF2B5EF4-FFF2-40B4-BE49-F238E27FC236}">
                <a16:creationId xmlns:a16="http://schemas.microsoft.com/office/drawing/2014/main" id="{56468931-2A03-55B8-1CB8-6BD2119D3591}"/>
              </a:ext>
            </a:extLst>
          </p:cNvPr>
          <p:cNvSpPr txBox="1"/>
          <p:nvPr/>
        </p:nvSpPr>
        <p:spPr>
          <a:xfrm>
            <a:off x="2828442" y="4886834"/>
            <a:ext cx="4491924" cy="1754326"/>
          </a:xfrm>
          <a:prstGeom prst="rect">
            <a:avLst/>
          </a:prstGeom>
          <a:noFill/>
        </p:spPr>
        <p:txBody>
          <a:bodyPr wrap="square" rtlCol="0">
            <a:spAutoFit/>
          </a:bodyPr>
          <a:lstStyle/>
          <a:p>
            <a:r>
              <a:rPr lang="es-MX" dirty="0"/>
              <a:t>Los modelos entrenados sobre los datos asociados a reparaciones esporádicas parecen ser sensibles a las reparaciones </a:t>
            </a:r>
            <a:r>
              <a:rPr lang="es-MX" dirty="0" err="1"/>
              <a:t>cluster</a:t>
            </a:r>
            <a:r>
              <a:rPr lang="es-MX" dirty="0"/>
              <a:t>. Esto llevó a explorar su desempeño frente a las métricas al presentarlos a los datos con todas las reparaciones.</a:t>
            </a:r>
            <a:endParaRPr lang="es-CL" dirty="0"/>
          </a:p>
        </p:txBody>
      </p:sp>
      <p:sp>
        <p:nvSpPr>
          <p:cNvPr id="22" name="Círculo: vacío 21">
            <a:extLst>
              <a:ext uri="{FF2B5EF4-FFF2-40B4-BE49-F238E27FC236}">
                <a16:creationId xmlns:a16="http://schemas.microsoft.com/office/drawing/2014/main" id="{F54CBA7F-2D75-62BF-3FDB-D68E077B8090}"/>
              </a:ext>
            </a:extLst>
          </p:cNvPr>
          <p:cNvSpPr/>
          <p:nvPr/>
        </p:nvSpPr>
        <p:spPr>
          <a:xfrm>
            <a:off x="5705027" y="1295409"/>
            <a:ext cx="2354092" cy="1915939"/>
          </a:xfrm>
          <a:prstGeom prst="donut">
            <a:avLst>
              <a:gd name="adj" fmla="val 1524"/>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solidFill>
                <a:schemeClr val="tx1"/>
              </a:solidFill>
            </a:endParaRPr>
          </a:p>
        </p:txBody>
      </p:sp>
    </p:spTree>
    <p:extLst>
      <p:ext uri="{BB962C8B-B14F-4D97-AF65-F5344CB8AC3E}">
        <p14:creationId xmlns:p14="http://schemas.microsoft.com/office/powerpoint/2010/main" val="3874325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D095D-948A-1604-A31E-B5C0D3A08C79}"/>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7ABB1021-436C-9CC9-A143-D3577E41B2B6}"/>
              </a:ext>
            </a:extLst>
          </p:cNvPr>
          <p:cNvPicPr>
            <a:picLocks noChangeAspect="1"/>
          </p:cNvPicPr>
          <p:nvPr/>
        </p:nvPicPr>
        <p:blipFill>
          <a:blip r:embed="rId2"/>
          <a:srcRect r="52919" b="-14558"/>
          <a:stretch/>
        </p:blipFill>
        <p:spPr>
          <a:xfrm>
            <a:off x="3290050" y="5150434"/>
            <a:ext cx="2225040" cy="703822"/>
          </a:xfrm>
          <a:prstGeom prst="rect">
            <a:avLst/>
          </a:prstGeom>
        </p:spPr>
      </p:pic>
      <p:sp>
        <p:nvSpPr>
          <p:cNvPr id="4" name="Rectángulo 3">
            <a:extLst>
              <a:ext uri="{FF2B5EF4-FFF2-40B4-BE49-F238E27FC236}">
                <a16:creationId xmlns:a16="http://schemas.microsoft.com/office/drawing/2014/main" id="{B850C434-A62F-3B83-9173-DC70A3303396}"/>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6C10F5F7-ECE1-637C-0FC3-8518B0E70691}"/>
              </a:ext>
            </a:extLst>
          </p:cNvPr>
          <p:cNvSpPr>
            <a:spLocks noGrp="1"/>
          </p:cNvSpPr>
          <p:nvPr>
            <p:ph type="title"/>
          </p:nvPr>
        </p:nvSpPr>
        <p:spPr>
          <a:xfrm>
            <a:off x="0" y="2766219"/>
            <a:ext cx="2221523" cy="1261496"/>
          </a:xfrm>
        </p:spPr>
        <p:txBody>
          <a:bodyPr>
            <a:normAutofit/>
          </a:bodyPr>
          <a:lstStyle/>
          <a:p>
            <a:pPr algn="ctr"/>
            <a:r>
              <a:rPr lang="es-MX" sz="2400" dirty="0">
                <a:solidFill>
                  <a:schemeClr val="bg1"/>
                </a:solidFill>
                <a:latin typeface="Bahnschrift" panose="020B0502040204020203" pitchFamily="34" charset="0"/>
              </a:rPr>
              <a:t>Performance de los modelos</a:t>
            </a:r>
            <a:endParaRPr lang="es-CL" sz="24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AAB9EF5D-193E-BEF3-4C7B-B2C140017355}"/>
              </a:ext>
            </a:extLst>
          </p:cNvPr>
          <p:cNvSpPr>
            <a:spLocks noGrp="1"/>
          </p:cNvSpPr>
          <p:nvPr>
            <p:ph type="sldNum" sz="quarter" idx="12"/>
          </p:nvPr>
        </p:nvSpPr>
        <p:spPr/>
        <p:txBody>
          <a:bodyPr/>
          <a:lstStyle/>
          <a:p>
            <a:fld id="{ED912E12-9DF5-47E5-8760-6375B81A7648}" type="slidenum">
              <a:rPr lang="es-CL" smtClean="0"/>
              <a:t>17</a:t>
            </a:fld>
            <a:endParaRPr lang="es-CL" dirty="0"/>
          </a:p>
        </p:txBody>
      </p:sp>
      <p:sp>
        <p:nvSpPr>
          <p:cNvPr id="6" name="Título 1">
            <a:extLst>
              <a:ext uri="{FF2B5EF4-FFF2-40B4-BE49-F238E27FC236}">
                <a16:creationId xmlns:a16="http://schemas.microsoft.com/office/drawing/2014/main" id="{2A0E404E-81C2-8A5F-7D36-E1A647C9C53C}"/>
              </a:ext>
            </a:extLst>
          </p:cNvPr>
          <p:cNvSpPr txBox="1">
            <a:spLocks/>
          </p:cNvSpPr>
          <p:nvPr/>
        </p:nvSpPr>
        <p:spPr>
          <a:xfrm>
            <a:off x="5352082" y="126914"/>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Regresión: LSTM</a:t>
            </a:r>
            <a:endParaRPr lang="es-CL" sz="3200" dirty="0">
              <a:latin typeface="Bahnschrift SemiBold SemiConden" panose="020B0502040204020203" pitchFamily="34" charset="0"/>
            </a:endParaRPr>
          </a:p>
        </p:txBody>
      </p:sp>
      <p:pic>
        <p:nvPicPr>
          <p:cNvPr id="5" name="Imagen 4">
            <a:extLst>
              <a:ext uri="{FF2B5EF4-FFF2-40B4-BE49-F238E27FC236}">
                <a16:creationId xmlns:a16="http://schemas.microsoft.com/office/drawing/2014/main" id="{A1FEAE5B-3205-F6B8-BEFC-CD9337AB1538}"/>
              </a:ext>
            </a:extLst>
          </p:cNvPr>
          <p:cNvPicPr>
            <a:picLocks noChangeAspect="1"/>
          </p:cNvPicPr>
          <p:nvPr/>
        </p:nvPicPr>
        <p:blipFill>
          <a:blip r:embed="rId3"/>
          <a:srcRect t="6578"/>
          <a:stretch/>
        </p:blipFill>
        <p:spPr>
          <a:xfrm>
            <a:off x="2426146" y="1586314"/>
            <a:ext cx="4912166" cy="3373143"/>
          </a:xfrm>
          <a:prstGeom prst="rect">
            <a:avLst/>
          </a:prstGeom>
        </p:spPr>
      </p:pic>
      <p:pic>
        <p:nvPicPr>
          <p:cNvPr id="8" name="Imagen 7">
            <a:extLst>
              <a:ext uri="{FF2B5EF4-FFF2-40B4-BE49-F238E27FC236}">
                <a16:creationId xmlns:a16="http://schemas.microsoft.com/office/drawing/2014/main" id="{3D58335B-4E82-288A-9309-ADCFB019A344}"/>
              </a:ext>
            </a:extLst>
          </p:cNvPr>
          <p:cNvPicPr>
            <a:picLocks noChangeAspect="1"/>
          </p:cNvPicPr>
          <p:nvPr/>
        </p:nvPicPr>
        <p:blipFill>
          <a:blip r:embed="rId4"/>
          <a:srcRect t="6212"/>
          <a:stretch/>
        </p:blipFill>
        <p:spPr>
          <a:xfrm>
            <a:off x="7338312" y="1611823"/>
            <a:ext cx="4853687" cy="3373143"/>
          </a:xfrm>
          <a:prstGeom prst="rect">
            <a:avLst/>
          </a:prstGeom>
        </p:spPr>
      </p:pic>
      <p:pic>
        <p:nvPicPr>
          <p:cNvPr id="10" name="Imagen 9">
            <a:extLst>
              <a:ext uri="{FF2B5EF4-FFF2-40B4-BE49-F238E27FC236}">
                <a16:creationId xmlns:a16="http://schemas.microsoft.com/office/drawing/2014/main" id="{984AE45B-C915-6CD3-AE1C-025672136BB1}"/>
              </a:ext>
            </a:extLst>
          </p:cNvPr>
          <p:cNvPicPr>
            <a:picLocks noChangeAspect="1"/>
          </p:cNvPicPr>
          <p:nvPr/>
        </p:nvPicPr>
        <p:blipFill>
          <a:blip r:embed="rId5"/>
          <a:srcRect r="50710"/>
          <a:stretch/>
        </p:blipFill>
        <p:spPr>
          <a:xfrm>
            <a:off x="8378865" y="5129122"/>
            <a:ext cx="2362765" cy="747388"/>
          </a:xfrm>
          <a:prstGeom prst="rect">
            <a:avLst/>
          </a:prstGeom>
        </p:spPr>
      </p:pic>
      <p:sp>
        <p:nvSpPr>
          <p:cNvPr id="17" name="Flecha: a la derecha 16">
            <a:extLst>
              <a:ext uri="{FF2B5EF4-FFF2-40B4-BE49-F238E27FC236}">
                <a16:creationId xmlns:a16="http://schemas.microsoft.com/office/drawing/2014/main" id="{82CCC666-923E-19E3-607C-18B51206AF54}"/>
              </a:ext>
            </a:extLst>
          </p:cNvPr>
          <p:cNvSpPr/>
          <p:nvPr/>
        </p:nvSpPr>
        <p:spPr>
          <a:xfrm>
            <a:off x="6917410" y="5211384"/>
            <a:ext cx="805912" cy="4309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CuadroTexto 6">
            <a:extLst>
              <a:ext uri="{FF2B5EF4-FFF2-40B4-BE49-F238E27FC236}">
                <a16:creationId xmlns:a16="http://schemas.microsoft.com/office/drawing/2014/main" id="{611EC87E-F9C6-F154-198E-C87B8682D22D}"/>
              </a:ext>
            </a:extLst>
          </p:cNvPr>
          <p:cNvSpPr txBox="1"/>
          <p:nvPr/>
        </p:nvSpPr>
        <p:spPr>
          <a:xfrm>
            <a:off x="3049386" y="5657671"/>
            <a:ext cx="6093228" cy="1200329"/>
          </a:xfrm>
          <a:prstGeom prst="rect">
            <a:avLst/>
          </a:prstGeom>
          <a:noFill/>
        </p:spPr>
        <p:txBody>
          <a:bodyPr wrap="square">
            <a:spAutoFit/>
          </a:bodyPr>
          <a:lstStyle/>
          <a:p>
            <a:r>
              <a:rPr lang="es-MX" dirty="0"/>
              <a:t> La sensibilidad a los </a:t>
            </a:r>
            <a:r>
              <a:rPr lang="es-MX" dirty="0" err="1"/>
              <a:t>cluster</a:t>
            </a:r>
            <a:r>
              <a:rPr lang="es-MX" dirty="0"/>
              <a:t> impacta la SA2, ya que declara máximos encima del </a:t>
            </a:r>
            <a:r>
              <a:rPr lang="es-MX" dirty="0" err="1"/>
              <a:t>threshold</a:t>
            </a:r>
            <a:r>
              <a:rPr lang="es-MX" dirty="0"/>
              <a:t> antes de lo apropiado (más false </a:t>
            </a:r>
            <a:r>
              <a:rPr lang="es-MX" dirty="0" err="1"/>
              <a:t>postives</a:t>
            </a:r>
            <a:r>
              <a:rPr lang="es-MX" dirty="0"/>
              <a:t>). Estos máximos son correctamente clasificados en el caso de todas las reparaciones</a:t>
            </a:r>
            <a:endParaRPr lang="es-CL" dirty="0"/>
          </a:p>
        </p:txBody>
      </p:sp>
    </p:spTree>
    <p:extLst>
      <p:ext uri="{BB962C8B-B14F-4D97-AF65-F5344CB8AC3E}">
        <p14:creationId xmlns:p14="http://schemas.microsoft.com/office/powerpoint/2010/main" val="1416061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3549-5AD3-3AB0-2E0A-802A04270C73}"/>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1B84A07A-F9AD-9D44-45DF-D2204569B947}"/>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37CBBA05-500A-FB5D-6BB2-5705488E7848}"/>
              </a:ext>
            </a:extLst>
          </p:cNvPr>
          <p:cNvSpPr>
            <a:spLocks noGrp="1"/>
          </p:cNvSpPr>
          <p:nvPr>
            <p:ph type="title"/>
          </p:nvPr>
        </p:nvSpPr>
        <p:spPr>
          <a:xfrm>
            <a:off x="0" y="2766219"/>
            <a:ext cx="2221523" cy="1261496"/>
          </a:xfrm>
        </p:spPr>
        <p:txBody>
          <a:bodyPr>
            <a:normAutofit/>
          </a:bodyPr>
          <a:lstStyle/>
          <a:p>
            <a:pPr algn="ctr"/>
            <a:r>
              <a:rPr lang="es-MX" sz="2400" dirty="0">
                <a:solidFill>
                  <a:schemeClr val="bg1"/>
                </a:solidFill>
                <a:latin typeface="Bahnschrift" panose="020B0502040204020203" pitchFamily="34" charset="0"/>
              </a:rPr>
              <a:t>Performance de los modelos</a:t>
            </a:r>
            <a:endParaRPr lang="es-CL" sz="24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3C44677D-42DD-9A68-2ABA-34C588C7EF63}"/>
              </a:ext>
            </a:extLst>
          </p:cNvPr>
          <p:cNvSpPr>
            <a:spLocks noGrp="1"/>
          </p:cNvSpPr>
          <p:nvPr>
            <p:ph type="sldNum" sz="quarter" idx="12"/>
          </p:nvPr>
        </p:nvSpPr>
        <p:spPr/>
        <p:txBody>
          <a:bodyPr/>
          <a:lstStyle/>
          <a:p>
            <a:fld id="{ED912E12-9DF5-47E5-8760-6375B81A7648}" type="slidenum">
              <a:rPr lang="es-CL" smtClean="0"/>
              <a:t>18</a:t>
            </a:fld>
            <a:endParaRPr lang="es-CL"/>
          </a:p>
        </p:txBody>
      </p:sp>
      <p:sp>
        <p:nvSpPr>
          <p:cNvPr id="6" name="Título 1">
            <a:extLst>
              <a:ext uri="{FF2B5EF4-FFF2-40B4-BE49-F238E27FC236}">
                <a16:creationId xmlns:a16="http://schemas.microsoft.com/office/drawing/2014/main" id="{8944AA22-8636-BBC9-1E1E-6AE1D8A8038D}"/>
              </a:ext>
            </a:extLst>
          </p:cNvPr>
          <p:cNvSpPr txBox="1">
            <a:spLocks/>
          </p:cNvSpPr>
          <p:nvPr/>
        </p:nvSpPr>
        <p:spPr>
          <a:xfrm>
            <a:off x="4980123" y="-46495"/>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Regresión: LSTM</a:t>
            </a:r>
            <a:endParaRPr lang="es-CL" sz="3200" dirty="0">
              <a:latin typeface="Bahnschrift SemiBold SemiConden" panose="020B0502040204020203" pitchFamily="34" charset="0"/>
            </a:endParaRPr>
          </a:p>
        </p:txBody>
      </p:sp>
      <p:sp>
        <p:nvSpPr>
          <p:cNvPr id="19" name="CuadroTexto 18">
            <a:extLst>
              <a:ext uri="{FF2B5EF4-FFF2-40B4-BE49-F238E27FC236}">
                <a16:creationId xmlns:a16="http://schemas.microsoft.com/office/drawing/2014/main" id="{C2FC30A5-DFB1-8186-3F09-2143728BD8F4}"/>
              </a:ext>
            </a:extLst>
          </p:cNvPr>
          <p:cNvSpPr txBox="1"/>
          <p:nvPr/>
        </p:nvSpPr>
        <p:spPr>
          <a:xfrm>
            <a:off x="2734161" y="5015800"/>
            <a:ext cx="4491924" cy="1754326"/>
          </a:xfrm>
          <a:prstGeom prst="rect">
            <a:avLst/>
          </a:prstGeom>
          <a:noFill/>
        </p:spPr>
        <p:txBody>
          <a:bodyPr wrap="square" rtlCol="0">
            <a:spAutoFit/>
          </a:bodyPr>
          <a:lstStyle/>
          <a:p>
            <a:r>
              <a:rPr lang="es-MX" dirty="0"/>
              <a:t>Al entrenarlos sobre todos los datos, los modelos resultan con mejor performance a la hora de predecir reparaciones. Sin embargo no se es completamente sensible a las reparaciones explosivas (SA2 perfecto en comparación con SA1).</a:t>
            </a:r>
            <a:endParaRPr lang="es-CL" dirty="0"/>
          </a:p>
        </p:txBody>
      </p:sp>
      <p:pic>
        <p:nvPicPr>
          <p:cNvPr id="9" name="Imagen 8">
            <a:extLst>
              <a:ext uri="{FF2B5EF4-FFF2-40B4-BE49-F238E27FC236}">
                <a16:creationId xmlns:a16="http://schemas.microsoft.com/office/drawing/2014/main" id="{6991A448-48EA-BDB7-A4FD-1EDBAB144720}"/>
              </a:ext>
            </a:extLst>
          </p:cNvPr>
          <p:cNvPicPr>
            <a:picLocks noChangeAspect="1"/>
          </p:cNvPicPr>
          <p:nvPr/>
        </p:nvPicPr>
        <p:blipFill>
          <a:blip r:embed="rId2"/>
          <a:stretch>
            <a:fillRect/>
          </a:stretch>
        </p:blipFill>
        <p:spPr>
          <a:xfrm>
            <a:off x="2523084" y="1103536"/>
            <a:ext cx="7459116" cy="3734321"/>
          </a:xfrm>
          <a:prstGeom prst="rect">
            <a:avLst/>
          </a:prstGeom>
        </p:spPr>
      </p:pic>
      <p:pic>
        <p:nvPicPr>
          <p:cNvPr id="11" name="Imagen 10">
            <a:extLst>
              <a:ext uri="{FF2B5EF4-FFF2-40B4-BE49-F238E27FC236}">
                <a16:creationId xmlns:a16="http://schemas.microsoft.com/office/drawing/2014/main" id="{187D73E2-7ACA-6236-9502-73FFB8EAC2F2}"/>
              </a:ext>
            </a:extLst>
          </p:cNvPr>
          <p:cNvPicPr>
            <a:picLocks noChangeAspect="1"/>
          </p:cNvPicPr>
          <p:nvPr/>
        </p:nvPicPr>
        <p:blipFill>
          <a:blip r:embed="rId3"/>
          <a:stretch>
            <a:fillRect/>
          </a:stretch>
        </p:blipFill>
        <p:spPr>
          <a:xfrm>
            <a:off x="7735207" y="5428114"/>
            <a:ext cx="4273599" cy="292949"/>
          </a:xfrm>
          <a:prstGeom prst="rect">
            <a:avLst/>
          </a:prstGeom>
        </p:spPr>
      </p:pic>
    </p:spTree>
    <p:extLst>
      <p:ext uri="{BB962C8B-B14F-4D97-AF65-F5344CB8AC3E}">
        <p14:creationId xmlns:p14="http://schemas.microsoft.com/office/powerpoint/2010/main" val="3230787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0892-9C3C-2CDA-BF7C-C812BE708649}"/>
            </a:ext>
          </a:extLst>
        </p:cNvPr>
        <p:cNvGrpSpPr/>
        <p:nvPr/>
      </p:nvGrpSpPr>
      <p:grpSpPr>
        <a:xfrm>
          <a:off x="0" y="0"/>
          <a:ext cx="0" cy="0"/>
          <a:chOff x="0" y="0"/>
          <a:chExt cx="0" cy="0"/>
        </a:xfrm>
      </p:grpSpPr>
      <p:sp>
        <p:nvSpPr>
          <p:cNvPr id="18" name="Rectángulo: esquinas redondeadas 17">
            <a:extLst>
              <a:ext uri="{FF2B5EF4-FFF2-40B4-BE49-F238E27FC236}">
                <a16:creationId xmlns:a16="http://schemas.microsoft.com/office/drawing/2014/main" id="{FDB85837-14D3-141E-0059-60A0E09F9AD4}"/>
              </a:ext>
            </a:extLst>
          </p:cNvPr>
          <p:cNvSpPr/>
          <p:nvPr/>
        </p:nvSpPr>
        <p:spPr>
          <a:xfrm>
            <a:off x="8954481" y="4027412"/>
            <a:ext cx="2932315" cy="1200329"/>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16" name="Rectángulo: esquinas redondeadas 15">
            <a:extLst>
              <a:ext uri="{FF2B5EF4-FFF2-40B4-BE49-F238E27FC236}">
                <a16:creationId xmlns:a16="http://schemas.microsoft.com/office/drawing/2014/main" id="{05ED98F5-200F-5D62-EFDB-1FBB7B9D3AF9}"/>
              </a:ext>
            </a:extLst>
          </p:cNvPr>
          <p:cNvSpPr/>
          <p:nvPr/>
        </p:nvSpPr>
        <p:spPr>
          <a:xfrm>
            <a:off x="2970458" y="4034063"/>
            <a:ext cx="2932315" cy="1200329"/>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252CFA6E-397B-5A6F-B7FA-4B63989C600F}"/>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F8FA000F-FD43-0C1A-0178-B0EFAF1EFA77}"/>
              </a:ext>
            </a:extLst>
          </p:cNvPr>
          <p:cNvSpPr>
            <a:spLocks noGrp="1"/>
          </p:cNvSpPr>
          <p:nvPr>
            <p:ph type="title"/>
          </p:nvPr>
        </p:nvSpPr>
        <p:spPr>
          <a:xfrm>
            <a:off x="0" y="2766219"/>
            <a:ext cx="2221523" cy="1261496"/>
          </a:xfrm>
        </p:spPr>
        <p:txBody>
          <a:bodyPr>
            <a:normAutofit/>
          </a:bodyPr>
          <a:lstStyle/>
          <a:p>
            <a:pPr algn="ctr"/>
            <a:r>
              <a:rPr lang="es-MX" sz="2400" dirty="0">
                <a:solidFill>
                  <a:schemeClr val="bg1"/>
                </a:solidFill>
                <a:latin typeface="Bahnschrift" panose="020B0502040204020203" pitchFamily="34" charset="0"/>
              </a:rPr>
              <a:t>Performance de los modelos</a:t>
            </a:r>
            <a:endParaRPr lang="es-CL" sz="2400" dirty="0">
              <a:solidFill>
                <a:schemeClr val="bg1"/>
              </a:solidFill>
              <a:latin typeface="Bahnschrift" panose="020B0502040204020203" pitchFamily="34" charset="0"/>
            </a:endParaRPr>
          </a:p>
        </p:txBody>
      </p:sp>
      <p:sp>
        <p:nvSpPr>
          <p:cNvPr id="52" name="Marcador de número de diapositiva 51">
            <a:extLst>
              <a:ext uri="{FF2B5EF4-FFF2-40B4-BE49-F238E27FC236}">
                <a16:creationId xmlns:a16="http://schemas.microsoft.com/office/drawing/2014/main" id="{6AC68530-C20D-753D-8ADD-BCC556D41199}"/>
              </a:ext>
            </a:extLst>
          </p:cNvPr>
          <p:cNvSpPr>
            <a:spLocks noGrp="1"/>
          </p:cNvSpPr>
          <p:nvPr>
            <p:ph type="sldNum" sz="quarter" idx="12"/>
          </p:nvPr>
        </p:nvSpPr>
        <p:spPr/>
        <p:txBody>
          <a:bodyPr/>
          <a:lstStyle/>
          <a:p>
            <a:fld id="{ED912E12-9DF5-47E5-8760-6375B81A7648}" type="slidenum">
              <a:rPr lang="es-CL" smtClean="0"/>
              <a:t>19</a:t>
            </a:fld>
            <a:endParaRPr lang="es-CL"/>
          </a:p>
        </p:txBody>
      </p:sp>
      <p:sp>
        <p:nvSpPr>
          <p:cNvPr id="6" name="Título 1">
            <a:extLst>
              <a:ext uri="{FF2B5EF4-FFF2-40B4-BE49-F238E27FC236}">
                <a16:creationId xmlns:a16="http://schemas.microsoft.com/office/drawing/2014/main" id="{54D21712-28BE-C4D5-AAE9-B568A01EB151}"/>
              </a:ext>
            </a:extLst>
          </p:cNvPr>
          <p:cNvSpPr txBox="1">
            <a:spLocks/>
          </p:cNvSpPr>
          <p:nvPr/>
        </p:nvSpPr>
        <p:spPr>
          <a:xfrm>
            <a:off x="4980123" y="-46495"/>
            <a:ext cx="3936569" cy="12614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200" dirty="0">
                <a:latin typeface="Bahnschrift SemiBold SemiConden" panose="020B0502040204020203" pitchFamily="34" charset="0"/>
              </a:rPr>
              <a:t>Clasificación</a:t>
            </a:r>
            <a:endParaRPr lang="es-CL" sz="3200" dirty="0">
              <a:latin typeface="Bahnschrift SemiBold SemiConden" panose="020B0502040204020203" pitchFamily="34" charset="0"/>
            </a:endParaRPr>
          </a:p>
        </p:txBody>
      </p:sp>
      <p:sp>
        <p:nvSpPr>
          <p:cNvPr id="19" name="CuadroTexto 18">
            <a:extLst>
              <a:ext uri="{FF2B5EF4-FFF2-40B4-BE49-F238E27FC236}">
                <a16:creationId xmlns:a16="http://schemas.microsoft.com/office/drawing/2014/main" id="{754E7A6A-9C03-5AAA-158D-B6C6DBBD8189}"/>
              </a:ext>
            </a:extLst>
          </p:cNvPr>
          <p:cNvSpPr txBox="1"/>
          <p:nvPr/>
        </p:nvSpPr>
        <p:spPr>
          <a:xfrm>
            <a:off x="4702445" y="5611981"/>
            <a:ext cx="4491924" cy="923330"/>
          </a:xfrm>
          <a:prstGeom prst="rect">
            <a:avLst/>
          </a:prstGeom>
          <a:noFill/>
        </p:spPr>
        <p:txBody>
          <a:bodyPr wrap="square" rtlCol="0">
            <a:spAutoFit/>
          </a:bodyPr>
          <a:lstStyle/>
          <a:p>
            <a:r>
              <a:rPr lang="es-MX" dirty="0"/>
              <a:t>Al contrario de la regresión, los modelos presentan mejor performance al ser entrenados con reparaciones esporádicas</a:t>
            </a:r>
            <a:endParaRPr lang="es-CL" dirty="0"/>
          </a:p>
        </p:txBody>
      </p:sp>
      <p:pic>
        <p:nvPicPr>
          <p:cNvPr id="7" name="Imagen 6">
            <a:extLst>
              <a:ext uri="{FF2B5EF4-FFF2-40B4-BE49-F238E27FC236}">
                <a16:creationId xmlns:a16="http://schemas.microsoft.com/office/drawing/2014/main" id="{42B43146-F06A-0E01-43D0-3C70C21942A4}"/>
              </a:ext>
            </a:extLst>
          </p:cNvPr>
          <p:cNvPicPr>
            <a:picLocks noChangeAspect="1"/>
          </p:cNvPicPr>
          <p:nvPr/>
        </p:nvPicPr>
        <p:blipFill>
          <a:blip r:embed="rId2"/>
          <a:stretch>
            <a:fillRect/>
          </a:stretch>
        </p:blipFill>
        <p:spPr>
          <a:xfrm>
            <a:off x="7533405" y="1599243"/>
            <a:ext cx="5525271" cy="2314898"/>
          </a:xfrm>
          <a:prstGeom prst="rect">
            <a:avLst/>
          </a:prstGeom>
        </p:spPr>
      </p:pic>
      <p:pic>
        <p:nvPicPr>
          <p:cNvPr id="11" name="Imagen 10">
            <a:extLst>
              <a:ext uri="{FF2B5EF4-FFF2-40B4-BE49-F238E27FC236}">
                <a16:creationId xmlns:a16="http://schemas.microsoft.com/office/drawing/2014/main" id="{3F0DF2B2-9AAA-F3E4-804B-D2EDFC8A9CBE}"/>
              </a:ext>
            </a:extLst>
          </p:cNvPr>
          <p:cNvPicPr>
            <a:picLocks noChangeAspect="1"/>
          </p:cNvPicPr>
          <p:nvPr/>
        </p:nvPicPr>
        <p:blipFill>
          <a:blip r:embed="rId3"/>
          <a:stretch>
            <a:fillRect/>
          </a:stretch>
        </p:blipFill>
        <p:spPr>
          <a:xfrm>
            <a:off x="2462530" y="1599243"/>
            <a:ext cx="5210902" cy="2333951"/>
          </a:xfrm>
          <a:prstGeom prst="rect">
            <a:avLst/>
          </a:prstGeom>
        </p:spPr>
      </p:pic>
      <p:sp>
        <p:nvSpPr>
          <p:cNvPr id="12" name="Círculo: vacío 11">
            <a:extLst>
              <a:ext uri="{FF2B5EF4-FFF2-40B4-BE49-F238E27FC236}">
                <a16:creationId xmlns:a16="http://schemas.microsoft.com/office/drawing/2014/main" id="{479EB9FE-784A-3E66-3050-6555C5178C6C}"/>
              </a:ext>
            </a:extLst>
          </p:cNvPr>
          <p:cNvSpPr/>
          <p:nvPr/>
        </p:nvSpPr>
        <p:spPr>
          <a:xfrm>
            <a:off x="10432976" y="2488706"/>
            <a:ext cx="756451" cy="569564"/>
          </a:xfrm>
          <a:prstGeom prst="donut">
            <a:avLst>
              <a:gd name="adj" fmla="val 3312"/>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tx1"/>
              </a:solidFill>
            </a:endParaRPr>
          </a:p>
        </p:txBody>
      </p:sp>
      <p:sp>
        <p:nvSpPr>
          <p:cNvPr id="13" name="Círculo: vacío 12">
            <a:extLst>
              <a:ext uri="{FF2B5EF4-FFF2-40B4-BE49-F238E27FC236}">
                <a16:creationId xmlns:a16="http://schemas.microsoft.com/office/drawing/2014/main" id="{40385662-0046-C1F7-7500-7B320ED5B5D5}"/>
              </a:ext>
            </a:extLst>
          </p:cNvPr>
          <p:cNvSpPr/>
          <p:nvPr/>
        </p:nvSpPr>
        <p:spPr>
          <a:xfrm>
            <a:off x="5285930" y="2512092"/>
            <a:ext cx="756451" cy="569564"/>
          </a:xfrm>
          <a:prstGeom prst="donut">
            <a:avLst>
              <a:gd name="adj" fmla="val 3312"/>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tx1"/>
              </a:solidFill>
            </a:endParaRPr>
          </a:p>
        </p:txBody>
      </p:sp>
      <p:sp>
        <p:nvSpPr>
          <p:cNvPr id="14" name="CuadroTexto 13">
            <a:extLst>
              <a:ext uri="{FF2B5EF4-FFF2-40B4-BE49-F238E27FC236}">
                <a16:creationId xmlns:a16="http://schemas.microsoft.com/office/drawing/2014/main" id="{C8D9569B-ED8D-D811-CAA4-AA64F22A0859}"/>
              </a:ext>
            </a:extLst>
          </p:cNvPr>
          <p:cNvSpPr txBox="1"/>
          <p:nvPr/>
        </p:nvSpPr>
        <p:spPr>
          <a:xfrm>
            <a:off x="3218812" y="4166214"/>
            <a:ext cx="2692427" cy="923330"/>
          </a:xfrm>
          <a:prstGeom prst="rect">
            <a:avLst/>
          </a:prstGeom>
          <a:noFill/>
        </p:spPr>
        <p:txBody>
          <a:bodyPr wrap="square" rtlCol="0">
            <a:spAutoFit/>
          </a:bodyPr>
          <a:lstStyle/>
          <a:p>
            <a:r>
              <a:rPr lang="es-MX" dirty="0">
                <a:solidFill>
                  <a:schemeClr val="bg1"/>
                </a:solidFill>
                <a:latin typeface="Bahnschrift SemiBold SemiConden" panose="020B0502040204020203" pitchFamily="34" charset="0"/>
              </a:rPr>
              <a:t>Precisión modelo considerando todas las reparaciones: 0.7</a:t>
            </a:r>
            <a:endParaRPr lang="es-CL" dirty="0">
              <a:solidFill>
                <a:schemeClr val="bg1"/>
              </a:solidFill>
              <a:latin typeface="Bahnschrift SemiBold SemiConden" panose="020B0502040204020203" pitchFamily="34" charset="0"/>
            </a:endParaRPr>
          </a:p>
        </p:txBody>
      </p:sp>
      <p:sp>
        <p:nvSpPr>
          <p:cNvPr id="15" name="CuadroTexto 14">
            <a:extLst>
              <a:ext uri="{FF2B5EF4-FFF2-40B4-BE49-F238E27FC236}">
                <a16:creationId xmlns:a16="http://schemas.microsoft.com/office/drawing/2014/main" id="{DABA6673-82EA-E390-D6C9-41E842504323}"/>
              </a:ext>
            </a:extLst>
          </p:cNvPr>
          <p:cNvSpPr txBox="1"/>
          <p:nvPr/>
        </p:nvSpPr>
        <p:spPr>
          <a:xfrm>
            <a:off x="9086762" y="4166214"/>
            <a:ext cx="2692427" cy="830997"/>
          </a:xfrm>
          <a:prstGeom prst="rect">
            <a:avLst/>
          </a:prstGeom>
          <a:noFill/>
        </p:spPr>
        <p:txBody>
          <a:bodyPr wrap="square" rtlCol="0">
            <a:spAutoFit/>
          </a:bodyPr>
          <a:lstStyle/>
          <a:p>
            <a:r>
              <a:rPr lang="es-MX" sz="1600" dirty="0">
                <a:solidFill>
                  <a:schemeClr val="bg1"/>
                </a:solidFill>
                <a:latin typeface="Bahnschrift SemiBold SemiConden" panose="020B0502040204020203" pitchFamily="34" charset="0"/>
              </a:rPr>
              <a:t>Precisión modelo considerando sólo las reparaciones esporádicas: 0.81</a:t>
            </a:r>
            <a:endParaRPr lang="es-CL" sz="1600" dirty="0">
              <a:solidFill>
                <a:schemeClr val="bg1"/>
              </a:solidFill>
              <a:latin typeface="Bahnschrift SemiBold SemiConden" panose="020B0502040204020203" pitchFamily="34" charset="0"/>
            </a:endParaRPr>
          </a:p>
        </p:txBody>
      </p:sp>
    </p:spTree>
    <p:extLst>
      <p:ext uri="{BB962C8B-B14F-4D97-AF65-F5344CB8AC3E}">
        <p14:creationId xmlns:p14="http://schemas.microsoft.com/office/powerpoint/2010/main" val="2391968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21EA0-E14D-C037-BC68-94A021CDB8C9}"/>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5DE85248-971B-DE80-04EE-2FE8AB788D72}"/>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C9581730-0154-97E1-0937-3A5B4892A983}"/>
              </a:ext>
            </a:extLst>
          </p:cNvPr>
          <p:cNvSpPr>
            <a:spLocks noGrp="1"/>
          </p:cNvSpPr>
          <p:nvPr>
            <p:ph type="title"/>
          </p:nvPr>
        </p:nvSpPr>
        <p:spPr>
          <a:xfrm>
            <a:off x="0" y="2766219"/>
            <a:ext cx="2221523" cy="1261496"/>
          </a:xfrm>
        </p:spPr>
        <p:txBody>
          <a:bodyPr>
            <a:normAutofit/>
          </a:bodyPr>
          <a:lstStyle/>
          <a:p>
            <a:pPr algn="ctr"/>
            <a:r>
              <a:rPr lang="es-MX" sz="2800" dirty="0">
                <a:solidFill>
                  <a:schemeClr val="bg1"/>
                </a:solidFill>
                <a:latin typeface="Bahnschrift" panose="020B0502040204020203" pitchFamily="34" charset="0"/>
              </a:rPr>
              <a:t>Recomendaciones</a:t>
            </a:r>
            <a:endParaRPr lang="es-CL" sz="2800" dirty="0">
              <a:solidFill>
                <a:schemeClr val="bg1"/>
              </a:solidFill>
              <a:latin typeface="Bahnschrift" panose="020B0502040204020203" pitchFamily="34" charset="0"/>
            </a:endParaRPr>
          </a:p>
        </p:txBody>
      </p:sp>
      <p:sp>
        <p:nvSpPr>
          <p:cNvPr id="20" name="CuadroTexto 19">
            <a:extLst>
              <a:ext uri="{FF2B5EF4-FFF2-40B4-BE49-F238E27FC236}">
                <a16:creationId xmlns:a16="http://schemas.microsoft.com/office/drawing/2014/main" id="{E6F122E9-B6C8-5EE6-E83F-9C72FCA0AC55}"/>
              </a:ext>
            </a:extLst>
          </p:cNvPr>
          <p:cNvSpPr txBox="1"/>
          <p:nvPr/>
        </p:nvSpPr>
        <p:spPr>
          <a:xfrm>
            <a:off x="2851688" y="480447"/>
            <a:ext cx="7284204" cy="4247317"/>
          </a:xfrm>
          <a:prstGeom prst="rect">
            <a:avLst/>
          </a:prstGeom>
          <a:noFill/>
        </p:spPr>
        <p:txBody>
          <a:bodyPr wrap="square" rtlCol="0">
            <a:spAutoFit/>
          </a:bodyPr>
          <a:lstStyle/>
          <a:p>
            <a:pPr marL="285750" indent="-285750">
              <a:buFont typeface="Arial" panose="020B0604020202020204" pitchFamily="34" charset="0"/>
              <a:buChar char="•"/>
            </a:pPr>
            <a:r>
              <a:rPr lang="es-MX" dirty="0"/>
              <a:t>Los modelos de clasificación son un buen </a:t>
            </a:r>
            <a:r>
              <a:rPr lang="es-MX" dirty="0" err="1"/>
              <a:t>baseline</a:t>
            </a:r>
            <a:r>
              <a:rPr lang="es-MX" dirty="0"/>
              <a:t> para empezar a tunear otros modelos. También sería útil observar el cambio de su performance a distintos valores de gap y longitudes de los intervalos observados.</a:t>
            </a:r>
          </a:p>
          <a:p>
            <a:pPr marL="285750" indent="-285750">
              <a:buFont typeface="Arial" panose="020B0604020202020204" pitchFamily="34" charset="0"/>
              <a:buChar char="•"/>
            </a:pPr>
            <a:r>
              <a:rPr lang="es-CL" dirty="0"/>
              <a:t>Los modelos también pueden entregar un valor de “confianza” de su predicción, por lo que se puede hacer un análogo con la información que entregan los modelos de regresión.</a:t>
            </a:r>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r>
              <a:rPr lang="es-CL" dirty="0"/>
              <a:t>Los modelos de regresión todavía pueden mejorar su arquitectura. Los mejores parámetros todavía no han sido encontrados.</a:t>
            </a:r>
          </a:p>
          <a:p>
            <a:pPr marL="285750" indent="-285750">
              <a:buFont typeface="Arial" panose="020B0604020202020204" pitchFamily="34" charset="0"/>
              <a:buChar char="•"/>
            </a:pPr>
            <a:r>
              <a:rPr lang="es-CL" dirty="0"/>
              <a:t>Las diferencias de distribución de tiempo entre flotas que fue observada en la primera etapa podría contribuir negativamente a la generalización de los modelos de regresión. Un modelo por flota podría ayudar.</a:t>
            </a:r>
          </a:p>
          <a:p>
            <a:pPr marL="285750" indent="-285750">
              <a:buFont typeface="Arial" panose="020B0604020202020204" pitchFamily="34" charset="0"/>
              <a:buChar char="•"/>
            </a:pPr>
            <a:endParaRPr lang="es-CL" dirty="0"/>
          </a:p>
        </p:txBody>
      </p:sp>
    </p:spTree>
    <p:extLst>
      <p:ext uri="{BB962C8B-B14F-4D97-AF65-F5344CB8AC3E}">
        <p14:creationId xmlns:p14="http://schemas.microsoft.com/office/powerpoint/2010/main" val="1578866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71F73-92D5-CF1D-67FF-3F50A0C8EF75}"/>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14BF4B67-7E8E-86F0-0FB0-321C5113E785}"/>
              </a:ext>
            </a:extLst>
          </p:cNvPr>
          <p:cNvSpPr/>
          <p:nvPr/>
        </p:nvSpPr>
        <p:spPr>
          <a:xfrm>
            <a:off x="-1" y="0"/>
            <a:ext cx="2225040"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2" name="Título 1">
            <a:extLst>
              <a:ext uri="{FF2B5EF4-FFF2-40B4-BE49-F238E27FC236}">
                <a16:creationId xmlns:a16="http://schemas.microsoft.com/office/drawing/2014/main" id="{0B47D25E-21FA-1EB3-8399-07505D6C737F}"/>
              </a:ext>
            </a:extLst>
          </p:cNvPr>
          <p:cNvSpPr>
            <a:spLocks noGrp="1"/>
          </p:cNvSpPr>
          <p:nvPr>
            <p:ph type="title"/>
          </p:nvPr>
        </p:nvSpPr>
        <p:spPr>
          <a:xfrm>
            <a:off x="0" y="2766219"/>
            <a:ext cx="2221523" cy="1261496"/>
          </a:xfrm>
        </p:spPr>
        <p:txBody>
          <a:bodyPr>
            <a:normAutofit/>
          </a:bodyPr>
          <a:lstStyle/>
          <a:p>
            <a:pPr algn="ctr"/>
            <a:r>
              <a:rPr lang="es-MX" sz="2800" dirty="0">
                <a:solidFill>
                  <a:schemeClr val="bg1"/>
                </a:solidFill>
                <a:latin typeface="Bahnschrift" panose="020B0502040204020203" pitchFamily="34" charset="0"/>
              </a:rPr>
              <a:t>Recomendaciones</a:t>
            </a:r>
            <a:endParaRPr lang="es-CL" sz="2800" dirty="0">
              <a:solidFill>
                <a:schemeClr val="bg1"/>
              </a:solidFill>
              <a:latin typeface="Bahnschrift" panose="020B0502040204020203" pitchFamily="34" charset="0"/>
            </a:endParaRPr>
          </a:p>
        </p:txBody>
      </p:sp>
      <p:sp>
        <p:nvSpPr>
          <p:cNvPr id="20" name="CuadroTexto 19">
            <a:extLst>
              <a:ext uri="{FF2B5EF4-FFF2-40B4-BE49-F238E27FC236}">
                <a16:creationId xmlns:a16="http://schemas.microsoft.com/office/drawing/2014/main" id="{3DC38E9C-FEE8-D48E-AB2D-71C8B6B70767}"/>
              </a:ext>
            </a:extLst>
          </p:cNvPr>
          <p:cNvSpPr txBox="1"/>
          <p:nvPr/>
        </p:nvSpPr>
        <p:spPr>
          <a:xfrm>
            <a:off x="2851688" y="480447"/>
            <a:ext cx="7284204" cy="2585323"/>
          </a:xfrm>
          <a:prstGeom prst="rect">
            <a:avLst/>
          </a:prstGeom>
          <a:noFill/>
        </p:spPr>
        <p:txBody>
          <a:bodyPr wrap="square" rtlCol="0">
            <a:spAutoFit/>
          </a:bodyPr>
          <a:lstStyle/>
          <a:p>
            <a:pPr marL="285750" indent="-285750">
              <a:buFont typeface="Arial" panose="020B0604020202020204" pitchFamily="34" charset="0"/>
              <a:buChar char="•"/>
            </a:pPr>
            <a:r>
              <a:rPr lang="es-MX" dirty="0"/>
              <a:t>Una arquitectura basada en </a:t>
            </a:r>
            <a:r>
              <a:rPr lang="es-MX" dirty="0" err="1"/>
              <a:t>Spike</a:t>
            </a:r>
            <a:r>
              <a:rPr lang="es-MX" dirty="0"/>
              <a:t> Neural Networks podría resultar beneficiosa. Su estructura es sensible al tiempo, por lo que sería ideal para trabajar una trayectoria. Además, la manera en la que las neuronas disparan puede ser leído como la visita de un estado. Esto mejoraría el </a:t>
            </a:r>
            <a:r>
              <a:rPr lang="es-MX" dirty="0" err="1"/>
              <a:t>one-hot-encoding</a:t>
            </a:r>
            <a:r>
              <a:rPr lang="es-MX" dirty="0"/>
              <a:t> actual por un </a:t>
            </a:r>
            <a:r>
              <a:rPr lang="es-MX" dirty="0" err="1"/>
              <a:t>embedimiento</a:t>
            </a:r>
            <a:r>
              <a:rPr lang="es-MX" dirty="0"/>
              <a:t> más beneficioso.</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endParaRPr lang="es-CL" dirty="0"/>
          </a:p>
        </p:txBody>
      </p:sp>
      <p:pic>
        <p:nvPicPr>
          <p:cNvPr id="5" name="Imagen 4">
            <a:extLst>
              <a:ext uri="{FF2B5EF4-FFF2-40B4-BE49-F238E27FC236}">
                <a16:creationId xmlns:a16="http://schemas.microsoft.com/office/drawing/2014/main" id="{81FF3229-95B2-E1E7-9AC5-E093E82AEB39}"/>
              </a:ext>
            </a:extLst>
          </p:cNvPr>
          <p:cNvPicPr>
            <a:picLocks noChangeAspect="1"/>
          </p:cNvPicPr>
          <p:nvPr/>
        </p:nvPicPr>
        <p:blipFill>
          <a:blip r:embed="rId2"/>
          <a:stretch>
            <a:fillRect/>
          </a:stretch>
        </p:blipFill>
        <p:spPr>
          <a:xfrm>
            <a:off x="6841499" y="2766219"/>
            <a:ext cx="4716419" cy="3315784"/>
          </a:xfrm>
          <a:prstGeom prst="rect">
            <a:avLst/>
          </a:prstGeom>
        </p:spPr>
      </p:pic>
    </p:spTree>
    <p:extLst>
      <p:ext uri="{BB962C8B-B14F-4D97-AF65-F5344CB8AC3E}">
        <p14:creationId xmlns:p14="http://schemas.microsoft.com/office/powerpoint/2010/main" val="590005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CD21C-6AF5-527E-7DC8-1AC07760FB14}"/>
            </a:ext>
          </a:extLst>
        </p:cNvPr>
        <p:cNvGrpSpPr/>
        <p:nvPr/>
      </p:nvGrpSpPr>
      <p:grpSpPr>
        <a:xfrm>
          <a:off x="0" y="0"/>
          <a:ext cx="0" cy="0"/>
          <a:chOff x="0" y="0"/>
          <a:chExt cx="0" cy="0"/>
        </a:xfrm>
      </p:grpSpPr>
      <p:sp>
        <p:nvSpPr>
          <p:cNvPr id="10" name="Rectángulo: esquinas redondeadas 9">
            <a:extLst>
              <a:ext uri="{FF2B5EF4-FFF2-40B4-BE49-F238E27FC236}">
                <a16:creationId xmlns:a16="http://schemas.microsoft.com/office/drawing/2014/main" id="{D052D111-7A15-FBAC-AE89-09A5307FC140}"/>
              </a:ext>
            </a:extLst>
          </p:cNvPr>
          <p:cNvSpPr/>
          <p:nvPr/>
        </p:nvSpPr>
        <p:spPr>
          <a:xfrm>
            <a:off x="1676149" y="5893628"/>
            <a:ext cx="1848101" cy="814398"/>
          </a:xfrm>
          <a:prstGeom prst="roundRect">
            <a:avLst/>
          </a:prstGeom>
          <a:solidFill>
            <a:schemeClr val="tx2">
              <a:lumMod val="25000"/>
              <a:lumOff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CL" dirty="0"/>
          </a:p>
        </p:txBody>
      </p:sp>
      <p:sp>
        <p:nvSpPr>
          <p:cNvPr id="3" name="Subtítulo 2">
            <a:extLst>
              <a:ext uri="{FF2B5EF4-FFF2-40B4-BE49-F238E27FC236}">
                <a16:creationId xmlns:a16="http://schemas.microsoft.com/office/drawing/2014/main" id="{EDF824DF-90BB-57DC-7C56-3F2E08B5E1E7}"/>
              </a:ext>
            </a:extLst>
          </p:cNvPr>
          <p:cNvSpPr>
            <a:spLocks noGrp="1"/>
          </p:cNvSpPr>
          <p:nvPr>
            <p:ph type="subTitle" idx="1"/>
          </p:nvPr>
        </p:nvSpPr>
        <p:spPr>
          <a:xfrm>
            <a:off x="1508127" y="4237866"/>
            <a:ext cx="9144000" cy="1655762"/>
          </a:xfrm>
        </p:spPr>
        <p:txBody>
          <a:bodyPr>
            <a:normAutofit/>
          </a:bodyPr>
          <a:lstStyle/>
          <a:p>
            <a:r>
              <a:rPr lang="es-MX" sz="1800" dirty="0">
                <a:solidFill>
                  <a:schemeClr val="bg2">
                    <a:lumMod val="50000"/>
                  </a:schemeClr>
                </a:solidFill>
                <a:latin typeface="Bahnschrift SemiLight" panose="020B0502040204020203" pitchFamily="34" charset="0"/>
              </a:rPr>
              <a:t>Claudio López-Fernández</a:t>
            </a:r>
          </a:p>
          <a:p>
            <a:r>
              <a:rPr lang="es-MX" sz="1800" dirty="0" err="1">
                <a:solidFill>
                  <a:schemeClr val="bg2">
                    <a:lumMod val="50000"/>
                  </a:schemeClr>
                </a:solidFill>
                <a:latin typeface="Bahnschrift SemiLight" panose="020B0502040204020203" pitchFamily="34" charset="0"/>
              </a:rPr>
              <a:t>Vantaz</a:t>
            </a:r>
            <a:r>
              <a:rPr lang="es-MX" sz="1800" dirty="0">
                <a:solidFill>
                  <a:schemeClr val="bg2">
                    <a:lumMod val="50000"/>
                  </a:schemeClr>
                </a:solidFill>
                <a:latin typeface="Bahnschrift SemiLight" panose="020B0502040204020203" pitchFamily="34" charset="0"/>
              </a:rPr>
              <a:t> </a:t>
            </a:r>
            <a:r>
              <a:rPr lang="es-MX" sz="1800" dirty="0" err="1">
                <a:solidFill>
                  <a:schemeClr val="bg2">
                    <a:lumMod val="50000"/>
                  </a:schemeClr>
                </a:solidFill>
                <a:latin typeface="Bahnschrift SemiLight" panose="020B0502040204020203" pitchFamily="34" charset="0"/>
              </a:rPr>
              <a:t>Analytics</a:t>
            </a:r>
            <a:endParaRPr lang="es-MX" sz="1800" dirty="0">
              <a:solidFill>
                <a:schemeClr val="bg2">
                  <a:lumMod val="50000"/>
                </a:schemeClr>
              </a:solidFill>
              <a:latin typeface="Bahnschrift SemiLight" panose="020B0502040204020203" pitchFamily="34" charset="0"/>
            </a:endParaRPr>
          </a:p>
          <a:p>
            <a:r>
              <a:rPr lang="es-MX" sz="1800" dirty="0">
                <a:solidFill>
                  <a:schemeClr val="bg2">
                    <a:lumMod val="50000"/>
                  </a:schemeClr>
                </a:solidFill>
                <a:latin typeface="Bahnschrift SemiLight" panose="020B0502040204020203" pitchFamily="34" charset="0"/>
              </a:rPr>
              <a:t>Practicante</a:t>
            </a:r>
            <a:endParaRPr lang="es-CL" sz="1800" dirty="0">
              <a:solidFill>
                <a:schemeClr val="bg2">
                  <a:lumMod val="50000"/>
                </a:schemeClr>
              </a:solidFill>
              <a:latin typeface="Bahnschrift SemiLight" panose="020B0502040204020203" pitchFamily="34" charset="0"/>
            </a:endParaRPr>
          </a:p>
        </p:txBody>
      </p:sp>
      <p:sp>
        <p:nvSpPr>
          <p:cNvPr id="4" name="Rectángulo 3">
            <a:extLst>
              <a:ext uri="{FF2B5EF4-FFF2-40B4-BE49-F238E27FC236}">
                <a16:creationId xmlns:a16="http://schemas.microsoft.com/office/drawing/2014/main" id="{C9ECCA94-67E8-37ED-BBCA-63F8DEB55A6E}"/>
              </a:ext>
            </a:extLst>
          </p:cNvPr>
          <p:cNvSpPr/>
          <p:nvPr/>
        </p:nvSpPr>
        <p:spPr>
          <a:xfrm>
            <a:off x="-1" y="0"/>
            <a:ext cx="1445623" cy="6858000"/>
          </a:xfrm>
          <a:prstGeom prst="rect">
            <a:avLst/>
          </a:prstGeom>
          <a:solidFill>
            <a:schemeClr val="accent1">
              <a:lumMod val="60000"/>
              <a:lumOff val="4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CL"/>
          </a:p>
        </p:txBody>
      </p:sp>
      <p:sp>
        <p:nvSpPr>
          <p:cNvPr id="5" name="Rectángulo 4">
            <a:extLst>
              <a:ext uri="{FF2B5EF4-FFF2-40B4-BE49-F238E27FC236}">
                <a16:creationId xmlns:a16="http://schemas.microsoft.com/office/drawing/2014/main" id="{1390A665-25A5-0C0D-276E-774EC50CC12F}"/>
              </a:ext>
            </a:extLst>
          </p:cNvPr>
          <p:cNvSpPr/>
          <p:nvPr/>
        </p:nvSpPr>
        <p:spPr>
          <a:xfrm>
            <a:off x="10746376" y="0"/>
            <a:ext cx="1445623" cy="68580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L"/>
          </a:p>
        </p:txBody>
      </p:sp>
      <p:pic>
        <p:nvPicPr>
          <p:cNvPr id="8" name="Imagen 7" descr="Imagen que contiene Texto&#10;&#10;Descripción generada automáticamente">
            <a:extLst>
              <a:ext uri="{FF2B5EF4-FFF2-40B4-BE49-F238E27FC236}">
                <a16:creationId xmlns:a16="http://schemas.microsoft.com/office/drawing/2014/main" id="{47E157D1-02E9-0D80-4CAC-5ACEA0DCC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0743" y="6080910"/>
            <a:ext cx="1058911" cy="439834"/>
          </a:xfrm>
          <a:prstGeom prst="rect">
            <a:avLst/>
          </a:prstGeom>
        </p:spPr>
      </p:pic>
    </p:spTree>
    <p:extLst>
      <p:ext uri="{BB962C8B-B14F-4D97-AF65-F5344CB8AC3E}">
        <p14:creationId xmlns:p14="http://schemas.microsoft.com/office/powerpoint/2010/main" val="35185159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13419</TotalTime>
  <Words>1215</Words>
  <Application>Microsoft Office PowerPoint</Application>
  <PresentationFormat>Panorámica</PresentationFormat>
  <Paragraphs>169</Paragraphs>
  <Slides>22</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22</vt:i4>
      </vt:variant>
    </vt:vector>
  </HeadingPairs>
  <TitlesOfParts>
    <vt:vector size="30" baseType="lpstr">
      <vt:lpstr>Aptos</vt:lpstr>
      <vt:lpstr>Aptos Display</vt:lpstr>
      <vt:lpstr>Arial</vt:lpstr>
      <vt:lpstr>Bahnschrift</vt:lpstr>
      <vt:lpstr>Bahnschrift SemiBold SemiConden</vt:lpstr>
      <vt:lpstr>Bahnschrift SemiLight</vt:lpstr>
      <vt:lpstr>Calibri</vt:lpstr>
      <vt:lpstr>Tema de Office</vt:lpstr>
      <vt:lpstr>Reporte Etapa 2  Práctica H-TUM</vt:lpstr>
      <vt:lpstr>Agenda</vt:lpstr>
      <vt:lpstr>Etapa 1</vt:lpstr>
      <vt:lpstr>Etapa 1</vt:lpstr>
      <vt:lpstr>Objetivos</vt:lpstr>
      <vt:lpstr>Datos</vt:lpstr>
      <vt:lpstr>Datos</vt:lpstr>
      <vt:lpstr>Datos</vt:lpstr>
      <vt:lpstr>Preparación para el entrenamiento</vt:lpstr>
      <vt:lpstr>Modelo de regresión</vt:lpstr>
      <vt:lpstr>Modelo de Clasificación</vt:lpstr>
      <vt:lpstr>Caracterización de los datos</vt:lpstr>
      <vt:lpstr>Métricas de evaluación</vt:lpstr>
      <vt:lpstr>Performance de los modelos</vt:lpstr>
      <vt:lpstr>Métricas de evaluación</vt:lpstr>
      <vt:lpstr>Performance de los modelos</vt:lpstr>
      <vt:lpstr>Performance de los modelos</vt:lpstr>
      <vt:lpstr>Performance de los modelos</vt:lpstr>
      <vt:lpstr>Performance de los modelos</vt:lpstr>
      <vt:lpstr>Recomendaciones</vt:lpstr>
      <vt:lpstr>Recomendaciones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Claudio López Fernández</dc:creator>
  <cp:lastModifiedBy>Claudio López Fernández</cp:lastModifiedBy>
  <cp:revision>13</cp:revision>
  <dcterms:created xsi:type="dcterms:W3CDTF">2025-01-29T13:17:46Z</dcterms:created>
  <dcterms:modified xsi:type="dcterms:W3CDTF">2025-03-23T20:13:47Z</dcterms:modified>
</cp:coreProperties>
</file>