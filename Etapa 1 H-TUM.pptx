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72" r:id="rId12"/>
    <p:sldId id="275" r:id="rId13"/>
    <p:sldId id="273" r:id="rId14"/>
    <p:sldId id="276" r:id="rId15"/>
    <p:sldId id="268" r:id="rId16"/>
    <p:sldId id="304" r:id="rId17"/>
    <p:sldId id="269" r:id="rId18"/>
    <p:sldId id="271" r:id="rId19"/>
    <p:sldId id="277" r:id="rId20"/>
    <p:sldId id="278" r:id="rId21"/>
    <p:sldId id="279" r:id="rId22"/>
    <p:sldId id="280" r:id="rId23"/>
    <p:sldId id="281" r:id="rId24"/>
    <p:sldId id="282" r:id="rId25"/>
    <p:sldId id="289" r:id="rId26"/>
    <p:sldId id="284" r:id="rId27"/>
    <p:sldId id="285" r:id="rId28"/>
    <p:sldId id="303" r:id="rId29"/>
    <p:sldId id="305" r:id="rId30"/>
    <p:sldId id="290" r:id="rId31"/>
    <p:sldId id="306" r:id="rId32"/>
    <p:sldId id="293" r:id="rId33"/>
    <p:sldId id="297" r:id="rId34"/>
    <p:sldId id="296" r:id="rId35"/>
    <p:sldId id="299" r:id="rId36"/>
    <p:sldId id="301" r:id="rId37"/>
    <p:sldId id="302" r:id="rId38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83" autoAdjust="0"/>
  </p:normalViewPr>
  <p:slideViewPr>
    <p:cSldViewPr snapToGrid="0">
      <p:cViewPr varScale="1">
        <p:scale>
          <a:sx n="62" d="100"/>
          <a:sy n="62" d="100"/>
        </p:scale>
        <p:origin x="978" y="66"/>
      </p:cViewPr>
      <p:guideLst>
        <p:guide orient="horz" pos="2137"/>
        <p:guide pos="38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4E2148-0024-4B84-BA99-AA6AFB938C1B}" type="datetimeFigureOut">
              <a:rPr lang="es-CL" smtClean="0"/>
              <a:t>04-02-2025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234C8E-63CF-4FC6-8F88-E8E6DBEDD58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35067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98636A-5CC6-7A8D-9AD6-647C9A405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8E44BE2-5376-4C21-C71A-7F785A1AFF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814174-9B9D-0DBB-B9A2-42AE42D30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1580E-1A11-4CE1-96C9-D1E08B66570E}" type="datetime1">
              <a:rPr lang="es-CL" smtClean="0"/>
              <a:t>04-02-2025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B6BE87-C577-B162-93ED-C813E1FE8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37A62E-825F-7B02-9CC2-C5FF2DA8F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60128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44B39C-C19E-C43E-C31E-B17460C45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514B9C-DAAA-F82C-A70B-0DBE9D5A8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D0B08A-1E9A-7377-2EAB-E1F65BF90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C8E2C-D150-4BD7-AE0E-C5A86ADD9884}" type="datetime1">
              <a:rPr lang="es-CL" smtClean="0"/>
              <a:t>04-02-2025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6D3687-FB2B-D47A-B500-351AEFDC4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B341B0-2235-E1FC-E8CC-E97F1B935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08448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086DC0-1885-E3B8-7225-00276FF16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3BB4FE1-8A39-4BD7-A91B-10F529D99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A5C45C-34E9-173E-63F3-3DEB1783C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28B5F-69D0-4620-8280-87CD69F85CFD}" type="datetime1">
              <a:rPr lang="es-CL" smtClean="0"/>
              <a:t>04-02-2025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AB1141-51D5-CAC2-E969-1F46E0FCF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D64730-88FC-7455-F9D9-A3FE02E74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53467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11CAB4-222B-7AEE-A1F2-60B7B86A2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FD39ED-8F9D-F0F9-143B-57F838E4C1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831F897-8DDD-5355-452D-086A728C57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4FFAA7F-76AF-37BE-67B2-F99DB0DDF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C61CA-8546-49EB-BB45-0635695277D6}" type="datetime1">
              <a:rPr lang="es-CL" smtClean="0"/>
              <a:t>04-02-2025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C6145BF-26EB-7657-B504-6E6D974C6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3141300-17D3-5EAB-C471-5B1039348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16964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4FAC3F-3664-5BC3-3FC1-3D2DD877A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EDE50B-3BB3-DCAA-25F9-7D49CEA32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F869DE7-C202-C7B1-38E5-67F8242B8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EB6C6FE-D58B-4D33-8816-59FF7FF029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0945C1B-D266-B295-F5C3-DDC92D3907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8B78146-D58D-6033-B748-3D9C68159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FD319-CF8B-431E-A0DA-630E0DCDD44D}" type="datetime1">
              <a:rPr lang="es-CL" smtClean="0"/>
              <a:t>04-02-2025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7D23B21-98D0-928E-2E89-6D288AE37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FEAA6F7-A04B-C2C5-81C1-8DF8BAE98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2941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3E5231-0F88-2B44-0D9F-417901238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057720B-3F25-B96E-C9D0-2DCA5996E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550F4-9289-4267-9034-4E8E07A90BE0}" type="datetime1">
              <a:rPr lang="es-CL" smtClean="0"/>
              <a:t>04-02-2025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5250A2B-251E-10EC-4045-F1B232F3B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F360FD7-7A60-4799-B728-554DD81ED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3609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0D36CB1-A56B-5A10-C424-466FFDE4B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AED28-067B-4BE8-A662-038279DE94AB}" type="datetime1">
              <a:rPr lang="es-CL" smtClean="0"/>
              <a:t>04-02-2025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0401202-268E-649C-21AD-A361C13FA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05B9786-B9A2-F0CC-C94C-12A2822CD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969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19CC4E-D677-DFC7-6E1E-AC914CD3A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D1E24A-7194-137B-99A4-059AFA55F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7C11130-9452-7B07-93DC-C406E9F17B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EEB8849-826D-E7A0-45C5-121708966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BD89-8750-431D-B41C-1BE8C3261562}" type="datetime1">
              <a:rPr lang="es-CL" smtClean="0"/>
              <a:t>04-02-2025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C777874-13EF-2002-0BD6-95F480671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9EB7EA-449D-9CBE-71A2-366CF725D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91942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0773BE-30F7-8275-E598-F3663FC4D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A6A50C5-9248-B4D8-8B7C-ECBC54F106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50968FF-5736-5B1C-3148-A8ACD3CF1C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156A3A0-C9E6-D345-B5D9-E05EC4D44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2607-CF59-4E9E-95A4-828675C9CE10}" type="datetime1">
              <a:rPr lang="es-CL" smtClean="0"/>
              <a:t>04-02-2025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C1DBAE-6305-4965-DCFF-F8F4DD595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5BA177-1FF3-C0CA-6CAA-9AB3A262C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52154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F948EF-8EAB-2E31-E6C5-1D30CF079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C683C49-D93A-7CDD-A2E0-CBFD22508D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2A18CB-1DA3-1CB1-A07B-1992946AA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92F36-381B-4C06-A760-43BCD8929DFA}" type="datetime1">
              <a:rPr lang="es-CL" smtClean="0"/>
              <a:t>04-02-2025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3506-1340-47BB-FBE3-0825A01EC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CE7EB6-8899-0691-C8B3-5A37DA4FE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02082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F3E4E52-00F0-54E2-FD48-40D9012728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F0652B1-01A0-7525-71DC-AF6C66CA77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B4317C-A9C0-DABF-9ECC-F4C278BA6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54B7C-BB56-413E-B810-2C813983DA9F}" type="datetime1">
              <a:rPr lang="es-CL" smtClean="0"/>
              <a:t>04-02-2025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C8E65A-1933-BE0E-0B42-B7FD10BD2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2E72E1-F46E-4EC8-5EDA-16C76FD61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507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B83A7FC-CCAF-657A-9134-622A04081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F9CE1F5-B360-7B4E-85F7-2F655E508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75CF68-2D42-E3C4-F8D4-1097C836C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CFEF3F-D216-4BCC-8F6C-E5892356CE18}" type="datetime1">
              <a:rPr lang="es-CL" smtClean="0"/>
              <a:t>04-02-2025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670C4D-B350-24AD-97B5-E65CE2CF0D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E03AF5-27A0-9344-4AC8-72CD7EC581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912E12-9DF5-47E5-8760-6375B81A764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14264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EFF7AB35-C173-25B8-DBD0-1D35956CF792}"/>
              </a:ext>
            </a:extLst>
          </p:cNvPr>
          <p:cNvSpPr/>
          <p:nvPr/>
        </p:nvSpPr>
        <p:spPr>
          <a:xfrm>
            <a:off x="1676149" y="5893628"/>
            <a:ext cx="1848101" cy="814398"/>
          </a:xfrm>
          <a:prstGeom prst="roundRect">
            <a:avLst/>
          </a:prstGeom>
          <a:solidFill>
            <a:schemeClr val="tx2">
              <a:lumMod val="25000"/>
              <a:lumOff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A9296A2-0392-6E1B-A643-3E129D5B18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>
                <a:latin typeface="Bahnschrift" panose="020B0502040204020203" pitchFamily="34" charset="0"/>
              </a:rPr>
              <a:t>Reporte Etapa 1 </a:t>
            </a:r>
            <a:br>
              <a:rPr lang="es-MX" dirty="0">
                <a:latin typeface="Bahnschrift" panose="020B0502040204020203" pitchFamily="34" charset="0"/>
              </a:rPr>
            </a:br>
            <a:r>
              <a:rPr lang="es-MX" dirty="0">
                <a:latin typeface="Bahnschrift" panose="020B0502040204020203" pitchFamily="34" charset="0"/>
              </a:rPr>
              <a:t>Práctica H-TUM</a:t>
            </a:r>
            <a:endParaRPr lang="es-CL" dirty="0">
              <a:latin typeface="Bahnschrift" panose="020B0502040204020203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56188BD-8CE8-13CA-BCEF-83553E3240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8127" y="4237866"/>
            <a:ext cx="9144000" cy="1655762"/>
          </a:xfrm>
        </p:spPr>
        <p:txBody>
          <a:bodyPr>
            <a:normAutofit/>
          </a:bodyPr>
          <a:lstStyle/>
          <a:p>
            <a:r>
              <a:rPr lang="es-MX" sz="1800" dirty="0">
                <a:solidFill>
                  <a:schemeClr val="bg2">
                    <a:lumMod val="50000"/>
                  </a:schemeClr>
                </a:solidFill>
                <a:latin typeface="Bahnschrift SemiLight" panose="020B0502040204020203" pitchFamily="34" charset="0"/>
              </a:rPr>
              <a:t>Claudio López-Fernández</a:t>
            </a:r>
          </a:p>
          <a:p>
            <a:r>
              <a:rPr lang="es-MX" sz="1800" dirty="0" err="1">
                <a:solidFill>
                  <a:schemeClr val="bg2">
                    <a:lumMod val="50000"/>
                  </a:schemeClr>
                </a:solidFill>
                <a:latin typeface="Bahnschrift SemiLight" panose="020B0502040204020203" pitchFamily="34" charset="0"/>
              </a:rPr>
              <a:t>Vantaz</a:t>
            </a:r>
            <a:r>
              <a:rPr lang="es-MX" sz="1800" dirty="0">
                <a:solidFill>
                  <a:schemeClr val="bg2">
                    <a:lumMod val="50000"/>
                  </a:schemeClr>
                </a:solidFill>
                <a:latin typeface="Bahnschrift SemiLight" panose="020B0502040204020203" pitchFamily="34" charset="0"/>
              </a:rPr>
              <a:t> </a:t>
            </a:r>
            <a:r>
              <a:rPr lang="es-MX" sz="1800" dirty="0" err="1">
                <a:solidFill>
                  <a:schemeClr val="bg2">
                    <a:lumMod val="50000"/>
                  </a:schemeClr>
                </a:solidFill>
                <a:latin typeface="Bahnschrift SemiLight" panose="020B0502040204020203" pitchFamily="34" charset="0"/>
              </a:rPr>
              <a:t>Analytics</a:t>
            </a:r>
            <a:endParaRPr lang="es-MX" sz="1800" dirty="0">
              <a:solidFill>
                <a:schemeClr val="bg2">
                  <a:lumMod val="50000"/>
                </a:schemeClr>
              </a:solidFill>
              <a:latin typeface="Bahnschrift SemiLight" panose="020B0502040204020203" pitchFamily="34" charset="0"/>
            </a:endParaRPr>
          </a:p>
          <a:p>
            <a:r>
              <a:rPr lang="es-MX" sz="1800" dirty="0">
                <a:solidFill>
                  <a:schemeClr val="bg2">
                    <a:lumMod val="50000"/>
                  </a:schemeClr>
                </a:solidFill>
                <a:latin typeface="Bahnschrift SemiLight" panose="020B0502040204020203" pitchFamily="34" charset="0"/>
              </a:rPr>
              <a:t>Practicante</a:t>
            </a:r>
            <a:endParaRPr lang="es-CL" sz="1800" dirty="0">
              <a:solidFill>
                <a:schemeClr val="bg2">
                  <a:lumMod val="50000"/>
                </a:schemeClr>
              </a:solidFill>
              <a:latin typeface="Bahnschrift SemiLight" panose="020B0502040204020203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9E07455-A3B1-97CE-D245-99AB8E69D6C8}"/>
              </a:ext>
            </a:extLst>
          </p:cNvPr>
          <p:cNvSpPr/>
          <p:nvPr/>
        </p:nvSpPr>
        <p:spPr>
          <a:xfrm>
            <a:off x="-1" y="0"/>
            <a:ext cx="1445623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3B7188C-4D84-E7A1-BFB1-B4C9223FB9E2}"/>
              </a:ext>
            </a:extLst>
          </p:cNvPr>
          <p:cNvSpPr/>
          <p:nvPr/>
        </p:nvSpPr>
        <p:spPr>
          <a:xfrm>
            <a:off x="10746376" y="0"/>
            <a:ext cx="1445623" cy="685800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8" name="Imagen 7" descr="Imagen que contiene Texto&#10;&#10;Descripción generada automáticamente">
            <a:extLst>
              <a:ext uri="{FF2B5EF4-FFF2-40B4-BE49-F238E27FC236}">
                <a16:creationId xmlns:a16="http://schemas.microsoft.com/office/drawing/2014/main" id="{FDE82C8B-0189-7A9A-C3F4-A0DE317251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0743" y="6080910"/>
            <a:ext cx="1058911" cy="439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760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48495BBF-0C43-DF07-D7C5-41D7F7A09B21}"/>
              </a:ext>
            </a:extLst>
          </p:cNvPr>
          <p:cNvSpPr/>
          <p:nvPr/>
        </p:nvSpPr>
        <p:spPr>
          <a:xfrm>
            <a:off x="-1" y="0"/>
            <a:ext cx="222504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9CD9AA-9D2A-D38F-B0FC-98A3BFA92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3162" y="1403260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70000"/>
              </a:lnSpc>
            </a:pPr>
            <a:r>
              <a:rPr lang="es-MX" dirty="0">
                <a:latin typeface="Bahnschrift SemiLight" panose="020B0502040204020203" pitchFamily="34" charset="0"/>
              </a:rPr>
              <a:t>Contextualización problema</a:t>
            </a:r>
          </a:p>
          <a:p>
            <a:pPr>
              <a:lnSpc>
                <a:spcPct val="170000"/>
              </a:lnSpc>
            </a:pPr>
            <a:r>
              <a:rPr lang="es-MX" dirty="0">
                <a:latin typeface="Bahnschrift SemiLight" panose="020B0502040204020203" pitchFamily="34" charset="0"/>
              </a:rPr>
              <a:t>Objetivos</a:t>
            </a:r>
          </a:p>
          <a:p>
            <a:pPr>
              <a:lnSpc>
                <a:spcPct val="170000"/>
              </a:lnSpc>
            </a:pPr>
            <a:r>
              <a:rPr lang="es-MX" dirty="0">
                <a:latin typeface="Bahnschrift SemiLight" panose="020B0502040204020203" pitchFamily="34" charset="0"/>
              </a:rPr>
              <a:t>Descripción de los datos</a:t>
            </a:r>
          </a:p>
          <a:p>
            <a:pPr>
              <a:lnSpc>
                <a:spcPct val="170000"/>
              </a:lnSpc>
            </a:pPr>
            <a:r>
              <a:rPr lang="es-MX" dirty="0">
                <a:latin typeface="Bahnschrift SemiLight" panose="020B0502040204020203" pitchFamily="34" charset="0"/>
              </a:rPr>
              <a:t>Acercamiento</a:t>
            </a:r>
          </a:p>
          <a:p>
            <a:pPr>
              <a:lnSpc>
                <a:spcPct val="170000"/>
              </a:lnSpc>
            </a:pPr>
            <a:r>
              <a:rPr lang="es-MX" dirty="0">
                <a:latin typeface="Bahnschrift SemiLight" panose="020B0502040204020203" pitchFamily="34" charset="0"/>
              </a:rPr>
              <a:t>Resultados: Distribuciones, tendencias históricas, </a:t>
            </a:r>
            <a:r>
              <a:rPr lang="es-MX" dirty="0" err="1">
                <a:latin typeface="Bahnschrift SemiLight" panose="020B0502040204020203" pitchFamily="34" charset="0"/>
              </a:rPr>
              <a:t>insights</a:t>
            </a:r>
            <a:endParaRPr lang="es-MX" dirty="0">
              <a:latin typeface="Bahnschrift SemiLight" panose="020B0502040204020203" pitchFamily="34" charset="0"/>
            </a:endParaRPr>
          </a:p>
          <a:p>
            <a:pPr>
              <a:lnSpc>
                <a:spcPct val="170000"/>
              </a:lnSpc>
            </a:pPr>
            <a:r>
              <a:rPr lang="es-MX" dirty="0">
                <a:latin typeface="Bahnschrift SemiLight" panose="020B0502040204020203" pitchFamily="34" charset="0"/>
              </a:rPr>
              <a:t>Propuesta estructuras de datos  y variables clave</a:t>
            </a:r>
          </a:p>
          <a:p>
            <a:pPr>
              <a:lnSpc>
                <a:spcPct val="170000"/>
              </a:lnSpc>
            </a:pPr>
            <a:r>
              <a:rPr lang="es-CL" dirty="0">
                <a:latin typeface="Bahnschrift SemiLight" panose="020B0502040204020203" pitchFamily="34" charset="0"/>
              </a:rPr>
              <a:t>Siguientes pasos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60213F7-F9A6-560C-DF21-5C6A13565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2225040" cy="1325563"/>
          </a:xfrm>
        </p:spPr>
        <p:txBody>
          <a:bodyPr>
            <a:normAutofit/>
          </a:bodyPr>
          <a:lstStyle/>
          <a:p>
            <a:pPr algn="ctr"/>
            <a:r>
              <a:rPr lang="es-MX" sz="3200" dirty="0">
                <a:solidFill>
                  <a:schemeClr val="bg1"/>
                </a:solidFill>
                <a:latin typeface="Bahnschrift" panose="020B0502040204020203" pitchFamily="34" charset="0"/>
              </a:rPr>
              <a:t>Resumen</a:t>
            </a:r>
            <a:endParaRPr lang="es-CL" sz="3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E6868A-21FA-74C0-A2DE-116E5661C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84124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CB316-68F8-CE62-9C13-B1AF38443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E6751BFC-5577-ECA9-F5DD-71A3504C5F4E}"/>
              </a:ext>
            </a:extLst>
          </p:cNvPr>
          <p:cNvSpPr/>
          <p:nvPr/>
        </p:nvSpPr>
        <p:spPr>
          <a:xfrm>
            <a:off x="2856413" y="270556"/>
            <a:ext cx="2120536" cy="796834"/>
          </a:xfrm>
          <a:prstGeom prst="round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B10A6D1-92A8-70D9-CF74-FA7B34B027B9}"/>
              </a:ext>
            </a:extLst>
          </p:cNvPr>
          <p:cNvSpPr/>
          <p:nvPr/>
        </p:nvSpPr>
        <p:spPr>
          <a:xfrm>
            <a:off x="-1" y="0"/>
            <a:ext cx="222504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6A741EA-5F0C-60CD-4F12-22AB81CD0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9"/>
            <a:ext cx="2225040" cy="1261496"/>
          </a:xfrm>
        </p:spPr>
        <p:txBody>
          <a:bodyPr>
            <a:normAutofit/>
          </a:bodyPr>
          <a:lstStyle/>
          <a:p>
            <a:pPr algn="ctr"/>
            <a:r>
              <a:rPr lang="es-MX" sz="3200" dirty="0">
                <a:solidFill>
                  <a:schemeClr val="bg1"/>
                </a:solidFill>
                <a:latin typeface="Bahnschrift" panose="020B0502040204020203" pitchFamily="34" charset="0"/>
              </a:rPr>
              <a:t>Contexto</a:t>
            </a:r>
            <a:endParaRPr lang="es-CL" sz="3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A1285CE-94EB-73B2-4F27-3C3E93085196}"/>
              </a:ext>
            </a:extLst>
          </p:cNvPr>
          <p:cNvSpPr txBox="1"/>
          <p:nvPr/>
        </p:nvSpPr>
        <p:spPr>
          <a:xfrm>
            <a:off x="3448594" y="436498"/>
            <a:ext cx="1528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H-TUM</a:t>
            </a:r>
            <a:endParaRPr lang="es-CL" sz="24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D542D54F-4B09-AB21-D8F3-2BBF0B7492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615906"/>
              </p:ext>
            </p:extLst>
          </p:nvPr>
        </p:nvGraphicFramePr>
        <p:xfrm>
          <a:off x="2856413" y="1317883"/>
          <a:ext cx="8617121" cy="3223048"/>
        </p:xfrm>
        <a:graphic>
          <a:graphicData uri="http://schemas.openxmlformats.org/drawingml/2006/table">
            <a:tbl>
              <a:tblPr/>
              <a:tblGrid>
                <a:gridCol w="508195">
                  <a:extLst>
                    <a:ext uri="{9D8B030D-6E8A-4147-A177-3AD203B41FA5}">
                      <a16:colId xmlns:a16="http://schemas.microsoft.com/office/drawing/2014/main" val="3415868831"/>
                    </a:ext>
                  </a:extLst>
                </a:gridCol>
                <a:gridCol w="569177">
                  <a:extLst>
                    <a:ext uri="{9D8B030D-6E8A-4147-A177-3AD203B41FA5}">
                      <a16:colId xmlns:a16="http://schemas.microsoft.com/office/drawing/2014/main" val="3592119031"/>
                    </a:ext>
                  </a:extLst>
                </a:gridCol>
                <a:gridCol w="571025">
                  <a:extLst>
                    <a:ext uri="{9D8B030D-6E8A-4147-A177-3AD203B41FA5}">
                      <a16:colId xmlns:a16="http://schemas.microsoft.com/office/drawing/2014/main" val="1001321944"/>
                    </a:ext>
                  </a:extLst>
                </a:gridCol>
                <a:gridCol w="571025">
                  <a:extLst>
                    <a:ext uri="{9D8B030D-6E8A-4147-A177-3AD203B41FA5}">
                      <a16:colId xmlns:a16="http://schemas.microsoft.com/office/drawing/2014/main" val="1689997947"/>
                    </a:ext>
                  </a:extLst>
                </a:gridCol>
                <a:gridCol w="489714">
                  <a:extLst>
                    <a:ext uri="{9D8B030D-6E8A-4147-A177-3AD203B41FA5}">
                      <a16:colId xmlns:a16="http://schemas.microsoft.com/office/drawing/2014/main" val="1144565922"/>
                    </a:ext>
                  </a:extLst>
                </a:gridCol>
                <a:gridCol w="408403">
                  <a:extLst>
                    <a:ext uri="{9D8B030D-6E8A-4147-A177-3AD203B41FA5}">
                      <a16:colId xmlns:a16="http://schemas.microsoft.com/office/drawing/2014/main" val="1426312258"/>
                    </a:ext>
                  </a:extLst>
                </a:gridCol>
                <a:gridCol w="571025">
                  <a:extLst>
                    <a:ext uri="{9D8B030D-6E8A-4147-A177-3AD203B41FA5}">
                      <a16:colId xmlns:a16="http://schemas.microsoft.com/office/drawing/2014/main" val="2870387607"/>
                    </a:ext>
                  </a:extLst>
                </a:gridCol>
                <a:gridCol w="571025">
                  <a:extLst>
                    <a:ext uri="{9D8B030D-6E8A-4147-A177-3AD203B41FA5}">
                      <a16:colId xmlns:a16="http://schemas.microsoft.com/office/drawing/2014/main" val="4109404092"/>
                    </a:ext>
                  </a:extLst>
                </a:gridCol>
                <a:gridCol w="746583">
                  <a:extLst>
                    <a:ext uri="{9D8B030D-6E8A-4147-A177-3AD203B41FA5}">
                      <a16:colId xmlns:a16="http://schemas.microsoft.com/office/drawing/2014/main" val="3271696021"/>
                    </a:ext>
                  </a:extLst>
                </a:gridCol>
                <a:gridCol w="571025">
                  <a:extLst>
                    <a:ext uri="{9D8B030D-6E8A-4147-A177-3AD203B41FA5}">
                      <a16:colId xmlns:a16="http://schemas.microsoft.com/office/drawing/2014/main" val="2216664372"/>
                    </a:ext>
                  </a:extLst>
                </a:gridCol>
                <a:gridCol w="755824">
                  <a:extLst>
                    <a:ext uri="{9D8B030D-6E8A-4147-A177-3AD203B41FA5}">
                      <a16:colId xmlns:a16="http://schemas.microsoft.com/office/drawing/2014/main" val="1990394081"/>
                    </a:ext>
                  </a:extLst>
                </a:gridCol>
                <a:gridCol w="571025">
                  <a:extLst>
                    <a:ext uri="{9D8B030D-6E8A-4147-A177-3AD203B41FA5}">
                      <a16:colId xmlns:a16="http://schemas.microsoft.com/office/drawing/2014/main" val="2085142230"/>
                    </a:ext>
                  </a:extLst>
                </a:gridCol>
                <a:gridCol w="571025">
                  <a:extLst>
                    <a:ext uri="{9D8B030D-6E8A-4147-A177-3AD203B41FA5}">
                      <a16:colId xmlns:a16="http://schemas.microsoft.com/office/drawing/2014/main" val="815403653"/>
                    </a:ext>
                  </a:extLst>
                </a:gridCol>
                <a:gridCol w="571025">
                  <a:extLst>
                    <a:ext uri="{9D8B030D-6E8A-4147-A177-3AD203B41FA5}">
                      <a16:colId xmlns:a16="http://schemas.microsoft.com/office/drawing/2014/main" val="2318066499"/>
                    </a:ext>
                  </a:extLst>
                </a:gridCol>
                <a:gridCol w="571025">
                  <a:extLst>
                    <a:ext uri="{9D8B030D-6E8A-4147-A177-3AD203B41FA5}">
                      <a16:colId xmlns:a16="http://schemas.microsoft.com/office/drawing/2014/main" val="2005003094"/>
                    </a:ext>
                  </a:extLst>
                </a:gridCol>
              </a:tblGrid>
              <a:tr h="596752">
                <a:tc gridSpan="15">
                  <a:txBody>
                    <a:bodyPr/>
                    <a:lstStyle/>
                    <a:p>
                      <a:pPr algn="ctr" fontAlgn="ctr"/>
                      <a:r>
                        <a:rPr lang="es-CL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Tiempo Calendario</a:t>
                      </a:r>
                      <a:br>
                        <a:rPr lang="es-CL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s-CL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(TC)</a:t>
                      </a:r>
                    </a:p>
                  </a:txBody>
                  <a:tcPr marL="2255" marR="2255" marT="2255" marB="108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4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921"/>
                  </a:ext>
                </a:extLst>
              </a:tr>
              <a:tr h="596752">
                <a:tc gridSpan="14">
                  <a:txBody>
                    <a:bodyPr/>
                    <a:lstStyle/>
                    <a:p>
                      <a:pPr algn="ctr" fontAlgn="ctr"/>
                      <a:r>
                        <a:rPr lang="es-CL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Tiempo Programado</a:t>
                      </a:r>
                      <a:br>
                        <a:rPr lang="es-CL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s-CL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(TP)</a:t>
                      </a:r>
                    </a:p>
                  </a:txBody>
                  <a:tcPr marL="2255" marR="2255" marT="2255" marB="108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D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Tiempo No Planificado</a:t>
                      </a:r>
                      <a:b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(TNP)</a:t>
                      </a:r>
                    </a:p>
                  </a:txBody>
                  <a:tcPr marL="2255" marR="2255" marT="2255" marB="108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BC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969315"/>
                  </a:ext>
                </a:extLst>
              </a:tr>
              <a:tr h="596752">
                <a:tc gridSpan="11">
                  <a:txBody>
                    <a:bodyPr/>
                    <a:lstStyle/>
                    <a:p>
                      <a:pPr algn="ctr" fontAlgn="ctr"/>
                      <a: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Tiempo de Trabajo</a:t>
                      </a:r>
                      <a:b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(TT)</a:t>
                      </a:r>
                    </a:p>
                  </a:txBody>
                  <a:tcPr marL="2255" marR="2255" marT="2255" marB="108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4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Tiempo Demoras Externas</a:t>
                      </a:r>
                      <a:b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(TDE)</a:t>
                      </a:r>
                    </a:p>
                  </a:txBody>
                  <a:tcPr marL="2255" marR="2255" marT="2255" marB="108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9A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478297"/>
                  </a:ext>
                </a:extLst>
              </a:tr>
              <a:tr h="596752"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s-CL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Tiempo Disponible</a:t>
                      </a:r>
                      <a:br>
                        <a:rPr lang="es-CL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s-CL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(TD)</a:t>
                      </a:r>
                    </a:p>
                  </a:txBody>
                  <a:tcPr marL="2255" marR="2255" marT="2255" marB="108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B8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Tiempo Mantenimiento</a:t>
                      </a:r>
                      <a:b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(TM)</a:t>
                      </a:r>
                    </a:p>
                  </a:txBody>
                  <a:tcPr marL="2255" marR="2255" marT="2255" marB="108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807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Otra Demora Externa</a:t>
                      </a:r>
                      <a:b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(OE)</a:t>
                      </a:r>
                    </a:p>
                  </a:txBody>
                  <a:tcPr marL="2255" marR="2255" marT="2255" marB="108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Demora Eléctrica Externa</a:t>
                      </a:r>
                      <a:b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(EE)</a:t>
                      </a:r>
                    </a:p>
                  </a:txBody>
                  <a:tcPr marL="2255" marR="2255" marT="2255" marB="108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Demora Clima Externa</a:t>
                      </a:r>
                      <a:b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(CE)</a:t>
                      </a:r>
                    </a:p>
                  </a:txBody>
                  <a:tcPr marL="2255" marR="2255" marT="2255" marB="108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944704"/>
                  </a:ext>
                </a:extLst>
              </a:tr>
              <a:tr h="596752">
                <a:tc>
                  <a:txBody>
                    <a:bodyPr/>
                    <a:lstStyle/>
                    <a:p>
                      <a:pPr algn="ctr" fontAlgn="ctr"/>
                      <a: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Operativo Dinámico</a:t>
                      </a:r>
                      <a:b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(OD)</a:t>
                      </a:r>
                    </a:p>
                  </a:txBody>
                  <a:tcPr marL="2255" marR="2255" marT="2255" marB="108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Operativo No-dinámico</a:t>
                      </a:r>
                      <a:b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(ON)</a:t>
                      </a:r>
                    </a:p>
                  </a:txBody>
                  <a:tcPr marL="2255" marR="2255" marT="2255" marB="108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Demora Proceso</a:t>
                      </a:r>
                      <a:b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(DP)</a:t>
                      </a:r>
                    </a:p>
                  </a:txBody>
                  <a:tcPr marL="2255" marR="2255" marT="2255" marB="108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Demora No-Planificada</a:t>
                      </a:r>
                      <a:b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(DNP)</a:t>
                      </a:r>
                    </a:p>
                  </a:txBody>
                  <a:tcPr marL="2255" marR="2255" marT="2255" marB="108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Demora Laboral</a:t>
                      </a:r>
                      <a:b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(DL)</a:t>
                      </a:r>
                    </a:p>
                  </a:txBody>
                  <a:tcPr marL="2255" marR="2255" marT="2255" marB="108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Demora Reserva</a:t>
                      </a:r>
                      <a:b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(DR)</a:t>
                      </a:r>
                    </a:p>
                  </a:txBody>
                  <a:tcPr marL="2255" marR="2255" marT="2255" marB="108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Demora Consecuente</a:t>
                      </a:r>
                      <a:b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(DC)</a:t>
                      </a:r>
                    </a:p>
                  </a:txBody>
                  <a:tcPr marL="2255" marR="2255" marT="2255" marB="108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Mantenimiento Eléctrico No Planificado</a:t>
                      </a:r>
                      <a:b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(ME)</a:t>
                      </a:r>
                    </a:p>
                  </a:txBody>
                  <a:tcPr marL="2255" marR="2255" marT="2255" marB="108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Mantenimiento Mecánico No Planificado</a:t>
                      </a:r>
                      <a:b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s-CL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(MM)</a:t>
                      </a:r>
                    </a:p>
                  </a:txBody>
                  <a:tcPr marL="2255" marR="2255" marT="2255" marB="108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L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Mantenimiento Operacional No Planificado</a:t>
                      </a:r>
                      <a:br>
                        <a:rPr lang="es-CL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s-CL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(MO)</a:t>
                      </a:r>
                    </a:p>
                  </a:txBody>
                  <a:tcPr marL="2255" marR="2255" marT="2255" marB="108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L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Mantenimiento Planificado</a:t>
                      </a:r>
                      <a:br>
                        <a:rPr lang="es-CL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s-CL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(MP) </a:t>
                      </a:r>
                    </a:p>
                  </a:txBody>
                  <a:tcPr marL="2255" marR="2255" marT="2255" marB="108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401134"/>
                  </a:ext>
                </a:extLst>
              </a:tr>
            </a:tbl>
          </a:graphicData>
        </a:graphic>
      </p:graphicFrame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9673E1B3-BD1A-B7EF-D767-4B7BFBA69598}"/>
              </a:ext>
            </a:extLst>
          </p:cNvPr>
          <p:cNvSpPr/>
          <p:nvPr/>
        </p:nvSpPr>
        <p:spPr>
          <a:xfrm rot="16200000">
            <a:off x="6383383" y="5120174"/>
            <a:ext cx="971006" cy="313508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E07877E6-3944-B6D2-240C-93071BAF310D}"/>
              </a:ext>
            </a:extLst>
          </p:cNvPr>
          <p:cNvSpPr/>
          <p:nvPr/>
        </p:nvSpPr>
        <p:spPr>
          <a:xfrm rot="16200000">
            <a:off x="7034349" y="5120173"/>
            <a:ext cx="971006" cy="313508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BC5573B3-B091-67F1-E08E-67BA2B2E2748}"/>
              </a:ext>
            </a:extLst>
          </p:cNvPr>
          <p:cNvSpPr/>
          <p:nvPr/>
        </p:nvSpPr>
        <p:spPr>
          <a:xfrm rot="16200000">
            <a:off x="7685314" y="5120172"/>
            <a:ext cx="971006" cy="313508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330A30AC-4B12-3215-36EF-FD865F919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1462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1E3D9-B6A4-F63E-E2C2-F8E84E224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AE0D01F-8309-D99E-F32C-F77C2C0F5387}"/>
              </a:ext>
            </a:extLst>
          </p:cNvPr>
          <p:cNvSpPr/>
          <p:nvPr/>
        </p:nvSpPr>
        <p:spPr>
          <a:xfrm>
            <a:off x="-1" y="0"/>
            <a:ext cx="222504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BF9FA9A-4063-812D-0F97-552776170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9"/>
            <a:ext cx="2225040" cy="1261496"/>
          </a:xfrm>
        </p:spPr>
        <p:txBody>
          <a:bodyPr>
            <a:normAutofit/>
          </a:bodyPr>
          <a:lstStyle/>
          <a:p>
            <a:pPr algn="ctr"/>
            <a:r>
              <a:rPr lang="es-MX" sz="3200" dirty="0">
                <a:solidFill>
                  <a:schemeClr val="bg1"/>
                </a:solidFill>
                <a:latin typeface="Bahnschrift" panose="020B0502040204020203" pitchFamily="34" charset="0"/>
              </a:rPr>
              <a:t>Objetivos</a:t>
            </a:r>
            <a:endParaRPr lang="es-CL" sz="3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8A70117-3A51-F9BA-A75B-CD89B153D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4</a:t>
            </a:fld>
            <a:endParaRPr lang="es-CL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F9F72C20-F62C-D14F-D6D7-AA3EE6C1B29A}"/>
              </a:ext>
            </a:extLst>
          </p:cNvPr>
          <p:cNvSpPr/>
          <p:nvPr/>
        </p:nvSpPr>
        <p:spPr>
          <a:xfrm>
            <a:off x="4597036" y="927761"/>
            <a:ext cx="5458097" cy="1467394"/>
          </a:xfrm>
          <a:prstGeom prst="round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0E3582B-0D4D-6D51-1229-52C0DAA7C70B}"/>
              </a:ext>
            </a:extLst>
          </p:cNvPr>
          <p:cNvSpPr txBox="1"/>
          <p:nvPr/>
        </p:nvSpPr>
        <p:spPr>
          <a:xfrm>
            <a:off x="4868089" y="1153627"/>
            <a:ext cx="49159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Objetivo final proyecto: </a:t>
            </a:r>
          </a:p>
          <a:p>
            <a:r>
              <a:rPr lang="es-MX" sz="2000" dirty="0">
                <a:solidFill>
                  <a:schemeClr val="bg1"/>
                </a:solidFill>
                <a:latin typeface="Bahnschrift SemiLight" panose="020B0502040204020203" pitchFamily="34" charset="0"/>
              </a:rPr>
              <a:t>Generar un modelo predictivo utilizable por el cliente.</a:t>
            </a:r>
            <a:endParaRPr lang="es-CL" sz="2000" dirty="0">
              <a:solidFill>
                <a:schemeClr val="bg1"/>
              </a:solidFill>
              <a:latin typeface="Bahnschrift SemiLight" panose="020B0502040204020203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2BEE5AEA-7509-FB88-CD54-9F6ECF73EF9F}"/>
              </a:ext>
            </a:extLst>
          </p:cNvPr>
          <p:cNvSpPr/>
          <p:nvPr/>
        </p:nvSpPr>
        <p:spPr>
          <a:xfrm>
            <a:off x="2518955" y="4480261"/>
            <a:ext cx="4360818" cy="1467394"/>
          </a:xfrm>
          <a:prstGeom prst="round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B850421-1D20-6A9D-FC6E-E107F34F6531}"/>
              </a:ext>
            </a:extLst>
          </p:cNvPr>
          <p:cNvSpPr txBox="1"/>
          <p:nvPr/>
        </p:nvSpPr>
        <p:spPr>
          <a:xfrm>
            <a:off x="2790008" y="4706126"/>
            <a:ext cx="39276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Objetivo 1 Etapa 1: </a:t>
            </a:r>
          </a:p>
          <a:p>
            <a:r>
              <a:rPr lang="es-MX" sz="2000" dirty="0">
                <a:solidFill>
                  <a:schemeClr val="bg1"/>
                </a:solidFill>
                <a:latin typeface="Bahnschrift SemiLight" panose="020B0502040204020203" pitchFamily="34" charset="0"/>
              </a:rPr>
              <a:t>Análisis estadístico de los datos que alimentarán el modelo.</a:t>
            </a:r>
            <a:endParaRPr lang="es-CL" sz="2000" dirty="0">
              <a:solidFill>
                <a:schemeClr val="bg1"/>
              </a:solidFill>
              <a:latin typeface="Bahnschrift SemiLight" panose="020B0502040204020203" pitchFamily="34" charset="0"/>
            </a:endParaRPr>
          </a:p>
        </p:txBody>
      </p:sp>
      <p:sp>
        <p:nvSpPr>
          <p:cNvPr id="9" name="Flecha: hacia abajo 8">
            <a:extLst>
              <a:ext uri="{FF2B5EF4-FFF2-40B4-BE49-F238E27FC236}">
                <a16:creationId xmlns:a16="http://schemas.microsoft.com/office/drawing/2014/main" id="{C5760803-183F-BA6E-F309-893CE65CE954}"/>
              </a:ext>
            </a:extLst>
          </p:cNvPr>
          <p:cNvSpPr/>
          <p:nvPr/>
        </p:nvSpPr>
        <p:spPr>
          <a:xfrm>
            <a:off x="6670765" y="2704011"/>
            <a:ext cx="1105988" cy="1467394"/>
          </a:xfrm>
          <a:prstGeom prst="downArrow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0C8B3E93-9F16-95BC-4F62-5FB488768203}"/>
              </a:ext>
            </a:extLst>
          </p:cNvPr>
          <p:cNvSpPr/>
          <p:nvPr/>
        </p:nvSpPr>
        <p:spPr>
          <a:xfrm>
            <a:off x="7548155" y="4480261"/>
            <a:ext cx="4360818" cy="1467394"/>
          </a:xfrm>
          <a:prstGeom prst="round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C08DC28-FF95-A788-0F2E-C9353B75294D}"/>
              </a:ext>
            </a:extLst>
          </p:cNvPr>
          <p:cNvSpPr txBox="1"/>
          <p:nvPr/>
        </p:nvSpPr>
        <p:spPr>
          <a:xfrm>
            <a:off x="7819208" y="4706126"/>
            <a:ext cx="39276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Objetivo 2 Etapa 1: </a:t>
            </a:r>
          </a:p>
          <a:p>
            <a:r>
              <a:rPr lang="es-MX" sz="2000" dirty="0">
                <a:solidFill>
                  <a:schemeClr val="bg1"/>
                </a:solidFill>
                <a:latin typeface="Bahnschrift SemiLight" panose="020B0502040204020203" pitchFamily="34" charset="0"/>
              </a:rPr>
              <a:t>Análisis estructuras de datos a utilizar en el modelo.</a:t>
            </a:r>
            <a:endParaRPr lang="es-CL" sz="2000" dirty="0">
              <a:solidFill>
                <a:schemeClr val="bg1"/>
              </a:solidFill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959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646E7-BFE8-725B-023B-67E5181FA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5DD9E0BB-111C-1A20-3393-9168A1486B64}"/>
              </a:ext>
            </a:extLst>
          </p:cNvPr>
          <p:cNvSpPr/>
          <p:nvPr/>
        </p:nvSpPr>
        <p:spPr>
          <a:xfrm>
            <a:off x="-1" y="0"/>
            <a:ext cx="222504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46E639-9938-C2B9-732D-C7A8090F3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9"/>
            <a:ext cx="2225040" cy="1261496"/>
          </a:xfrm>
        </p:spPr>
        <p:txBody>
          <a:bodyPr>
            <a:normAutofit/>
          </a:bodyPr>
          <a:lstStyle/>
          <a:p>
            <a:pPr algn="ctr"/>
            <a:r>
              <a:rPr lang="es-MX" sz="3200" dirty="0">
                <a:solidFill>
                  <a:schemeClr val="bg1"/>
                </a:solidFill>
                <a:latin typeface="Bahnschrift" panose="020B0502040204020203" pitchFamily="34" charset="0"/>
              </a:rPr>
              <a:t>Datos</a:t>
            </a:r>
            <a:endParaRPr lang="es-CL" sz="3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13" name="Imagen 12" descr="Icono&#10;&#10;Descripción generada automáticamente">
            <a:extLst>
              <a:ext uri="{FF2B5EF4-FFF2-40B4-BE49-F238E27FC236}">
                <a16:creationId xmlns:a16="http://schemas.microsoft.com/office/drawing/2014/main" id="{173CF95D-EE1B-EB6D-9B94-D972051CA6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89" y="3616232"/>
            <a:ext cx="1865376" cy="1865376"/>
          </a:xfrm>
          <a:prstGeom prst="rect">
            <a:avLst/>
          </a:prstGeom>
        </p:spPr>
      </p:pic>
      <p:sp>
        <p:nvSpPr>
          <p:cNvPr id="52" name="Marcador de número de diapositiva 51">
            <a:extLst>
              <a:ext uri="{FF2B5EF4-FFF2-40B4-BE49-F238E27FC236}">
                <a16:creationId xmlns:a16="http://schemas.microsoft.com/office/drawing/2014/main" id="{7CEDEB65-914B-40C5-1C88-AC60D69EE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5</a:t>
            </a:fld>
            <a:endParaRPr lang="es-CL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FA7DF9A-61CF-8C60-63F8-7C1DDEA8E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959" y="255686"/>
            <a:ext cx="9492343" cy="1421170"/>
          </a:xfrm>
          <a:prstGeom prst="rect">
            <a:avLst/>
          </a:prstGeom>
        </p:spPr>
      </p:pic>
      <p:sp>
        <p:nvSpPr>
          <p:cNvPr id="11" name="Flecha: hacia abajo 10">
            <a:extLst>
              <a:ext uri="{FF2B5EF4-FFF2-40B4-BE49-F238E27FC236}">
                <a16:creationId xmlns:a16="http://schemas.microsoft.com/office/drawing/2014/main" id="{015FE4DE-1F3E-811B-4437-E639FDB2BDAF}"/>
              </a:ext>
            </a:extLst>
          </p:cNvPr>
          <p:cNvSpPr/>
          <p:nvPr/>
        </p:nvSpPr>
        <p:spPr>
          <a:xfrm rot="16200000">
            <a:off x="8019929" y="1224967"/>
            <a:ext cx="374467" cy="6647907"/>
          </a:xfrm>
          <a:prstGeom prst="downArrow">
            <a:avLst>
              <a:gd name="adj1" fmla="val 50000"/>
              <a:gd name="adj2" fmla="val 52255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04A443B3-6A64-145D-D0AF-A7E876D100DC}"/>
              </a:ext>
            </a:extLst>
          </p:cNvPr>
          <p:cNvCxnSpPr/>
          <p:nvPr/>
        </p:nvCxnSpPr>
        <p:spPr>
          <a:xfrm>
            <a:off x="5449765" y="4361686"/>
            <a:ext cx="0" cy="6015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D9B37E30-25E9-BAE9-D9C0-51979B81FA36}"/>
              </a:ext>
            </a:extLst>
          </p:cNvPr>
          <p:cNvCxnSpPr/>
          <p:nvPr/>
        </p:nvCxnSpPr>
        <p:spPr>
          <a:xfrm>
            <a:off x="6456485" y="4361686"/>
            <a:ext cx="0" cy="6015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B323D5DC-0F4D-0808-B5F8-A26A1FB1C8BF}"/>
              </a:ext>
            </a:extLst>
          </p:cNvPr>
          <p:cNvCxnSpPr/>
          <p:nvPr/>
        </p:nvCxnSpPr>
        <p:spPr>
          <a:xfrm>
            <a:off x="7432431" y="4385163"/>
            <a:ext cx="0" cy="6015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1AC38892-A8D1-F55E-8A49-3A83A029054A}"/>
              </a:ext>
            </a:extLst>
          </p:cNvPr>
          <p:cNvCxnSpPr/>
          <p:nvPr/>
        </p:nvCxnSpPr>
        <p:spPr>
          <a:xfrm>
            <a:off x="10232781" y="4395452"/>
            <a:ext cx="0" cy="6015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8DF941B-D372-1AC0-3BE5-E37D2F0E5A92}"/>
              </a:ext>
            </a:extLst>
          </p:cNvPr>
          <p:cNvSpPr txBox="1"/>
          <p:nvPr/>
        </p:nvSpPr>
        <p:spPr>
          <a:xfrm>
            <a:off x="5042388" y="5169877"/>
            <a:ext cx="866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400" dirty="0"/>
              <a:t>Estado 1000</a:t>
            </a:r>
            <a:endParaRPr lang="es-CL" sz="140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78F793F-EAE3-15FB-6FF0-F92BC77A0EB8}"/>
              </a:ext>
            </a:extLst>
          </p:cNvPr>
          <p:cNvSpPr txBox="1"/>
          <p:nvPr/>
        </p:nvSpPr>
        <p:spPr>
          <a:xfrm>
            <a:off x="6019130" y="5169876"/>
            <a:ext cx="866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400" dirty="0"/>
              <a:t>Estado 2200</a:t>
            </a:r>
            <a:endParaRPr lang="es-CL" sz="14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F9DFFF6E-BE89-DF58-1C39-D05A1898A50C}"/>
              </a:ext>
            </a:extLst>
          </p:cNvPr>
          <p:cNvSpPr txBox="1"/>
          <p:nvPr/>
        </p:nvSpPr>
        <p:spPr>
          <a:xfrm>
            <a:off x="6999410" y="5169875"/>
            <a:ext cx="866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400" dirty="0"/>
              <a:t>Estado 1000</a:t>
            </a:r>
            <a:endParaRPr lang="es-CL" sz="1400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3A60D71-2D07-5B3F-2B4E-1498078D5C9F}"/>
              </a:ext>
            </a:extLst>
          </p:cNvPr>
          <p:cNvSpPr txBox="1"/>
          <p:nvPr/>
        </p:nvSpPr>
        <p:spPr>
          <a:xfrm>
            <a:off x="9799760" y="5169874"/>
            <a:ext cx="866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400" dirty="0"/>
              <a:t>Estado 3301</a:t>
            </a:r>
            <a:endParaRPr lang="es-CL" sz="1400" dirty="0"/>
          </a:p>
        </p:txBody>
      </p:sp>
      <p:sp>
        <p:nvSpPr>
          <p:cNvPr id="36" name="Cerrar llave 35">
            <a:extLst>
              <a:ext uri="{FF2B5EF4-FFF2-40B4-BE49-F238E27FC236}">
                <a16:creationId xmlns:a16="http://schemas.microsoft.com/office/drawing/2014/main" id="{44EBFFA5-FE5B-41DB-F4C5-4853380C096D}"/>
              </a:ext>
            </a:extLst>
          </p:cNvPr>
          <p:cNvSpPr/>
          <p:nvPr/>
        </p:nvSpPr>
        <p:spPr>
          <a:xfrm rot="16200000">
            <a:off x="8682409" y="2700641"/>
            <a:ext cx="300394" cy="280035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E5B3B72E-3709-B9C5-17DB-F7A102BD1EC8}"/>
              </a:ext>
            </a:extLst>
          </p:cNvPr>
          <p:cNvSpPr txBox="1"/>
          <p:nvPr/>
        </p:nvSpPr>
        <p:spPr>
          <a:xfrm>
            <a:off x="7737231" y="3525715"/>
            <a:ext cx="2233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Bahnschrift SemiLight" panose="020B0502040204020203" pitchFamily="34" charset="0"/>
              </a:rPr>
              <a:t>Duración Horas</a:t>
            </a:r>
            <a:endParaRPr lang="es-CL" dirty="0">
              <a:latin typeface="Bahnschrift SemiLight" panose="020B0502040204020203" pitchFamily="34" charset="0"/>
            </a:endParaRPr>
          </a:p>
        </p:txBody>
      </p:sp>
      <p:sp>
        <p:nvSpPr>
          <p:cNvPr id="38" name="Flecha: hacia abajo 37">
            <a:extLst>
              <a:ext uri="{FF2B5EF4-FFF2-40B4-BE49-F238E27FC236}">
                <a16:creationId xmlns:a16="http://schemas.microsoft.com/office/drawing/2014/main" id="{7B6E0E0C-1999-0A56-CB5A-1EC29729C5C9}"/>
              </a:ext>
            </a:extLst>
          </p:cNvPr>
          <p:cNvSpPr/>
          <p:nvPr/>
        </p:nvSpPr>
        <p:spPr>
          <a:xfrm>
            <a:off x="5633670" y="2013438"/>
            <a:ext cx="549520" cy="914400"/>
          </a:xfrm>
          <a:prstGeom prst="downArrow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97240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4FBA1-1123-9418-71CA-5C8C1BF6C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2AFA997-42BB-C320-4D5E-9159D0FF1C65}"/>
              </a:ext>
            </a:extLst>
          </p:cNvPr>
          <p:cNvSpPr/>
          <p:nvPr/>
        </p:nvSpPr>
        <p:spPr>
          <a:xfrm>
            <a:off x="-1" y="0"/>
            <a:ext cx="222504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B628B86-EB76-A5FA-2A65-5EF788847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9"/>
            <a:ext cx="2221523" cy="1261496"/>
          </a:xfrm>
        </p:spPr>
        <p:txBody>
          <a:bodyPr>
            <a:norm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Acercamiento</a:t>
            </a:r>
            <a:endParaRPr lang="es-CL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Marcador de número de diapositiva 51">
            <a:extLst>
              <a:ext uri="{FF2B5EF4-FFF2-40B4-BE49-F238E27FC236}">
                <a16:creationId xmlns:a16="http://schemas.microsoft.com/office/drawing/2014/main" id="{D41F8105-4D65-F12A-8EF2-51C9912EE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6</a:t>
            </a:fld>
            <a:endParaRPr lang="es-CL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ADAB1CB-D485-230E-D2C4-671596C893BA}"/>
              </a:ext>
            </a:extLst>
          </p:cNvPr>
          <p:cNvSpPr/>
          <p:nvPr/>
        </p:nvSpPr>
        <p:spPr>
          <a:xfrm>
            <a:off x="2571386" y="2766219"/>
            <a:ext cx="5458097" cy="1467394"/>
          </a:xfrm>
          <a:prstGeom prst="round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A52C3FE-954D-348A-2ABE-04F3024B9745}"/>
              </a:ext>
            </a:extLst>
          </p:cNvPr>
          <p:cNvSpPr txBox="1"/>
          <p:nvPr/>
        </p:nvSpPr>
        <p:spPr>
          <a:xfrm>
            <a:off x="2842439" y="2992084"/>
            <a:ext cx="49159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Escalas temporales:</a:t>
            </a:r>
          </a:p>
          <a:p>
            <a:r>
              <a:rPr lang="es-MX" sz="2000" dirty="0">
                <a:solidFill>
                  <a:schemeClr val="bg1"/>
                </a:solidFill>
                <a:latin typeface="Bahnschrift SemiLight" panose="020B0502040204020203" pitchFamily="34" charset="0"/>
              </a:rPr>
              <a:t>Ventanas de tiempo relevantes para observar resultados</a:t>
            </a:r>
            <a:endParaRPr lang="es-CL" sz="2000" dirty="0">
              <a:solidFill>
                <a:schemeClr val="bg1"/>
              </a:solidFill>
              <a:latin typeface="Bahnschrift SemiLight" panose="020B0502040204020203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74D5EFB2-EE04-C261-E78F-C736C5C317B9}"/>
              </a:ext>
            </a:extLst>
          </p:cNvPr>
          <p:cNvSpPr/>
          <p:nvPr/>
        </p:nvSpPr>
        <p:spPr>
          <a:xfrm>
            <a:off x="5895703" y="664369"/>
            <a:ext cx="5458097" cy="1467394"/>
          </a:xfrm>
          <a:prstGeom prst="round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39C53D3-6B0D-AAE7-565E-421671D005A7}"/>
              </a:ext>
            </a:extLst>
          </p:cNvPr>
          <p:cNvSpPr txBox="1"/>
          <p:nvPr/>
        </p:nvSpPr>
        <p:spPr>
          <a:xfrm>
            <a:off x="6166756" y="1044123"/>
            <a:ext cx="49159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Granularidad:</a:t>
            </a:r>
          </a:p>
          <a:p>
            <a:r>
              <a:rPr lang="es-MX" sz="2000" dirty="0">
                <a:solidFill>
                  <a:schemeClr val="bg1"/>
                </a:solidFill>
                <a:latin typeface="Bahnschrift SemiLight" panose="020B0502040204020203" pitchFamily="34" charset="0"/>
              </a:rPr>
              <a:t>Nivel de detalle de los registros</a:t>
            </a:r>
            <a:endParaRPr lang="es-CL" sz="2000" dirty="0">
              <a:solidFill>
                <a:schemeClr val="bg1"/>
              </a:solidFill>
              <a:latin typeface="Bahnschrift SemiLight" panose="020B0502040204020203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7C4AC84A-1652-F42E-71BA-BB642D549079}"/>
              </a:ext>
            </a:extLst>
          </p:cNvPr>
          <p:cNvSpPr/>
          <p:nvPr/>
        </p:nvSpPr>
        <p:spPr>
          <a:xfrm>
            <a:off x="5952853" y="4726238"/>
            <a:ext cx="5458097" cy="1467394"/>
          </a:xfrm>
          <a:prstGeom prst="round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A97F696-6BD4-00E2-DB25-C55DD31406BB}"/>
              </a:ext>
            </a:extLst>
          </p:cNvPr>
          <p:cNvSpPr txBox="1"/>
          <p:nvPr/>
        </p:nvSpPr>
        <p:spPr>
          <a:xfrm>
            <a:off x="6166756" y="4952103"/>
            <a:ext cx="49159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Estructura Grafo-Cadena:</a:t>
            </a:r>
          </a:p>
          <a:p>
            <a:r>
              <a:rPr lang="es-MX" sz="2000" dirty="0">
                <a:solidFill>
                  <a:schemeClr val="bg1"/>
                </a:solidFill>
                <a:latin typeface="Bahnschrift SemiLight" panose="020B0502040204020203" pitchFamily="34" charset="0"/>
              </a:rPr>
              <a:t>Observar la trayectoria en estructuras convenientes para el análisis</a:t>
            </a:r>
            <a:endParaRPr lang="es-CL" sz="2000" dirty="0">
              <a:solidFill>
                <a:schemeClr val="bg1"/>
              </a:solidFill>
              <a:latin typeface="Bahnschrift SemiLight" panose="020B0502040204020203" pitchFamily="34" charset="0"/>
            </a:endParaRPr>
          </a:p>
        </p:txBody>
      </p:sp>
      <p:sp>
        <p:nvSpPr>
          <p:cNvPr id="14" name="Diagrama de flujo: conector 13">
            <a:extLst>
              <a:ext uri="{FF2B5EF4-FFF2-40B4-BE49-F238E27FC236}">
                <a16:creationId xmlns:a16="http://schemas.microsoft.com/office/drawing/2014/main" id="{77FBE236-96C1-0EED-5EBA-EC908E4BDFF1}"/>
              </a:ext>
            </a:extLst>
          </p:cNvPr>
          <p:cNvSpPr/>
          <p:nvPr/>
        </p:nvSpPr>
        <p:spPr>
          <a:xfrm>
            <a:off x="2737302" y="942226"/>
            <a:ext cx="911677" cy="911677"/>
          </a:xfrm>
          <a:prstGeom prst="flowChartConnector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190D2C9-1010-0A07-608B-BC20E41EF4B8}"/>
              </a:ext>
            </a:extLst>
          </p:cNvPr>
          <p:cNvSpPr txBox="1"/>
          <p:nvPr/>
        </p:nvSpPr>
        <p:spPr>
          <a:xfrm>
            <a:off x="2767691" y="1213399"/>
            <a:ext cx="850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Bahnschrift SemiLight" panose="020B0502040204020203" pitchFamily="34" charset="0"/>
              </a:rPr>
              <a:t>2201</a:t>
            </a:r>
            <a:endParaRPr lang="es-CL" dirty="0">
              <a:latin typeface="Bahnschrift SemiLight" panose="020B0502040204020203" pitchFamily="34" charset="0"/>
            </a:endParaRPr>
          </a:p>
        </p:txBody>
      </p:sp>
      <p:sp>
        <p:nvSpPr>
          <p:cNvPr id="16" name="Diagrama de flujo: conector 15">
            <a:extLst>
              <a:ext uri="{FF2B5EF4-FFF2-40B4-BE49-F238E27FC236}">
                <a16:creationId xmlns:a16="http://schemas.microsoft.com/office/drawing/2014/main" id="{966BD80B-2217-958E-69BE-28BD184E13F4}"/>
              </a:ext>
            </a:extLst>
          </p:cNvPr>
          <p:cNvSpPr/>
          <p:nvPr/>
        </p:nvSpPr>
        <p:spPr>
          <a:xfrm>
            <a:off x="4506142" y="943292"/>
            <a:ext cx="911677" cy="911677"/>
          </a:xfrm>
          <a:prstGeom prst="flowChartConnector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932F890-DD89-D535-4EB7-3535F64B930A}"/>
              </a:ext>
            </a:extLst>
          </p:cNvPr>
          <p:cNvSpPr txBox="1"/>
          <p:nvPr/>
        </p:nvSpPr>
        <p:spPr>
          <a:xfrm>
            <a:off x="4536531" y="1214465"/>
            <a:ext cx="850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Bahnschrift SemiLight" panose="020B0502040204020203" pitchFamily="34" charset="0"/>
              </a:rPr>
              <a:t>22</a:t>
            </a:r>
            <a:endParaRPr lang="es-CL" dirty="0">
              <a:latin typeface="Bahnschrift SemiLight" panose="020B0502040204020203" pitchFamily="34" charset="0"/>
            </a:endParaRPr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0A644397-8D2A-C4C8-F9BA-FA65144F27EB}"/>
              </a:ext>
            </a:extLst>
          </p:cNvPr>
          <p:cNvSpPr/>
          <p:nvPr/>
        </p:nvSpPr>
        <p:spPr>
          <a:xfrm>
            <a:off x="3740150" y="1365250"/>
            <a:ext cx="673100" cy="95250"/>
          </a:xfrm>
          <a:prstGeom prst="rightArrow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3" name="Imagen 22" descr="Dibujo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41300F40-025F-BDEE-30AF-5483C579840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056"/>
          <a:stretch/>
        </p:blipFill>
        <p:spPr>
          <a:xfrm>
            <a:off x="8854440" y="2930435"/>
            <a:ext cx="2499360" cy="1097280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B4C54D5E-F43F-60E6-F79B-808D3A9AFCC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302" y="4436222"/>
            <a:ext cx="3018136" cy="211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325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EDDEA-A4AE-58F5-D994-66E87DAFF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ABCC5E2-B939-D514-7EA0-6841FEC61719}"/>
              </a:ext>
            </a:extLst>
          </p:cNvPr>
          <p:cNvSpPr/>
          <p:nvPr/>
        </p:nvSpPr>
        <p:spPr>
          <a:xfrm>
            <a:off x="-1" y="0"/>
            <a:ext cx="222504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6A9B221-C5EA-DF94-67A0-C46FF755C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9"/>
            <a:ext cx="2221523" cy="1261496"/>
          </a:xfrm>
        </p:spPr>
        <p:txBody>
          <a:bodyPr>
            <a:norm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Acercamiento</a:t>
            </a:r>
            <a:endParaRPr lang="es-CL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Marcador de número de diapositiva 51">
            <a:extLst>
              <a:ext uri="{FF2B5EF4-FFF2-40B4-BE49-F238E27FC236}">
                <a16:creationId xmlns:a16="http://schemas.microsoft.com/office/drawing/2014/main" id="{B4880B36-DD51-DFDC-6778-FFA5E1306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7</a:t>
            </a:fld>
            <a:endParaRPr lang="es-CL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F2C183D7-2405-77FA-1A13-D4EF4F60F201}"/>
              </a:ext>
            </a:extLst>
          </p:cNvPr>
          <p:cNvSpPr/>
          <p:nvPr/>
        </p:nvSpPr>
        <p:spPr>
          <a:xfrm>
            <a:off x="2571386" y="2766219"/>
            <a:ext cx="5458097" cy="1467394"/>
          </a:xfrm>
          <a:prstGeom prst="roundRect">
            <a:avLst/>
          </a:prstGeom>
          <a:solidFill>
            <a:schemeClr val="accent2">
              <a:alpha val="38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lt1">
                  <a:alpha val="25000"/>
                </a:schemeClr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727313E-CC88-7C03-5169-EE43832F8B99}"/>
              </a:ext>
            </a:extLst>
          </p:cNvPr>
          <p:cNvSpPr txBox="1"/>
          <p:nvPr/>
        </p:nvSpPr>
        <p:spPr>
          <a:xfrm>
            <a:off x="2842439" y="2992084"/>
            <a:ext cx="49159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chemeClr val="bg1">
                    <a:alpha val="25000"/>
                  </a:schemeClr>
                </a:solidFill>
                <a:latin typeface="Bahnschrift SemiBold SemiConden" panose="020B0502040204020203" pitchFamily="34" charset="0"/>
              </a:rPr>
              <a:t>Escalas temporales:</a:t>
            </a:r>
          </a:p>
          <a:p>
            <a:r>
              <a:rPr lang="es-MX" sz="2000" dirty="0">
                <a:solidFill>
                  <a:schemeClr val="bg1">
                    <a:alpha val="25000"/>
                  </a:schemeClr>
                </a:solidFill>
                <a:latin typeface="Bahnschrift SemiLight" panose="020B0502040204020203" pitchFamily="34" charset="0"/>
              </a:rPr>
              <a:t>Ventanas de tiempo relevantes para observar resultados</a:t>
            </a:r>
            <a:endParaRPr lang="es-CL" sz="2000" dirty="0">
              <a:solidFill>
                <a:schemeClr val="bg1">
                  <a:alpha val="25000"/>
                </a:schemeClr>
              </a:solidFill>
              <a:latin typeface="Bahnschrift SemiLight" panose="020B0502040204020203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57C929BB-1D56-4D1D-1E12-B882D52617C8}"/>
              </a:ext>
            </a:extLst>
          </p:cNvPr>
          <p:cNvSpPr/>
          <p:nvPr/>
        </p:nvSpPr>
        <p:spPr>
          <a:xfrm>
            <a:off x="5895703" y="664369"/>
            <a:ext cx="5458097" cy="1467394"/>
          </a:xfrm>
          <a:prstGeom prst="round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38C3FA5-0DDF-D3B5-AFA0-DD0A9EEB31E9}"/>
              </a:ext>
            </a:extLst>
          </p:cNvPr>
          <p:cNvSpPr txBox="1"/>
          <p:nvPr/>
        </p:nvSpPr>
        <p:spPr>
          <a:xfrm>
            <a:off x="6166756" y="1044123"/>
            <a:ext cx="49159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Granularidad:</a:t>
            </a:r>
          </a:p>
          <a:p>
            <a:r>
              <a:rPr lang="es-MX" sz="2000" dirty="0">
                <a:solidFill>
                  <a:schemeClr val="bg1"/>
                </a:solidFill>
                <a:latin typeface="Bahnschrift SemiLight" panose="020B0502040204020203" pitchFamily="34" charset="0"/>
              </a:rPr>
              <a:t>Nivel de detalle de los registros</a:t>
            </a:r>
            <a:endParaRPr lang="es-CL" sz="2000" dirty="0">
              <a:solidFill>
                <a:schemeClr val="bg1"/>
              </a:solidFill>
              <a:latin typeface="Bahnschrift SemiLight" panose="020B0502040204020203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EE07E3E6-3F0D-3724-2EA5-7C8463AA4BBE}"/>
              </a:ext>
            </a:extLst>
          </p:cNvPr>
          <p:cNvSpPr/>
          <p:nvPr/>
        </p:nvSpPr>
        <p:spPr>
          <a:xfrm>
            <a:off x="5952853" y="4726238"/>
            <a:ext cx="5458097" cy="1467394"/>
          </a:xfrm>
          <a:prstGeom prst="roundRect">
            <a:avLst/>
          </a:prstGeom>
          <a:solidFill>
            <a:schemeClr val="accent2">
              <a:alpha val="38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lt1">
                  <a:alpha val="25000"/>
                </a:schemeClr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5D0F0FF-C38E-9B02-8606-979360C60BAB}"/>
              </a:ext>
            </a:extLst>
          </p:cNvPr>
          <p:cNvSpPr txBox="1"/>
          <p:nvPr/>
        </p:nvSpPr>
        <p:spPr>
          <a:xfrm>
            <a:off x="6166756" y="4952103"/>
            <a:ext cx="49159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chemeClr val="bg1">
                    <a:alpha val="25000"/>
                  </a:schemeClr>
                </a:solidFill>
                <a:latin typeface="Bahnschrift SemiBold SemiConden" panose="020B0502040204020203" pitchFamily="34" charset="0"/>
              </a:rPr>
              <a:t>Estructura Grafo-Cadena:</a:t>
            </a:r>
          </a:p>
          <a:p>
            <a:r>
              <a:rPr lang="es-MX" sz="2000" dirty="0">
                <a:solidFill>
                  <a:schemeClr val="bg1">
                    <a:alpha val="25000"/>
                  </a:schemeClr>
                </a:solidFill>
                <a:latin typeface="Bahnschrift SemiLight" panose="020B0502040204020203" pitchFamily="34" charset="0"/>
              </a:rPr>
              <a:t>Observar la trayectoria en estructuras convenientes para el análisis</a:t>
            </a:r>
            <a:endParaRPr lang="es-CL" sz="2000" dirty="0">
              <a:solidFill>
                <a:schemeClr val="bg1">
                  <a:alpha val="25000"/>
                </a:schemeClr>
              </a:solidFill>
              <a:latin typeface="Bahnschrift SemiLight" panose="020B0502040204020203" pitchFamily="34" charset="0"/>
            </a:endParaRPr>
          </a:p>
        </p:txBody>
      </p:sp>
      <p:sp>
        <p:nvSpPr>
          <p:cNvPr id="14" name="Diagrama de flujo: conector 13">
            <a:extLst>
              <a:ext uri="{FF2B5EF4-FFF2-40B4-BE49-F238E27FC236}">
                <a16:creationId xmlns:a16="http://schemas.microsoft.com/office/drawing/2014/main" id="{743E6CE4-65EF-4772-6F8D-3F531A58160C}"/>
              </a:ext>
            </a:extLst>
          </p:cNvPr>
          <p:cNvSpPr/>
          <p:nvPr/>
        </p:nvSpPr>
        <p:spPr>
          <a:xfrm>
            <a:off x="2737302" y="942226"/>
            <a:ext cx="911677" cy="911677"/>
          </a:xfrm>
          <a:prstGeom prst="flowChartConnector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B4BC317-3EF2-7233-235B-586BF4D6C7EC}"/>
              </a:ext>
            </a:extLst>
          </p:cNvPr>
          <p:cNvSpPr txBox="1"/>
          <p:nvPr/>
        </p:nvSpPr>
        <p:spPr>
          <a:xfrm>
            <a:off x="2767691" y="1213399"/>
            <a:ext cx="850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Bahnschrift SemiLight" panose="020B0502040204020203" pitchFamily="34" charset="0"/>
              </a:rPr>
              <a:t>2201</a:t>
            </a:r>
            <a:endParaRPr lang="es-CL" dirty="0">
              <a:latin typeface="Bahnschrift SemiLight" panose="020B0502040204020203" pitchFamily="34" charset="0"/>
            </a:endParaRPr>
          </a:p>
        </p:txBody>
      </p:sp>
      <p:sp>
        <p:nvSpPr>
          <p:cNvPr id="16" name="Diagrama de flujo: conector 15">
            <a:extLst>
              <a:ext uri="{FF2B5EF4-FFF2-40B4-BE49-F238E27FC236}">
                <a16:creationId xmlns:a16="http://schemas.microsoft.com/office/drawing/2014/main" id="{018E7B85-0DCD-764F-FDA7-E8D919EDBD51}"/>
              </a:ext>
            </a:extLst>
          </p:cNvPr>
          <p:cNvSpPr/>
          <p:nvPr/>
        </p:nvSpPr>
        <p:spPr>
          <a:xfrm>
            <a:off x="4506142" y="943292"/>
            <a:ext cx="911677" cy="911677"/>
          </a:xfrm>
          <a:prstGeom prst="flowChartConnector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67346A9-0121-57A5-3331-50CD58DF0F36}"/>
              </a:ext>
            </a:extLst>
          </p:cNvPr>
          <p:cNvSpPr txBox="1"/>
          <p:nvPr/>
        </p:nvSpPr>
        <p:spPr>
          <a:xfrm>
            <a:off x="4536531" y="1214465"/>
            <a:ext cx="850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Bahnschrift SemiLight" panose="020B0502040204020203" pitchFamily="34" charset="0"/>
              </a:rPr>
              <a:t>22</a:t>
            </a:r>
            <a:endParaRPr lang="es-CL" dirty="0">
              <a:latin typeface="Bahnschrift SemiLight" panose="020B0502040204020203" pitchFamily="34" charset="0"/>
            </a:endParaRPr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ABE45462-ACFB-850D-24B9-08D33D9A883D}"/>
              </a:ext>
            </a:extLst>
          </p:cNvPr>
          <p:cNvSpPr/>
          <p:nvPr/>
        </p:nvSpPr>
        <p:spPr>
          <a:xfrm>
            <a:off x="3740150" y="1365250"/>
            <a:ext cx="673100" cy="95250"/>
          </a:xfrm>
          <a:prstGeom prst="rightArrow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3" name="Imagen 22" descr="Dibujo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A2CB0742-92FC-94ED-5740-016A7275556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056"/>
          <a:stretch/>
        </p:blipFill>
        <p:spPr>
          <a:xfrm>
            <a:off x="8854440" y="2930435"/>
            <a:ext cx="2499360" cy="1097280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8A71EBD5-9F59-36B7-8C16-E3BB13FB063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6000"/>
          </a:blip>
          <a:stretch>
            <a:fillRect/>
          </a:stretch>
        </p:blipFill>
        <p:spPr>
          <a:xfrm>
            <a:off x="2737302" y="4436222"/>
            <a:ext cx="3018136" cy="211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666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EEFF9-AB9F-47A5-16B8-7F9570020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E114B52-6D43-F121-736C-BC65DCAE3A2C}"/>
              </a:ext>
            </a:extLst>
          </p:cNvPr>
          <p:cNvSpPr/>
          <p:nvPr/>
        </p:nvSpPr>
        <p:spPr>
          <a:xfrm>
            <a:off x="-1" y="0"/>
            <a:ext cx="222504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22F247-8304-97EB-BF9E-88028A2A4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9"/>
            <a:ext cx="2221523" cy="1261496"/>
          </a:xfrm>
        </p:spPr>
        <p:txBody>
          <a:bodyPr>
            <a:norm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Acercamiento</a:t>
            </a:r>
            <a:endParaRPr lang="es-CL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Marcador de número de diapositiva 51">
            <a:extLst>
              <a:ext uri="{FF2B5EF4-FFF2-40B4-BE49-F238E27FC236}">
                <a16:creationId xmlns:a16="http://schemas.microsoft.com/office/drawing/2014/main" id="{A03EE138-14B5-4F92-8E51-4B6C13E99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8</a:t>
            </a:fld>
            <a:endParaRPr lang="es-CL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28DF6070-0344-2399-8448-91262504978D}"/>
              </a:ext>
            </a:extLst>
          </p:cNvPr>
          <p:cNvSpPr/>
          <p:nvPr/>
        </p:nvSpPr>
        <p:spPr>
          <a:xfrm>
            <a:off x="2571386" y="2766219"/>
            <a:ext cx="5458097" cy="146739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lt1">
                  <a:alpha val="25000"/>
                </a:schemeClr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7B00D83-5BC1-7267-CC81-46F37D16B964}"/>
              </a:ext>
            </a:extLst>
          </p:cNvPr>
          <p:cNvSpPr txBox="1"/>
          <p:nvPr/>
        </p:nvSpPr>
        <p:spPr>
          <a:xfrm>
            <a:off x="2842439" y="2992084"/>
            <a:ext cx="49159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Escalas temporales:</a:t>
            </a:r>
          </a:p>
          <a:p>
            <a:r>
              <a:rPr lang="es-MX" sz="2000" dirty="0">
                <a:solidFill>
                  <a:schemeClr val="bg1"/>
                </a:solidFill>
                <a:latin typeface="Bahnschrift SemiLight" panose="020B0502040204020203" pitchFamily="34" charset="0"/>
              </a:rPr>
              <a:t>Ventanas de tiempo relevantes para observar resultados</a:t>
            </a:r>
            <a:endParaRPr lang="es-CL" sz="2000" dirty="0">
              <a:solidFill>
                <a:schemeClr val="bg1"/>
              </a:solidFill>
              <a:latin typeface="Bahnschrift SemiLight" panose="020B0502040204020203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D60E424A-8516-B621-D557-D597F5AC39D7}"/>
              </a:ext>
            </a:extLst>
          </p:cNvPr>
          <p:cNvSpPr/>
          <p:nvPr/>
        </p:nvSpPr>
        <p:spPr>
          <a:xfrm>
            <a:off x="5895703" y="664369"/>
            <a:ext cx="5458097" cy="1467394"/>
          </a:xfrm>
          <a:prstGeom prst="roundRect">
            <a:avLst/>
          </a:prstGeom>
          <a:solidFill>
            <a:schemeClr val="accent2">
              <a:alpha val="38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0D74752-E015-B718-7A83-B85363E60CAC}"/>
              </a:ext>
            </a:extLst>
          </p:cNvPr>
          <p:cNvSpPr txBox="1"/>
          <p:nvPr/>
        </p:nvSpPr>
        <p:spPr>
          <a:xfrm>
            <a:off x="6166756" y="1044123"/>
            <a:ext cx="49159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chemeClr val="bg1">
                    <a:alpha val="25000"/>
                  </a:schemeClr>
                </a:solidFill>
                <a:latin typeface="Bahnschrift SemiBold SemiConden" panose="020B0502040204020203" pitchFamily="34" charset="0"/>
              </a:rPr>
              <a:t>Granularidad:</a:t>
            </a:r>
          </a:p>
          <a:p>
            <a:r>
              <a:rPr lang="es-MX" sz="2000" dirty="0">
                <a:solidFill>
                  <a:schemeClr val="bg1">
                    <a:alpha val="25000"/>
                  </a:schemeClr>
                </a:solidFill>
                <a:latin typeface="Bahnschrift SemiLight" panose="020B0502040204020203" pitchFamily="34" charset="0"/>
              </a:rPr>
              <a:t>Nivel de detalle de los registros</a:t>
            </a:r>
            <a:endParaRPr lang="es-CL" sz="2000" dirty="0">
              <a:solidFill>
                <a:schemeClr val="bg1">
                  <a:alpha val="25000"/>
                </a:schemeClr>
              </a:solidFill>
              <a:latin typeface="Bahnschrift SemiLight" panose="020B0502040204020203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DC9F3E3F-7506-D02E-C875-809949B0FB78}"/>
              </a:ext>
            </a:extLst>
          </p:cNvPr>
          <p:cNvSpPr/>
          <p:nvPr/>
        </p:nvSpPr>
        <p:spPr>
          <a:xfrm>
            <a:off x="5952853" y="4726238"/>
            <a:ext cx="5458097" cy="1467394"/>
          </a:xfrm>
          <a:prstGeom prst="roundRect">
            <a:avLst/>
          </a:prstGeom>
          <a:solidFill>
            <a:schemeClr val="accent2">
              <a:alpha val="38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lt1">
                  <a:alpha val="25000"/>
                </a:schemeClr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27A234B-CAC3-96CE-1CBA-1BC14A1983E3}"/>
              </a:ext>
            </a:extLst>
          </p:cNvPr>
          <p:cNvSpPr txBox="1"/>
          <p:nvPr/>
        </p:nvSpPr>
        <p:spPr>
          <a:xfrm>
            <a:off x="6166756" y="4952103"/>
            <a:ext cx="49159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chemeClr val="bg1">
                    <a:alpha val="25000"/>
                  </a:schemeClr>
                </a:solidFill>
                <a:latin typeface="Bahnschrift SemiBold SemiConden" panose="020B0502040204020203" pitchFamily="34" charset="0"/>
              </a:rPr>
              <a:t>Estructura Grafo-Cadena:</a:t>
            </a:r>
          </a:p>
          <a:p>
            <a:r>
              <a:rPr lang="es-MX" sz="2000" dirty="0">
                <a:solidFill>
                  <a:schemeClr val="bg1">
                    <a:alpha val="25000"/>
                  </a:schemeClr>
                </a:solidFill>
                <a:latin typeface="Bahnschrift SemiLight" panose="020B0502040204020203" pitchFamily="34" charset="0"/>
              </a:rPr>
              <a:t>Observar la trayectoria en estructuras convenientes para el análisis</a:t>
            </a:r>
            <a:endParaRPr lang="es-CL" sz="2000" dirty="0">
              <a:solidFill>
                <a:schemeClr val="bg1">
                  <a:alpha val="25000"/>
                </a:schemeClr>
              </a:solidFill>
              <a:latin typeface="Bahnschrift SemiLight" panose="020B0502040204020203" pitchFamily="34" charset="0"/>
            </a:endParaRPr>
          </a:p>
        </p:txBody>
      </p:sp>
      <p:sp>
        <p:nvSpPr>
          <p:cNvPr id="14" name="Diagrama de flujo: conector 13">
            <a:extLst>
              <a:ext uri="{FF2B5EF4-FFF2-40B4-BE49-F238E27FC236}">
                <a16:creationId xmlns:a16="http://schemas.microsoft.com/office/drawing/2014/main" id="{4FCBAC91-1C95-BF5B-7CB0-564149366E54}"/>
              </a:ext>
            </a:extLst>
          </p:cNvPr>
          <p:cNvSpPr/>
          <p:nvPr/>
        </p:nvSpPr>
        <p:spPr>
          <a:xfrm>
            <a:off x="2737302" y="942226"/>
            <a:ext cx="911677" cy="911677"/>
          </a:xfrm>
          <a:prstGeom prst="flowChartConnector">
            <a:avLst/>
          </a:prstGeom>
          <a:noFill/>
          <a:ln>
            <a:solidFill>
              <a:schemeClr val="accent1">
                <a:lumMod val="60000"/>
                <a:lumOff val="40000"/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lt1">
                  <a:alpha val="25000"/>
                </a:schemeClr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714421A-C1F7-AB1E-DA0C-B487D5CA3DF5}"/>
              </a:ext>
            </a:extLst>
          </p:cNvPr>
          <p:cNvSpPr txBox="1"/>
          <p:nvPr/>
        </p:nvSpPr>
        <p:spPr>
          <a:xfrm>
            <a:off x="2767691" y="1213399"/>
            <a:ext cx="850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solidFill>
                  <a:schemeClr val="tx1">
                    <a:alpha val="25000"/>
                  </a:schemeClr>
                </a:solidFill>
                <a:latin typeface="Bahnschrift SemiLight" panose="020B0502040204020203" pitchFamily="34" charset="0"/>
              </a:rPr>
              <a:t>2201</a:t>
            </a:r>
            <a:endParaRPr lang="es-CL" dirty="0">
              <a:solidFill>
                <a:schemeClr val="tx1">
                  <a:alpha val="25000"/>
                </a:schemeClr>
              </a:solidFill>
              <a:latin typeface="Bahnschrift SemiLight" panose="020B0502040204020203" pitchFamily="34" charset="0"/>
            </a:endParaRPr>
          </a:p>
        </p:txBody>
      </p:sp>
      <p:sp>
        <p:nvSpPr>
          <p:cNvPr id="16" name="Diagrama de flujo: conector 15">
            <a:extLst>
              <a:ext uri="{FF2B5EF4-FFF2-40B4-BE49-F238E27FC236}">
                <a16:creationId xmlns:a16="http://schemas.microsoft.com/office/drawing/2014/main" id="{AA5CF147-26F5-7AC6-DD83-AE0D42327810}"/>
              </a:ext>
            </a:extLst>
          </p:cNvPr>
          <p:cNvSpPr/>
          <p:nvPr/>
        </p:nvSpPr>
        <p:spPr>
          <a:xfrm>
            <a:off x="4506142" y="943292"/>
            <a:ext cx="911677" cy="911677"/>
          </a:xfrm>
          <a:prstGeom prst="flowChartConnector">
            <a:avLst/>
          </a:prstGeom>
          <a:noFill/>
          <a:ln>
            <a:solidFill>
              <a:schemeClr val="accent1">
                <a:lumMod val="60000"/>
                <a:lumOff val="40000"/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lt1">
                  <a:alpha val="25000"/>
                </a:schemeClr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4243617-478B-E694-8C6D-0D979038B7B9}"/>
              </a:ext>
            </a:extLst>
          </p:cNvPr>
          <p:cNvSpPr txBox="1"/>
          <p:nvPr/>
        </p:nvSpPr>
        <p:spPr>
          <a:xfrm>
            <a:off x="4536531" y="1214465"/>
            <a:ext cx="850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solidFill>
                  <a:schemeClr val="tx1">
                    <a:alpha val="25000"/>
                  </a:schemeClr>
                </a:solidFill>
                <a:latin typeface="Bahnschrift SemiLight" panose="020B0502040204020203" pitchFamily="34" charset="0"/>
              </a:rPr>
              <a:t>22</a:t>
            </a:r>
            <a:endParaRPr lang="es-CL" dirty="0">
              <a:solidFill>
                <a:schemeClr val="tx1">
                  <a:alpha val="25000"/>
                </a:schemeClr>
              </a:solidFill>
              <a:latin typeface="Bahnschrift SemiLight" panose="020B0502040204020203" pitchFamily="34" charset="0"/>
            </a:endParaRPr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FAB2E325-58CC-9B68-5326-47447B786CEA}"/>
              </a:ext>
            </a:extLst>
          </p:cNvPr>
          <p:cNvSpPr/>
          <p:nvPr/>
        </p:nvSpPr>
        <p:spPr>
          <a:xfrm>
            <a:off x="3740150" y="1365250"/>
            <a:ext cx="673100" cy="95250"/>
          </a:xfrm>
          <a:prstGeom prst="rightArrow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lt1">
                  <a:alpha val="25000"/>
                </a:schemeClr>
              </a:solidFill>
            </a:endParaRPr>
          </a:p>
        </p:txBody>
      </p:sp>
      <p:pic>
        <p:nvPicPr>
          <p:cNvPr id="23" name="Imagen 22" descr="Dibujo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876B0CB8-74AE-F530-8FED-F9E2E45055F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056"/>
          <a:stretch/>
        </p:blipFill>
        <p:spPr>
          <a:xfrm>
            <a:off x="8854440" y="2930435"/>
            <a:ext cx="2499360" cy="1097280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2EA24E72-161F-B62C-8B0C-BDE09989781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6000"/>
          </a:blip>
          <a:stretch>
            <a:fillRect/>
          </a:stretch>
        </p:blipFill>
        <p:spPr>
          <a:xfrm>
            <a:off x="2737302" y="4436222"/>
            <a:ext cx="3018136" cy="211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872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448FE-FF63-451B-143A-16AE4E27D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977F4FA-67E0-9C3F-3152-A21071BE7D3D}"/>
              </a:ext>
            </a:extLst>
          </p:cNvPr>
          <p:cNvSpPr/>
          <p:nvPr/>
        </p:nvSpPr>
        <p:spPr>
          <a:xfrm>
            <a:off x="-1" y="0"/>
            <a:ext cx="222504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285267D-971D-0862-3272-2FAB4405F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9"/>
            <a:ext cx="2221523" cy="1261496"/>
          </a:xfrm>
        </p:spPr>
        <p:txBody>
          <a:bodyPr>
            <a:norm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Acercamiento</a:t>
            </a:r>
            <a:endParaRPr lang="es-CL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Marcador de número de diapositiva 51">
            <a:extLst>
              <a:ext uri="{FF2B5EF4-FFF2-40B4-BE49-F238E27FC236}">
                <a16:creationId xmlns:a16="http://schemas.microsoft.com/office/drawing/2014/main" id="{D2643F91-5848-DB42-591B-BA89DF54C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9</a:t>
            </a:fld>
            <a:endParaRPr lang="es-CL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B7EC5D72-9864-7F5D-9A97-0393B7351E85}"/>
              </a:ext>
            </a:extLst>
          </p:cNvPr>
          <p:cNvSpPr/>
          <p:nvPr/>
        </p:nvSpPr>
        <p:spPr>
          <a:xfrm>
            <a:off x="2571386" y="2766219"/>
            <a:ext cx="5458097" cy="1467394"/>
          </a:xfrm>
          <a:prstGeom prst="roundRect">
            <a:avLst/>
          </a:prstGeom>
          <a:solidFill>
            <a:schemeClr val="accent2">
              <a:alpha val="38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lt1">
                  <a:alpha val="25000"/>
                </a:schemeClr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12C10DF-D5EE-877D-73FC-D1B838DE79CC}"/>
              </a:ext>
            </a:extLst>
          </p:cNvPr>
          <p:cNvSpPr txBox="1"/>
          <p:nvPr/>
        </p:nvSpPr>
        <p:spPr>
          <a:xfrm>
            <a:off x="2842439" y="2992084"/>
            <a:ext cx="49159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chemeClr val="bg1">
                    <a:alpha val="25000"/>
                  </a:schemeClr>
                </a:solidFill>
                <a:latin typeface="Bahnschrift SemiBold SemiConden" panose="020B0502040204020203" pitchFamily="34" charset="0"/>
              </a:rPr>
              <a:t>Escalas temporales:</a:t>
            </a:r>
          </a:p>
          <a:p>
            <a:r>
              <a:rPr lang="es-MX" sz="2000" dirty="0">
                <a:solidFill>
                  <a:schemeClr val="bg1">
                    <a:alpha val="25000"/>
                  </a:schemeClr>
                </a:solidFill>
                <a:latin typeface="Bahnschrift SemiLight" panose="020B0502040204020203" pitchFamily="34" charset="0"/>
              </a:rPr>
              <a:t>Ventanas de tiempo relevantes para observar resultados</a:t>
            </a:r>
            <a:endParaRPr lang="es-CL" sz="2000" dirty="0">
              <a:solidFill>
                <a:schemeClr val="bg1">
                  <a:alpha val="25000"/>
                </a:schemeClr>
              </a:solidFill>
              <a:latin typeface="Bahnschrift SemiLight" panose="020B0502040204020203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96EE7AAD-E0FA-6EDB-7B6D-FBA4337669F4}"/>
              </a:ext>
            </a:extLst>
          </p:cNvPr>
          <p:cNvSpPr/>
          <p:nvPr/>
        </p:nvSpPr>
        <p:spPr>
          <a:xfrm>
            <a:off x="5895703" y="664369"/>
            <a:ext cx="5458097" cy="1467394"/>
          </a:xfrm>
          <a:prstGeom prst="roundRect">
            <a:avLst/>
          </a:prstGeom>
          <a:solidFill>
            <a:schemeClr val="accent2">
              <a:alpha val="38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393728D-D6BF-3B44-6174-3AD57817369B}"/>
              </a:ext>
            </a:extLst>
          </p:cNvPr>
          <p:cNvSpPr txBox="1"/>
          <p:nvPr/>
        </p:nvSpPr>
        <p:spPr>
          <a:xfrm>
            <a:off x="6166756" y="1044123"/>
            <a:ext cx="49159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chemeClr val="bg1">
                    <a:alpha val="25000"/>
                  </a:schemeClr>
                </a:solidFill>
                <a:latin typeface="Bahnschrift SemiBold SemiConden" panose="020B0502040204020203" pitchFamily="34" charset="0"/>
              </a:rPr>
              <a:t>Granularidad:</a:t>
            </a:r>
          </a:p>
          <a:p>
            <a:r>
              <a:rPr lang="es-MX" sz="2000" dirty="0">
                <a:solidFill>
                  <a:schemeClr val="bg1">
                    <a:alpha val="25000"/>
                  </a:schemeClr>
                </a:solidFill>
                <a:latin typeface="Bahnschrift SemiLight" panose="020B0502040204020203" pitchFamily="34" charset="0"/>
              </a:rPr>
              <a:t>Nivel de detalle de los registros</a:t>
            </a:r>
            <a:endParaRPr lang="es-CL" sz="2000" dirty="0">
              <a:solidFill>
                <a:schemeClr val="bg1">
                  <a:alpha val="25000"/>
                </a:schemeClr>
              </a:solidFill>
              <a:latin typeface="Bahnschrift SemiLight" panose="020B0502040204020203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D93C0934-E9BF-3D3F-A119-96C520BB2BA3}"/>
              </a:ext>
            </a:extLst>
          </p:cNvPr>
          <p:cNvSpPr/>
          <p:nvPr/>
        </p:nvSpPr>
        <p:spPr>
          <a:xfrm>
            <a:off x="5952853" y="4726238"/>
            <a:ext cx="5458097" cy="146739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lt1">
                  <a:alpha val="25000"/>
                </a:schemeClr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FA2821A-8422-C430-99EC-EE668FC9CB77}"/>
              </a:ext>
            </a:extLst>
          </p:cNvPr>
          <p:cNvSpPr txBox="1"/>
          <p:nvPr/>
        </p:nvSpPr>
        <p:spPr>
          <a:xfrm>
            <a:off x="6166756" y="4952103"/>
            <a:ext cx="49159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Estructura Grafo-Cadena:</a:t>
            </a:r>
          </a:p>
          <a:p>
            <a:r>
              <a:rPr lang="es-MX" sz="2000" dirty="0">
                <a:solidFill>
                  <a:schemeClr val="bg1"/>
                </a:solidFill>
                <a:latin typeface="Bahnschrift SemiLight" panose="020B0502040204020203" pitchFamily="34" charset="0"/>
              </a:rPr>
              <a:t>Observar la trayectoria en estructuras convenientes para el análisis</a:t>
            </a:r>
            <a:endParaRPr lang="es-CL" sz="2000" dirty="0">
              <a:solidFill>
                <a:schemeClr val="bg1"/>
              </a:solidFill>
              <a:latin typeface="Bahnschrift SemiLight" panose="020B0502040204020203" pitchFamily="34" charset="0"/>
            </a:endParaRPr>
          </a:p>
        </p:txBody>
      </p:sp>
      <p:sp>
        <p:nvSpPr>
          <p:cNvPr id="14" name="Diagrama de flujo: conector 13">
            <a:extLst>
              <a:ext uri="{FF2B5EF4-FFF2-40B4-BE49-F238E27FC236}">
                <a16:creationId xmlns:a16="http://schemas.microsoft.com/office/drawing/2014/main" id="{0C7A72C8-A0F8-A43A-D76B-B41EF20348F6}"/>
              </a:ext>
            </a:extLst>
          </p:cNvPr>
          <p:cNvSpPr/>
          <p:nvPr/>
        </p:nvSpPr>
        <p:spPr>
          <a:xfrm>
            <a:off x="2737302" y="942226"/>
            <a:ext cx="911677" cy="911677"/>
          </a:xfrm>
          <a:prstGeom prst="flowChartConnector">
            <a:avLst/>
          </a:prstGeom>
          <a:noFill/>
          <a:ln>
            <a:solidFill>
              <a:schemeClr val="accent1">
                <a:lumMod val="60000"/>
                <a:lumOff val="40000"/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lt1">
                  <a:alpha val="25000"/>
                </a:schemeClr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6F34228-79F3-2623-ABE6-BBF2BF859712}"/>
              </a:ext>
            </a:extLst>
          </p:cNvPr>
          <p:cNvSpPr txBox="1"/>
          <p:nvPr/>
        </p:nvSpPr>
        <p:spPr>
          <a:xfrm>
            <a:off x="2767691" y="1213399"/>
            <a:ext cx="850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solidFill>
                  <a:schemeClr val="tx1">
                    <a:alpha val="25000"/>
                  </a:schemeClr>
                </a:solidFill>
                <a:latin typeface="Bahnschrift SemiLight" panose="020B0502040204020203" pitchFamily="34" charset="0"/>
              </a:rPr>
              <a:t>2201</a:t>
            </a:r>
            <a:endParaRPr lang="es-CL" dirty="0">
              <a:solidFill>
                <a:schemeClr val="tx1">
                  <a:alpha val="25000"/>
                </a:schemeClr>
              </a:solidFill>
              <a:latin typeface="Bahnschrift SemiLight" panose="020B0502040204020203" pitchFamily="34" charset="0"/>
            </a:endParaRPr>
          </a:p>
        </p:txBody>
      </p:sp>
      <p:sp>
        <p:nvSpPr>
          <p:cNvPr id="16" name="Diagrama de flujo: conector 15">
            <a:extLst>
              <a:ext uri="{FF2B5EF4-FFF2-40B4-BE49-F238E27FC236}">
                <a16:creationId xmlns:a16="http://schemas.microsoft.com/office/drawing/2014/main" id="{67537302-911D-62FC-8DD6-EB76ABF548D8}"/>
              </a:ext>
            </a:extLst>
          </p:cNvPr>
          <p:cNvSpPr/>
          <p:nvPr/>
        </p:nvSpPr>
        <p:spPr>
          <a:xfrm>
            <a:off x="4506142" y="943292"/>
            <a:ext cx="911677" cy="911677"/>
          </a:xfrm>
          <a:prstGeom prst="flowChartConnector">
            <a:avLst/>
          </a:prstGeom>
          <a:noFill/>
          <a:ln>
            <a:solidFill>
              <a:schemeClr val="accent1">
                <a:lumMod val="60000"/>
                <a:lumOff val="40000"/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lt1">
                  <a:alpha val="25000"/>
                </a:schemeClr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2669F9A-07E7-CCD4-F9E4-C5D97BC5CC35}"/>
              </a:ext>
            </a:extLst>
          </p:cNvPr>
          <p:cNvSpPr txBox="1"/>
          <p:nvPr/>
        </p:nvSpPr>
        <p:spPr>
          <a:xfrm>
            <a:off x="4536531" y="1214465"/>
            <a:ext cx="850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solidFill>
                  <a:schemeClr val="tx1">
                    <a:alpha val="25000"/>
                  </a:schemeClr>
                </a:solidFill>
                <a:latin typeface="Bahnschrift SemiLight" panose="020B0502040204020203" pitchFamily="34" charset="0"/>
              </a:rPr>
              <a:t>22</a:t>
            </a:r>
            <a:endParaRPr lang="es-CL" dirty="0">
              <a:solidFill>
                <a:schemeClr val="tx1">
                  <a:alpha val="25000"/>
                </a:schemeClr>
              </a:solidFill>
              <a:latin typeface="Bahnschrift SemiLight" panose="020B0502040204020203" pitchFamily="34" charset="0"/>
            </a:endParaRPr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7E6C0B3E-C5D5-8D06-14D9-60E3FCA9827E}"/>
              </a:ext>
            </a:extLst>
          </p:cNvPr>
          <p:cNvSpPr/>
          <p:nvPr/>
        </p:nvSpPr>
        <p:spPr>
          <a:xfrm>
            <a:off x="3740150" y="1365250"/>
            <a:ext cx="673100" cy="95250"/>
          </a:xfrm>
          <a:prstGeom prst="rightArrow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lt1">
                  <a:alpha val="25000"/>
                </a:schemeClr>
              </a:solidFill>
            </a:endParaRPr>
          </a:p>
        </p:txBody>
      </p:sp>
      <p:pic>
        <p:nvPicPr>
          <p:cNvPr id="23" name="Imagen 22" descr="Dibujo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B30053EB-6D07-10B0-D8E8-399E4332DE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056"/>
          <a:stretch/>
        </p:blipFill>
        <p:spPr>
          <a:xfrm>
            <a:off x="8854440" y="2930435"/>
            <a:ext cx="2499360" cy="1097280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FDAFCB48-8735-9156-1809-8CB7C485F1D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302" y="4436222"/>
            <a:ext cx="3018136" cy="211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860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BF3DA-7989-13EF-220A-23F99EC5F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04E94B2-8BB1-47E1-9F43-756DDE0BBE29}"/>
              </a:ext>
            </a:extLst>
          </p:cNvPr>
          <p:cNvSpPr/>
          <p:nvPr/>
        </p:nvSpPr>
        <p:spPr>
          <a:xfrm>
            <a:off x="-1" y="0"/>
            <a:ext cx="222504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8F2C24-603F-EA00-1B77-84B04334B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9"/>
            <a:ext cx="2221523" cy="1261496"/>
          </a:xfrm>
        </p:spPr>
        <p:txBody>
          <a:bodyPr>
            <a:norm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Resultados:</a:t>
            </a:r>
            <a:b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Calidad de los datos</a:t>
            </a:r>
            <a:endParaRPr lang="es-CL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Marcador de número de diapositiva 51">
            <a:extLst>
              <a:ext uri="{FF2B5EF4-FFF2-40B4-BE49-F238E27FC236}">
                <a16:creationId xmlns:a16="http://schemas.microsoft.com/office/drawing/2014/main" id="{7B79328A-985C-142D-0DEF-894CD09E2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10</a:t>
            </a:fld>
            <a:endParaRPr lang="es-CL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06F82F8-CCED-357F-E103-BC8DDF56893F}"/>
              </a:ext>
            </a:extLst>
          </p:cNvPr>
          <p:cNvSpPr txBox="1"/>
          <p:nvPr/>
        </p:nvSpPr>
        <p:spPr>
          <a:xfrm>
            <a:off x="2724150" y="752385"/>
            <a:ext cx="69913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400" dirty="0">
                <a:latin typeface="Bahnschrift SemiLight" panose="020B0502040204020203" pitchFamily="34" charset="0"/>
              </a:rPr>
              <a:t>Registros repetidos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400" dirty="0">
                <a:latin typeface="Bahnschrift SemiLight" panose="020B0502040204020203" pitchFamily="34" charset="0"/>
              </a:rPr>
              <a:t>Meses faltantes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400" dirty="0">
                <a:latin typeface="Bahnschrift SemiLight" panose="020B0502040204020203" pitchFamily="34" charset="0"/>
              </a:rPr>
              <a:t>Pocos equipos por flota</a:t>
            </a:r>
            <a:endParaRPr lang="es-CL" sz="2400" dirty="0">
              <a:latin typeface="Bahnschrift SemiLight" panose="020B0502040204020203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817369D-DCEE-CCCF-904D-B568EEAA3F81}"/>
              </a:ext>
            </a:extLst>
          </p:cNvPr>
          <p:cNvSpPr txBox="1"/>
          <p:nvPr/>
        </p:nvSpPr>
        <p:spPr>
          <a:xfrm>
            <a:off x="7924800" y="752385"/>
            <a:ext cx="69913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400" dirty="0">
                <a:latin typeface="Bahnschrift SemiLight" panose="020B0502040204020203" pitchFamily="34" charset="0"/>
              </a:rPr>
              <a:t>Unir registros por tiempo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400" dirty="0">
                <a:latin typeface="Bahnschrift SemiLight" panose="020B0502040204020203" pitchFamily="34" charset="0"/>
              </a:rPr>
              <a:t>Ignorar flotas</a:t>
            </a:r>
            <a:endParaRPr lang="es-CL" sz="2400" dirty="0">
              <a:latin typeface="Bahnschrift SemiLight" panose="020B0502040204020203" pitchFamily="34" charset="0"/>
            </a:endParaRPr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08BB0283-60CD-26D6-C860-AA391CBEBD1E}"/>
              </a:ext>
            </a:extLst>
          </p:cNvPr>
          <p:cNvSpPr/>
          <p:nvPr/>
        </p:nvSpPr>
        <p:spPr>
          <a:xfrm>
            <a:off x="6502400" y="1167883"/>
            <a:ext cx="1352550" cy="241817"/>
          </a:xfrm>
          <a:prstGeom prst="rightArrow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2" name="Imagen 21" descr="Icono&#10;&#10;Descripción generada automáticamente">
            <a:extLst>
              <a:ext uri="{FF2B5EF4-FFF2-40B4-BE49-F238E27FC236}">
                <a16:creationId xmlns:a16="http://schemas.microsoft.com/office/drawing/2014/main" id="{C1041E54-AF3F-804B-9E33-72D769E1C6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0662" y="4027715"/>
            <a:ext cx="1865376" cy="1865376"/>
          </a:xfrm>
          <a:prstGeom prst="rect">
            <a:avLst/>
          </a:prstGeom>
        </p:spPr>
      </p:pic>
      <p:graphicFrame>
        <p:nvGraphicFramePr>
          <p:cNvPr id="26" name="Tabla 25">
            <a:extLst>
              <a:ext uri="{FF2B5EF4-FFF2-40B4-BE49-F238E27FC236}">
                <a16:creationId xmlns:a16="http://schemas.microsoft.com/office/drawing/2014/main" id="{7F60AB0A-A44D-E731-EB6B-DAD6189689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533113"/>
              </p:ext>
            </p:extLst>
          </p:nvPr>
        </p:nvGraphicFramePr>
        <p:xfrm>
          <a:off x="7178675" y="4105602"/>
          <a:ext cx="458179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0899">
                  <a:extLst>
                    <a:ext uri="{9D8B030D-6E8A-4147-A177-3AD203B41FA5}">
                      <a16:colId xmlns:a16="http://schemas.microsoft.com/office/drawing/2014/main" val="2451695811"/>
                    </a:ext>
                  </a:extLst>
                </a:gridCol>
                <a:gridCol w="2290899">
                  <a:extLst>
                    <a:ext uri="{9D8B030D-6E8A-4147-A177-3AD203B41FA5}">
                      <a16:colId xmlns:a16="http://schemas.microsoft.com/office/drawing/2014/main" val="16926775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Bahnschrift SemiBold SemiConden" panose="020B0502040204020203" pitchFamily="34" charset="0"/>
                        </a:rPr>
                        <a:t>Flota</a:t>
                      </a:r>
                      <a:endParaRPr lang="es-CL" dirty="0">
                        <a:latin typeface="Bahnschrift SemiBold SemiConden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Bahnschrift SemiBold SemiConden" panose="020B0502040204020203" pitchFamily="34" charset="0"/>
                        </a:rPr>
                        <a:t>Tamaño</a:t>
                      </a:r>
                      <a:endParaRPr lang="es-CL" dirty="0">
                        <a:latin typeface="Bahnschrift SemiBold SemiConden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404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0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8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9872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1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25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4105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3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10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8286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4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28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079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1066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6D891-DB6F-8660-B7E5-8A6869004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5E7C086E-610E-1646-41B6-FB2A91E2EE3C}"/>
              </a:ext>
            </a:extLst>
          </p:cNvPr>
          <p:cNvSpPr/>
          <p:nvPr/>
        </p:nvSpPr>
        <p:spPr>
          <a:xfrm>
            <a:off x="-1" y="0"/>
            <a:ext cx="222504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4516E34-8B24-B7C0-45BB-8141CA4A6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9"/>
            <a:ext cx="2221523" cy="1261496"/>
          </a:xfrm>
        </p:spPr>
        <p:txBody>
          <a:bodyPr>
            <a:norm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Resultados:</a:t>
            </a:r>
            <a:b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Tiempos</a:t>
            </a:r>
            <a:endParaRPr lang="es-CL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Marcador de número de diapositiva 51">
            <a:extLst>
              <a:ext uri="{FF2B5EF4-FFF2-40B4-BE49-F238E27FC236}">
                <a16:creationId xmlns:a16="http://schemas.microsoft.com/office/drawing/2014/main" id="{E37F6B8F-4532-212F-CC61-6294B0DC0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11</a:t>
            </a:fld>
            <a:endParaRPr lang="es-CL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8A0EB9FF-930B-1D09-D0BE-5ADB4E92D939}"/>
              </a:ext>
            </a:extLst>
          </p:cNvPr>
          <p:cNvSpPr/>
          <p:nvPr/>
        </p:nvSpPr>
        <p:spPr>
          <a:xfrm>
            <a:off x="2444990" y="181769"/>
            <a:ext cx="4581797" cy="1145381"/>
          </a:xfrm>
          <a:prstGeom prst="round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A40AA4E-A609-7F93-60C0-1F052CC8A5FA}"/>
              </a:ext>
            </a:extLst>
          </p:cNvPr>
          <p:cNvSpPr txBox="1"/>
          <p:nvPr/>
        </p:nvSpPr>
        <p:spPr>
          <a:xfrm>
            <a:off x="2538243" y="400516"/>
            <a:ext cx="49159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¿Existen diferencias en las distribuciones</a:t>
            </a:r>
          </a:p>
          <a:p>
            <a:r>
              <a:rPr lang="es-MX" sz="20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de estados en distintas escalas de tiempo?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06747825-475C-6E35-5F48-2A56960B4A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090"/>
          <a:stretch/>
        </p:blipFill>
        <p:spPr>
          <a:xfrm>
            <a:off x="4170315" y="3693500"/>
            <a:ext cx="6567832" cy="220488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A3B63D2D-3789-DFEB-44A6-E0A10191B3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10" t="37825" r="50451"/>
          <a:stretch/>
        </p:blipFill>
        <p:spPr>
          <a:xfrm>
            <a:off x="3894863" y="2049568"/>
            <a:ext cx="5820785" cy="118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973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866D4-29F0-0550-278B-7C11D0378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4FC3ED-09DD-01D3-7659-AB6121BBF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9"/>
            <a:ext cx="2221523" cy="1261496"/>
          </a:xfrm>
        </p:spPr>
        <p:txBody>
          <a:bodyPr>
            <a:norm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Resultados:</a:t>
            </a:r>
            <a:b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Tiempos</a:t>
            </a:r>
            <a:endParaRPr lang="es-CL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Marcador de número de diapositiva 51">
            <a:extLst>
              <a:ext uri="{FF2B5EF4-FFF2-40B4-BE49-F238E27FC236}">
                <a16:creationId xmlns:a16="http://schemas.microsoft.com/office/drawing/2014/main" id="{BC5A7D45-FA3F-7BC4-1970-979E5155B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12</a:t>
            </a:fld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5614D26-30DF-F178-3B8C-D01692A29353}"/>
              </a:ext>
            </a:extLst>
          </p:cNvPr>
          <p:cNvSpPr txBox="1"/>
          <p:nvPr/>
        </p:nvSpPr>
        <p:spPr>
          <a:xfrm>
            <a:off x="2538243" y="400516"/>
            <a:ext cx="49159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¿Existen diferencias en las distribuciones</a:t>
            </a:r>
          </a:p>
          <a:p>
            <a:r>
              <a:rPr lang="es-MX" sz="20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de estados en distintas escalas de tiempo?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E49E07D-B0DF-0112-2D2F-DF07E2732ACF}"/>
              </a:ext>
            </a:extLst>
          </p:cNvPr>
          <p:cNvSpPr txBox="1"/>
          <p:nvPr/>
        </p:nvSpPr>
        <p:spPr>
          <a:xfrm>
            <a:off x="1676122" y="405463"/>
            <a:ext cx="8798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latin typeface="Bahnschrift SemiBold SemiConden" panose="020B0502040204020203" pitchFamily="34" charset="0"/>
              </a:rPr>
              <a:t>Promedios de divergencias Jensen-Shannon a partir de una muestra de combinaciones año-mes-semana-día</a:t>
            </a:r>
            <a:endParaRPr lang="es-CL" sz="2400" dirty="0">
              <a:latin typeface="Bahnschrift SemiBold SemiConden" panose="020B0502040204020203" pitchFamily="34" charset="0"/>
            </a:endParaRPr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3598066D-1E3A-662D-C263-388FEB19A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236460"/>
            <a:ext cx="12192000" cy="3263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04E0A75-B1BC-749B-30D2-3012BF2179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090"/>
          <a:stretch/>
        </p:blipFill>
        <p:spPr>
          <a:xfrm>
            <a:off x="205237" y="5105559"/>
            <a:ext cx="4666012" cy="156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578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A7301-1E4D-59AF-C1BD-E4010293A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EABF3B-2172-7548-5724-27B5D096E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9"/>
            <a:ext cx="2221523" cy="1261496"/>
          </a:xfrm>
        </p:spPr>
        <p:txBody>
          <a:bodyPr>
            <a:norm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Resultados:</a:t>
            </a:r>
            <a:b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Tiempos</a:t>
            </a:r>
            <a:endParaRPr lang="es-CL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Marcador de número de diapositiva 51">
            <a:extLst>
              <a:ext uri="{FF2B5EF4-FFF2-40B4-BE49-F238E27FC236}">
                <a16:creationId xmlns:a16="http://schemas.microsoft.com/office/drawing/2014/main" id="{A456F1E6-0CDD-0410-54C2-195D68BB6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13</a:t>
            </a:fld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B00DB4F-2E9F-A792-A725-35D288C23C9F}"/>
              </a:ext>
            </a:extLst>
          </p:cNvPr>
          <p:cNvSpPr txBox="1"/>
          <p:nvPr/>
        </p:nvSpPr>
        <p:spPr>
          <a:xfrm>
            <a:off x="2538243" y="400516"/>
            <a:ext cx="49159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¿Existen diferencias en las distribuciones</a:t>
            </a:r>
          </a:p>
          <a:p>
            <a:r>
              <a:rPr lang="es-MX" sz="20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de estaos en distintas escalas de tiempo?</a:t>
            </a:r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2B44926A-5F6F-EF25-64CE-CE6895519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33664"/>
            <a:ext cx="12162574" cy="3255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7A94B056-2F0D-A091-0E46-D11800CB0629}"/>
              </a:ext>
            </a:extLst>
          </p:cNvPr>
          <p:cNvSpPr txBox="1"/>
          <p:nvPr/>
        </p:nvSpPr>
        <p:spPr>
          <a:xfrm>
            <a:off x="1696773" y="319543"/>
            <a:ext cx="8798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latin typeface="Bahnschrift SemiBold SemiConden" panose="020B0502040204020203" pitchFamily="34" charset="0"/>
              </a:rPr>
              <a:t>Desviación estándar de divergencias Jensen-Shannon a partir de una muestra de combinaciones año-mes-semana-día</a:t>
            </a:r>
            <a:endParaRPr lang="es-CL" sz="2400" dirty="0">
              <a:latin typeface="Bahnschrift SemiBold SemiConden" panose="020B0502040204020203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0880FCF-0959-8EAE-C6DB-1B934B0EA1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090"/>
          <a:stretch/>
        </p:blipFill>
        <p:spPr>
          <a:xfrm>
            <a:off x="205237" y="5105559"/>
            <a:ext cx="4666012" cy="156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270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6B9A8-C401-3C5A-2529-179A292C5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4172024-9F75-C4C9-7C2C-5A536DAE2146}"/>
              </a:ext>
            </a:extLst>
          </p:cNvPr>
          <p:cNvSpPr/>
          <p:nvPr/>
        </p:nvSpPr>
        <p:spPr>
          <a:xfrm>
            <a:off x="-1" y="0"/>
            <a:ext cx="222504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2746117-7DBC-B43F-8278-82C78B524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9"/>
            <a:ext cx="2221523" cy="1261496"/>
          </a:xfrm>
        </p:spPr>
        <p:txBody>
          <a:bodyPr>
            <a:norm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Resultados:</a:t>
            </a:r>
            <a:b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Tiempos</a:t>
            </a:r>
            <a:endParaRPr lang="es-CL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Marcador de número de diapositiva 51">
            <a:extLst>
              <a:ext uri="{FF2B5EF4-FFF2-40B4-BE49-F238E27FC236}">
                <a16:creationId xmlns:a16="http://schemas.microsoft.com/office/drawing/2014/main" id="{A56F3BF1-B0BB-B730-0F89-DC27E039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14</a:t>
            </a:fld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B330DDC-9CB7-C5FF-816E-737399290942}"/>
              </a:ext>
            </a:extLst>
          </p:cNvPr>
          <p:cNvSpPr txBox="1"/>
          <p:nvPr/>
        </p:nvSpPr>
        <p:spPr>
          <a:xfrm>
            <a:off x="2766843" y="400516"/>
            <a:ext cx="49159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¿Existen diferencias en la cantidad de reparaciones mensuales?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743E379-1110-7C6F-EE6E-A9EE49BE138D}"/>
              </a:ext>
            </a:extLst>
          </p:cNvPr>
          <p:cNvSpPr txBox="1"/>
          <p:nvPr/>
        </p:nvSpPr>
        <p:spPr>
          <a:xfrm>
            <a:off x="4171950" y="2459504"/>
            <a:ext cx="55562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 err="1">
                <a:latin typeface="Bahnschrift SemiBold SemiConden" panose="020B0502040204020203" pitchFamily="34" charset="0"/>
              </a:rPr>
              <a:t>Insights</a:t>
            </a:r>
            <a:r>
              <a:rPr lang="es-MX" sz="2000" dirty="0">
                <a:latin typeface="Bahnschrift SemiBold SemiConden" panose="020B0502040204020203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>
                <a:latin typeface="Bahnschrift SemiLight" panose="020B0502040204020203" pitchFamily="34" charset="0"/>
              </a:rPr>
              <a:t>Conclusiones sobre un mes son extensibles a todo el periodo.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>
                <a:latin typeface="Bahnschrift SemiLight" panose="020B0502040204020203" pitchFamily="34" charset="0"/>
              </a:rPr>
              <a:t>Observaciones semanales pueden ser críticas y no necesariamente reflejar el comportamiento general de un equipo en flotas 0 y 4, debido a su cercanía al límite de la categoría.</a:t>
            </a:r>
            <a:endParaRPr lang="es-CL" sz="2000" dirty="0"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900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B23FA-BE56-8240-0EE8-F009F060A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1F0B2A2-FC2E-4A08-0492-31FB73037A8C}"/>
              </a:ext>
            </a:extLst>
          </p:cNvPr>
          <p:cNvSpPr/>
          <p:nvPr/>
        </p:nvSpPr>
        <p:spPr>
          <a:xfrm>
            <a:off x="-1" y="0"/>
            <a:ext cx="222504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F3A97E1-481E-A4DB-C79B-FFDA19A6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9"/>
            <a:ext cx="2221523" cy="1261496"/>
          </a:xfrm>
        </p:spPr>
        <p:txBody>
          <a:bodyPr>
            <a:norm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Resultados:</a:t>
            </a:r>
            <a:b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Tiempos</a:t>
            </a:r>
            <a:endParaRPr lang="es-CL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Marcador de número de diapositiva 51">
            <a:extLst>
              <a:ext uri="{FF2B5EF4-FFF2-40B4-BE49-F238E27FC236}">
                <a16:creationId xmlns:a16="http://schemas.microsoft.com/office/drawing/2014/main" id="{3640656F-BD1E-0FB3-C1AB-19A6E1894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15</a:t>
            </a:fld>
            <a:endParaRPr lang="es-CL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07D245A-70C9-FB15-65A7-E3AE0AA396D8}"/>
              </a:ext>
            </a:extLst>
          </p:cNvPr>
          <p:cNvSpPr/>
          <p:nvPr/>
        </p:nvSpPr>
        <p:spPr>
          <a:xfrm>
            <a:off x="2444990" y="181769"/>
            <a:ext cx="4581797" cy="1145381"/>
          </a:xfrm>
          <a:prstGeom prst="round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393524F-304F-AC60-27A2-4A6A87D85865}"/>
              </a:ext>
            </a:extLst>
          </p:cNvPr>
          <p:cNvSpPr txBox="1"/>
          <p:nvPr/>
        </p:nvSpPr>
        <p:spPr>
          <a:xfrm>
            <a:off x="2785893" y="400516"/>
            <a:ext cx="49159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¿Existen diferencias en la cantidad de reparaciones mensuales?</a:t>
            </a:r>
          </a:p>
        </p:txBody>
      </p:sp>
      <p:pic>
        <p:nvPicPr>
          <p:cNvPr id="18433" name="Picture 1">
            <a:extLst>
              <a:ext uri="{FF2B5EF4-FFF2-40B4-BE49-F238E27FC236}">
                <a16:creationId xmlns:a16="http://schemas.microsoft.com/office/drawing/2014/main" id="{7DE08B6A-25B1-FBB5-26C5-08D595D11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7830" y="1779641"/>
            <a:ext cx="8157913" cy="4833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4151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8D063-38B9-3A92-A074-5C56505D6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B47C0BD-C76F-A1D5-55AE-CF28D0FEFC92}"/>
              </a:ext>
            </a:extLst>
          </p:cNvPr>
          <p:cNvSpPr/>
          <p:nvPr/>
        </p:nvSpPr>
        <p:spPr>
          <a:xfrm>
            <a:off x="-1" y="0"/>
            <a:ext cx="222504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623E3BF-32B7-E564-900D-D44A14123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9"/>
            <a:ext cx="2221523" cy="1261496"/>
          </a:xfrm>
        </p:spPr>
        <p:txBody>
          <a:bodyPr>
            <a:norm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Resultados:</a:t>
            </a:r>
            <a:b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Tiempos</a:t>
            </a:r>
            <a:endParaRPr lang="es-CL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Marcador de número de diapositiva 51">
            <a:extLst>
              <a:ext uri="{FF2B5EF4-FFF2-40B4-BE49-F238E27FC236}">
                <a16:creationId xmlns:a16="http://schemas.microsoft.com/office/drawing/2014/main" id="{B3875CBE-C877-5F72-C301-7960A4274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16</a:t>
            </a:fld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D35C5B4-7567-0936-E133-6B3B23633A23}"/>
              </a:ext>
            </a:extLst>
          </p:cNvPr>
          <p:cNvSpPr txBox="1"/>
          <p:nvPr/>
        </p:nvSpPr>
        <p:spPr>
          <a:xfrm>
            <a:off x="2766843" y="400516"/>
            <a:ext cx="49159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¿Existen diferencias en la cantidad de reparaciones mensuales?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EF6B645-59E1-70EA-C06D-22DC7393C536}"/>
              </a:ext>
            </a:extLst>
          </p:cNvPr>
          <p:cNvSpPr txBox="1"/>
          <p:nvPr/>
        </p:nvSpPr>
        <p:spPr>
          <a:xfrm>
            <a:off x="4171950" y="1214377"/>
            <a:ext cx="555625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 err="1">
                <a:latin typeface="Bahnschrift SemiBold SemiConden" panose="020B0502040204020203" pitchFamily="34" charset="0"/>
              </a:rPr>
              <a:t>Insights</a:t>
            </a:r>
            <a:r>
              <a:rPr lang="es-MX" sz="2000" dirty="0">
                <a:latin typeface="Bahnschrift SemiBold SemiConden" panose="020B0502040204020203" pitchFamily="34" charset="0"/>
              </a:rPr>
              <a:t>:</a:t>
            </a:r>
          </a:p>
          <a:p>
            <a:endParaRPr lang="es-MX" sz="2000" dirty="0">
              <a:latin typeface="Bahnschrift SemiBold SemiConden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>
                <a:latin typeface="Bahnschrift SemiLight" panose="020B0502040204020203" pitchFamily="34" charset="0"/>
              </a:rPr>
              <a:t>Del primer grafo se desprende que Julio (7) es un mes “representativo” (cercano al promedio) para hacer observaciones. Esto con el objetivo de reducir el coste computacional más adelante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>
                <a:latin typeface="Bahnschrift SemiLight" panose="020B0502040204020203" pitchFamily="34" charset="0"/>
              </a:rPr>
              <a:t>Asimismo, el primer mes de registros tiene considerablemente menos que el promedio (puede deberse a un efecto de la medición). Puede ser mejor obviar ese mes en particular en próximos análisis.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sz="2000" dirty="0">
              <a:latin typeface="Bahnschrift SemiLigh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sz="2000" dirty="0"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119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70AB3-2D87-6822-2AEC-E867D8A84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48E97FC-27B7-F078-BAA6-817170A9F2F0}"/>
              </a:ext>
            </a:extLst>
          </p:cNvPr>
          <p:cNvSpPr/>
          <p:nvPr/>
        </p:nvSpPr>
        <p:spPr>
          <a:xfrm>
            <a:off x="-1" y="0"/>
            <a:ext cx="222504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FEFF5F-5D9F-EFF4-9A5C-C89A56536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9"/>
            <a:ext cx="2221523" cy="1261496"/>
          </a:xfrm>
        </p:spPr>
        <p:txBody>
          <a:bodyPr>
            <a:norm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Resultados:</a:t>
            </a:r>
            <a:b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Tiempos</a:t>
            </a:r>
            <a:endParaRPr lang="es-CL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Marcador de número de diapositiva 51">
            <a:extLst>
              <a:ext uri="{FF2B5EF4-FFF2-40B4-BE49-F238E27FC236}">
                <a16:creationId xmlns:a16="http://schemas.microsoft.com/office/drawing/2014/main" id="{27EAF107-FD75-097C-5728-0A2F10C81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17</a:t>
            </a:fld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165548B-C0E9-A1B4-35F3-EF2256889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893" y="1876488"/>
            <a:ext cx="7900746" cy="4479862"/>
          </a:xfrm>
          <a:prstGeom prst="rect">
            <a:avLst/>
          </a:prstGeom>
        </p:spPr>
      </p:pic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CDF6826F-FF96-10AF-6948-3CB2A05B7613}"/>
              </a:ext>
            </a:extLst>
          </p:cNvPr>
          <p:cNvSpPr/>
          <p:nvPr/>
        </p:nvSpPr>
        <p:spPr>
          <a:xfrm>
            <a:off x="2444990" y="181769"/>
            <a:ext cx="4581797" cy="1145381"/>
          </a:xfrm>
          <a:prstGeom prst="round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D9D6B67-8642-8971-0699-0ECFC289E259}"/>
              </a:ext>
            </a:extLst>
          </p:cNvPr>
          <p:cNvSpPr txBox="1"/>
          <p:nvPr/>
        </p:nvSpPr>
        <p:spPr>
          <a:xfrm>
            <a:off x="2785893" y="400516"/>
            <a:ext cx="49159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¿Existen diferencias en la cantidad de reparaciones mensuales?</a:t>
            </a:r>
          </a:p>
        </p:txBody>
      </p:sp>
    </p:spTree>
    <p:extLst>
      <p:ext uri="{BB962C8B-B14F-4D97-AF65-F5344CB8AC3E}">
        <p14:creationId xmlns:p14="http://schemas.microsoft.com/office/powerpoint/2010/main" val="7302351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6B7D5-FC9F-3A23-1059-6A96DFA20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41A6518D-9683-1693-F924-79D0F0D88FB6}"/>
              </a:ext>
            </a:extLst>
          </p:cNvPr>
          <p:cNvSpPr/>
          <p:nvPr/>
        </p:nvSpPr>
        <p:spPr>
          <a:xfrm>
            <a:off x="-1" y="0"/>
            <a:ext cx="222504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D4C582-DD11-A184-5912-784CB814B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9"/>
            <a:ext cx="2221523" cy="1261496"/>
          </a:xfrm>
        </p:spPr>
        <p:txBody>
          <a:bodyPr>
            <a:norm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Resultados:</a:t>
            </a:r>
            <a:b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Tiempos</a:t>
            </a:r>
            <a:endParaRPr lang="es-CL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Marcador de número de diapositiva 51">
            <a:extLst>
              <a:ext uri="{FF2B5EF4-FFF2-40B4-BE49-F238E27FC236}">
                <a16:creationId xmlns:a16="http://schemas.microsoft.com/office/drawing/2014/main" id="{D3E07BF1-E94E-F9D6-018B-BC6C80B3D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18</a:t>
            </a:fld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3148524-CD88-C858-B504-2D6C604B2D53}"/>
              </a:ext>
            </a:extLst>
          </p:cNvPr>
          <p:cNvSpPr txBox="1"/>
          <p:nvPr/>
        </p:nvSpPr>
        <p:spPr>
          <a:xfrm>
            <a:off x="2766843" y="400516"/>
            <a:ext cx="49159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¿Existen diferencias en la cantidad de reparaciones mensuales?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B83BF75-F87E-2FA4-4485-152894AB94D4}"/>
              </a:ext>
            </a:extLst>
          </p:cNvPr>
          <p:cNvSpPr txBox="1"/>
          <p:nvPr/>
        </p:nvSpPr>
        <p:spPr>
          <a:xfrm>
            <a:off x="4122073" y="2151727"/>
            <a:ext cx="55562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 err="1">
                <a:latin typeface="Bahnschrift SemiBold SemiConden" panose="020B0502040204020203" pitchFamily="34" charset="0"/>
              </a:rPr>
              <a:t>Insights</a:t>
            </a:r>
            <a:r>
              <a:rPr lang="es-MX" sz="2000" dirty="0">
                <a:latin typeface="Bahnschrift SemiBold SemiConden" panose="020B0502040204020203" pitchFamily="34" charset="0"/>
              </a:rPr>
              <a:t>:</a:t>
            </a:r>
          </a:p>
          <a:p>
            <a:endParaRPr lang="es-MX" sz="2000" dirty="0">
              <a:latin typeface="Bahnschrift SemiLight" panose="020B0502040204020203" pitchFamily="34" charset="0"/>
            </a:endParaRPr>
          </a:p>
          <a:p>
            <a:r>
              <a:rPr lang="es-MX" sz="2000" dirty="0">
                <a:latin typeface="Bahnschrift SemiLight" panose="020B0502040204020203" pitchFamily="34" charset="0"/>
              </a:rPr>
              <a:t>Del segundo gráfico se evidencia el hecho de que Flota 0 tiene registros faltantes los meses 4,5,6 por lo que es normal que represente anomalías más adelante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sz="2000" dirty="0">
              <a:latin typeface="Bahnschrift SemiLigh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sz="2000" dirty="0"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2903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E9320-92DE-731B-0180-22FD7C27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86FF4FF-B0D7-27F3-2FE3-4570DCADBBF1}"/>
              </a:ext>
            </a:extLst>
          </p:cNvPr>
          <p:cNvSpPr/>
          <p:nvPr/>
        </p:nvSpPr>
        <p:spPr>
          <a:xfrm>
            <a:off x="-1" y="0"/>
            <a:ext cx="222504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3A3ED62-6883-C87E-B292-3EDD3C9FF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9"/>
            <a:ext cx="2221523" cy="1261496"/>
          </a:xfrm>
        </p:spPr>
        <p:txBody>
          <a:bodyPr>
            <a:norm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Resultados:</a:t>
            </a:r>
            <a:b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Tiempos</a:t>
            </a:r>
            <a:endParaRPr lang="es-CL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Marcador de número de diapositiva 51">
            <a:extLst>
              <a:ext uri="{FF2B5EF4-FFF2-40B4-BE49-F238E27FC236}">
                <a16:creationId xmlns:a16="http://schemas.microsoft.com/office/drawing/2014/main" id="{FAD826B2-388C-B8E8-CC1E-D768553D6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19</a:t>
            </a:fld>
            <a:endParaRPr lang="es-CL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778249C-5D2E-A648-65E4-44F61EEB181B}"/>
              </a:ext>
            </a:extLst>
          </p:cNvPr>
          <p:cNvSpPr/>
          <p:nvPr/>
        </p:nvSpPr>
        <p:spPr>
          <a:xfrm>
            <a:off x="2444990" y="181769"/>
            <a:ext cx="4581797" cy="1145381"/>
          </a:xfrm>
          <a:prstGeom prst="round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7F148DB-63CD-AA73-19A5-C521560BE4C9}"/>
              </a:ext>
            </a:extLst>
          </p:cNvPr>
          <p:cNvSpPr txBox="1"/>
          <p:nvPr/>
        </p:nvSpPr>
        <p:spPr>
          <a:xfrm>
            <a:off x="2538243" y="400516"/>
            <a:ext cx="49159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¿Existen diferencias en las distribuciones</a:t>
            </a:r>
          </a:p>
          <a:p>
            <a:r>
              <a:rPr lang="es-MX" sz="20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de estados entre flotas?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15FEDC5-3071-9C90-0A76-1986D31DF139}"/>
              </a:ext>
            </a:extLst>
          </p:cNvPr>
          <p:cNvSpPr txBox="1"/>
          <p:nvPr/>
        </p:nvSpPr>
        <p:spPr>
          <a:xfrm>
            <a:off x="5856023" y="3198167"/>
            <a:ext cx="8798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latin typeface="Bahnschrift SemiBold SemiConden" panose="020B0502040204020203" pitchFamily="34" charset="0"/>
              </a:rPr>
              <a:t>Estados Normales</a:t>
            </a:r>
            <a:endParaRPr lang="es-CL" sz="2400" dirty="0">
              <a:latin typeface="Bahnschrift SemiBold SemiConden" panose="020B0502040204020203" pitchFamily="34" charset="0"/>
            </a:endParaRPr>
          </a:p>
        </p:txBody>
      </p:sp>
      <p:pic>
        <p:nvPicPr>
          <p:cNvPr id="10" name="Imagen 9" descr="Gráfico, Gráfico de dispersión&#10;&#10;Descripción generada automáticamente">
            <a:extLst>
              <a:ext uri="{FF2B5EF4-FFF2-40B4-BE49-F238E27FC236}">
                <a16:creationId xmlns:a16="http://schemas.microsoft.com/office/drawing/2014/main" id="{9DBB6991-D920-EC6E-3763-34722D023E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274" y="1412172"/>
            <a:ext cx="6534994" cy="544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8541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0BAA3-A50E-EF38-0294-C57741538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B70FB4A-7022-2010-E629-ECF260472865}"/>
              </a:ext>
            </a:extLst>
          </p:cNvPr>
          <p:cNvSpPr/>
          <p:nvPr/>
        </p:nvSpPr>
        <p:spPr>
          <a:xfrm>
            <a:off x="-1" y="0"/>
            <a:ext cx="222504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80B620B-8517-5D03-1C17-C21E4F70F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9"/>
            <a:ext cx="2221523" cy="1261496"/>
          </a:xfrm>
        </p:spPr>
        <p:txBody>
          <a:bodyPr>
            <a:norm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Resultados:</a:t>
            </a:r>
            <a:b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Tiempos</a:t>
            </a:r>
            <a:endParaRPr lang="es-CL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Marcador de número de diapositiva 51">
            <a:extLst>
              <a:ext uri="{FF2B5EF4-FFF2-40B4-BE49-F238E27FC236}">
                <a16:creationId xmlns:a16="http://schemas.microsoft.com/office/drawing/2014/main" id="{F92A49DA-8D79-11AE-D6C2-D79BFB0EA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20</a:t>
            </a:fld>
            <a:endParaRPr lang="es-CL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D4AF6937-F2EC-3D29-F53D-8F28C655259C}"/>
              </a:ext>
            </a:extLst>
          </p:cNvPr>
          <p:cNvSpPr/>
          <p:nvPr/>
        </p:nvSpPr>
        <p:spPr>
          <a:xfrm>
            <a:off x="2444990" y="181769"/>
            <a:ext cx="4581797" cy="1145381"/>
          </a:xfrm>
          <a:prstGeom prst="round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459173B-3D60-864F-F760-3DFABFB197AC}"/>
              </a:ext>
            </a:extLst>
          </p:cNvPr>
          <p:cNvSpPr txBox="1"/>
          <p:nvPr/>
        </p:nvSpPr>
        <p:spPr>
          <a:xfrm>
            <a:off x="2538243" y="400516"/>
            <a:ext cx="49159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¿Existen diferencias en las distribuciones</a:t>
            </a:r>
          </a:p>
          <a:p>
            <a:r>
              <a:rPr lang="es-MX" sz="20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de estados entre flotas?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DE91F9E-CC96-8367-AA0C-BFA3A23CF967}"/>
              </a:ext>
            </a:extLst>
          </p:cNvPr>
          <p:cNvSpPr txBox="1"/>
          <p:nvPr/>
        </p:nvSpPr>
        <p:spPr>
          <a:xfrm>
            <a:off x="5856023" y="3198167"/>
            <a:ext cx="8798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latin typeface="Bahnschrift SemiBold SemiConden" panose="020B0502040204020203" pitchFamily="34" charset="0"/>
              </a:rPr>
              <a:t>Súper Estados</a:t>
            </a:r>
            <a:endParaRPr lang="es-CL" sz="2400" dirty="0">
              <a:latin typeface="Bahnschrift SemiBold SemiConden" panose="020B0502040204020203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02FB09A-8713-51B4-7915-3CF104A92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65274" y="1412172"/>
            <a:ext cx="6534993" cy="544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7600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C0CB4-3E46-8206-B7C9-62898A21C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BD25BC8-78B7-4DD3-8166-B2C35F5F247E}"/>
              </a:ext>
            </a:extLst>
          </p:cNvPr>
          <p:cNvSpPr/>
          <p:nvPr/>
        </p:nvSpPr>
        <p:spPr>
          <a:xfrm>
            <a:off x="-1" y="0"/>
            <a:ext cx="222504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2676F93-1CAF-F03B-B23E-E63D98DE6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9"/>
            <a:ext cx="2221523" cy="1261496"/>
          </a:xfrm>
        </p:spPr>
        <p:txBody>
          <a:bodyPr>
            <a:norm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Resultados:</a:t>
            </a:r>
            <a:b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Tiempos</a:t>
            </a:r>
            <a:endParaRPr lang="es-CL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Marcador de número de diapositiva 51">
            <a:extLst>
              <a:ext uri="{FF2B5EF4-FFF2-40B4-BE49-F238E27FC236}">
                <a16:creationId xmlns:a16="http://schemas.microsoft.com/office/drawing/2014/main" id="{C28B0ED8-DADF-AE52-1AAB-F7E08F754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21</a:t>
            </a:fld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921FFAF-AFC6-0D31-DC99-6AC26263AAC1}"/>
              </a:ext>
            </a:extLst>
          </p:cNvPr>
          <p:cNvSpPr txBox="1"/>
          <p:nvPr/>
        </p:nvSpPr>
        <p:spPr>
          <a:xfrm>
            <a:off x="2766843" y="400516"/>
            <a:ext cx="49159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¿Existen diferencias en la cantidad de reparaciones mensuales?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51995E5-E9E3-1B36-929E-2052ABBF95EE}"/>
              </a:ext>
            </a:extLst>
          </p:cNvPr>
          <p:cNvSpPr txBox="1"/>
          <p:nvPr/>
        </p:nvSpPr>
        <p:spPr>
          <a:xfrm>
            <a:off x="4171950" y="2459504"/>
            <a:ext cx="55562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 err="1">
                <a:latin typeface="Bahnschrift SemiBold SemiConden" panose="020B0502040204020203" pitchFamily="34" charset="0"/>
              </a:rPr>
              <a:t>Insights</a:t>
            </a:r>
            <a:r>
              <a:rPr lang="es-MX" sz="2000" dirty="0">
                <a:latin typeface="Bahnschrift SemiBold SemiConden" panose="020B0502040204020203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>
                <a:latin typeface="Bahnschrift SemiLight" panose="020B0502040204020203" pitchFamily="34" charset="0"/>
              </a:rPr>
              <a:t>Las flotas distribuyen su tiempo de manera diferente (esperable).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>
                <a:latin typeface="Bahnschrift SemiLight" panose="020B0502040204020203" pitchFamily="34" charset="0"/>
              </a:rPr>
              <a:t>La granularidad no afecta este resultado.</a:t>
            </a:r>
            <a:endParaRPr lang="es-CL" sz="2000" dirty="0"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5600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D3559-15A8-BA2B-42C0-7FB116028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DA508E6-2CB4-3E15-8FD6-EF47D9B25C6E}"/>
              </a:ext>
            </a:extLst>
          </p:cNvPr>
          <p:cNvSpPr/>
          <p:nvPr/>
        </p:nvSpPr>
        <p:spPr>
          <a:xfrm>
            <a:off x="-1" y="0"/>
            <a:ext cx="222504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AA6A9A7-5C66-A6AB-57FB-8BABFD11C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9"/>
            <a:ext cx="2221523" cy="1261496"/>
          </a:xfrm>
        </p:spPr>
        <p:txBody>
          <a:bodyPr>
            <a:norm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Resultados:</a:t>
            </a:r>
            <a:b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Enfoque cadenas</a:t>
            </a:r>
            <a:endParaRPr lang="es-CL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Marcador de número de diapositiva 51">
            <a:extLst>
              <a:ext uri="{FF2B5EF4-FFF2-40B4-BE49-F238E27FC236}">
                <a16:creationId xmlns:a16="http://schemas.microsoft.com/office/drawing/2014/main" id="{D7EF1597-68D7-93C5-1F6A-2F1F8CB07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22</a:t>
            </a:fld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407EF38-5578-F248-795A-AA9A7E3AFCA3}"/>
              </a:ext>
            </a:extLst>
          </p:cNvPr>
          <p:cNvSpPr txBox="1"/>
          <p:nvPr/>
        </p:nvSpPr>
        <p:spPr>
          <a:xfrm>
            <a:off x="2766843" y="400516"/>
            <a:ext cx="49159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¿Existen diferencias en la cantidad de reparaciones mensuales?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9B6B8C80-3A0C-36D8-A28B-C1586FD69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0557" y="265782"/>
            <a:ext cx="5974080" cy="1685240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BC0CA845-FA6E-8C1A-8DA4-A898468CF1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50"/>
          <a:stretch/>
        </p:blipFill>
        <p:spPr>
          <a:xfrm>
            <a:off x="2467475" y="2905760"/>
            <a:ext cx="4515962" cy="3434736"/>
          </a:xfrm>
          <a:prstGeom prst="rect">
            <a:avLst/>
          </a:prstGeom>
        </p:spPr>
      </p:pic>
      <p:sp>
        <p:nvSpPr>
          <p:cNvPr id="32" name="Flecha: hacia abajo 31">
            <a:extLst>
              <a:ext uri="{FF2B5EF4-FFF2-40B4-BE49-F238E27FC236}">
                <a16:creationId xmlns:a16="http://schemas.microsoft.com/office/drawing/2014/main" id="{DA439E35-55F3-6408-3523-2926F1B11993}"/>
              </a:ext>
            </a:extLst>
          </p:cNvPr>
          <p:cNvSpPr/>
          <p:nvPr/>
        </p:nvSpPr>
        <p:spPr>
          <a:xfrm rot="3257143">
            <a:off x="5677401" y="1798749"/>
            <a:ext cx="436880" cy="1777646"/>
          </a:xfrm>
          <a:prstGeom prst="downArrow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913872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6944D-49B9-6391-33C3-35A211246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FA7F0E8E-F692-BF75-7AFC-8897430B3758}"/>
              </a:ext>
            </a:extLst>
          </p:cNvPr>
          <p:cNvSpPr/>
          <p:nvPr/>
        </p:nvSpPr>
        <p:spPr>
          <a:xfrm>
            <a:off x="-1" y="0"/>
            <a:ext cx="222504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7A2394E-EDFE-B3E5-B260-74DD8B12A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9"/>
            <a:ext cx="2221523" cy="1261496"/>
          </a:xfrm>
        </p:spPr>
        <p:txBody>
          <a:bodyPr>
            <a:norm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Resultados:</a:t>
            </a:r>
            <a:b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Enfoque cadenas</a:t>
            </a:r>
            <a:endParaRPr lang="es-CL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Marcador de número de diapositiva 51">
            <a:extLst>
              <a:ext uri="{FF2B5EF4-FFF2-40B4-BE49-F238E27FC236}">
                <a16:creationId xmlns:a16="http://schemas.microsoft.com/office/drawing/2014/main" id="{5342803A-FE72-8ABC-F9BB-1DECCBCBB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23</a:t>
            </a:fld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01E1E99-1C55-BDDF-37E8-5F225167F997}"/>
              </a:ext>
            </a:extLst>
          </p:cNvPr>
          <p:cNvSpPr txBox="1"/>
          <p:nvPr/>
        </p:nvSpPr>
        <p:spPr>
          <a:xfrm>
            <a:off x="2766843" y="400516"/>
            <a:ext cx="49159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¿Existen diferencias en la cantidad de reparaciones mensuales?</a:t>
            </a: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E14DEB1D-F727-A7D1-09F5-5205D4D5EA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50"/>
          <a:stretch/>
        </p:blipFill>
        <p:spPr>
          <a:xfrm>
            <a:off x="2355715" y="592979"/>
            <a:ext cx="3882397" cy="2952861"/>
          </a:xfrm>
          <a:prstGeom prst="rect">
            <a:avLst/>
          </a:prstGeom>
        </p:spPr>
      </p:pic>
      <p:pic>
        <p:nvPicPr>
          <p:cNvPr id="5121" name="Picture 1">
            <a:extLst>
              <a:ext uri="{FF2B5EF4-FFF2-40B4-BE49-F238E27FC236}">
                <a16:creationId xmlns:a16="http://schemas.microsoft.com/office/drawing/2014/main" id="{C93CE2DD-4AAC-69F2-7A5D-A124A0C8F2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89"/>
          <a:stretch/>
        </p:blipFill>
        <p:spPr bwMode="auto">
          <a:xfrm>
            <a:off x="7905183" y="508443"/>
            <a:ext cx="4080139" cy="3179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3BDC479-B9A8-3E97-3A73-E1FD2258AE26}"/>
              </a:ext>
            </a:extLst>
          </p:cNvPr>
          <p:cNvSpPr txBox="1"/>
          <p:nvPr/>
        </p:nvSpPr>
        <p:spPr>
          <a:xfrm>
            <a:off x="3502759" y="3820160"/>
            <a:ext cx="3667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Bahnschrift" panose="020B0502040204020203" pitchFamily="34" charset="0"/>
              </a:rPr>
              <a:t>Trayectoria 1</a:t>
            </a:r>
            <a:endParaRPr lang="es-CL" sz="2800" dirty="0">
              <a:latin typeface="Bahnschrift" panose="020B0502040204020203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6643B00-AD23-DD3A-7AEE-A08711273B5C}"/>
              </a:ext>
            </a:extLst>
          </p:cNvPr>
          <p:cNvSpPr txBox="1"/>
          <p:nvPr/>
        </p:nvSpPr>
        <p:spPr>
          <a:xfrm>
            <a:off x="9050119" y="3874031"/>
            <a:ext cx="3667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Bahnschrift" panose="020B0502040204020203" pitchFamily="34" charset="0"/>
              </a:rPr>
              <a:t>Trayectoria 2</a:t>
            </a:r>
            <a:endParaRPr lang="es-CL" sz="2800" dirty="0">
              <a:latin typeface="Bahnschrift" panose="020B0502040204020203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9AF173E-60F5-1D49-88E2-8FFE38E91058}"/>
              </a:ext>
            </a:extLst>
          </p:cNvPr>
          <p:cNvSpPr txBox="1"/>
          <p:nvPr/>
        </p:nvSpPr>
        <p:spPr>
          <a:xfrm>
            <a:off x="6313793" y="1493917"/>
            <a:ext cx="27838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Bahnschrift" panose="020B0502040204020203" pitchFamily="34" charset="0"/>
              </a:rPr>
              <a:t>D(T1,T2)=GED(T1,T2)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Bahnschrift" panose="020B0502040204020203" pitchFamily="34" charset="0"/>
              </a:rPr>
              <a:t>D(T1,T2)=RWK(T1,T2)</a:t>
            </a:r>
          </a:p>
          <a:p>
            <a:endParaRPr lang="es-CL" dirty="0"/>
          </a:p>
        </p:txBody>
      </p:sp>
      <p:sp>
        <p:nvSpPr>
          <p:cNvPr id="8" name="Flecha: a la izquierda y derecha 7">
            <a:extLst>
              <a:ext uri="{FF2B5EF4-FFF2-40B4-BE49-F238E27FC236}">
                <a16:creationId xmlns:a16="http://schemas.microsoft.com/office/drawing/2014/main" id="{C9144C95-6359-CEB1-A8FD-FB83D039026C}"/>
              </a:ext>
            </a:extLst>
          </p:cNvPr>
          <p:cNvSpPr/>
          <p:nvPr/>
        </p:nvSpPr>
        <p:spPr>
          <a:xfrm>
            <a:off x="6096000" y="2098262"/>
            <a:ext cx="2954119" cy="142018"/>
          </a:xfrm>
          <a:prstGeom prst="leftRightArrow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771752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5C123-1ABF-1040-2379-C3002C353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102E116-B571-4A5C-F479-ECDBD04229FD}"/>
              </a:ext>
            </a:extLst>
          </p:cNvPr>
          <p:cNvSpPr/>
          <p:nvPr/>
        </p:nvSpPr>
        <p:spPr>
          <a:xfrm>
            <a:off x="-1" y="0"/>
            <a:ext cx="222504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DBCCCDF-B4B0-D171-F5BA-E1C87FCC8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9"/>
            <a:ext cx="2221523" cy="1261496"/>
          </a:xfrm>
        </p:spPr>
        <p:txBody>
          <a:bodyPr>
            <a:norm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Resultados:</a:t>
            </a:r>
            <a:b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Enfoque cadenas</a:t>
            </a:r>
            <a:endParaRPr lang="es-CL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Marcador de número de diapositiva 51">
            <a:extLst>
              <a:ext uri="{FF2B5EF4-FFF2-40B4-BE49-F238E27FC236}">
                <a16:creationId xmlns:a16="http://schemas.microsoft.com/office/drawing/2014/main" id="{D25E0DB0-AD8D-7C5A-DD32-FFEB4DF33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24</a:t>
            </a:fld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CDAA006-85CD-41AD-A6A5-E25201EA094D}"/>
              </a:ext>
            </a:extLst>
          </p:cNvPr>
          <p:cNvSpPr txBox="1"/>
          <p:nvPr/>
        </p:nvSpPr>
        <p:spPr>
          <a:xfrm>
            <a:off x="2766843" y="400516"/>
            <a:ext cx="49159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¿Existen diferencias en la cantidad de reparaciones mensuales?</a:t>
            </a: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19CE9D13-DF51-7229-6888-5361C5FA6B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50"/>
          <a:stretch/>
        </p:blipFill>
        <p:spPr>
          <a:xfrm>
            <a:off x="2355715" y="592979"/>
            <a:ext cx="3882397" cy="2952861"/>
          </a:xfrm>
          <a:prstGeom prst="rect">
            <a:avLst/>
          </a:prstGeom>
        </p:spPr>
      </p:pic>
      <p:pic>
        <p:nvPicPr>
          <p:cNvPr id="5121" name="Picture 1">
            <a:extLst>
              <a:ext uri="{FF2B5EF4-FFF2-40B4-BE49-F238E27FC236}">
                <a16:creationId xmlns:a16="http://schemas.microsoft.com/office/drawing/2014/main" id="{6CD48BED-3D22-F2EC-6160-98D1FCCDC0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89"/>
          <a:stretch/>
        </p:blipFill>
        <p:spPr bwMode="auto">
          <a:xfrm>
            <a:off x="6671946" y="3429000"/>
            <a:ext cx="4080139" cy="3179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10BB49BF-B3CF-008F-888B-7DF9196099A1}"/>
              </a:ext>
            </a:extLst>
          </p:cNvPr>
          <p:cNvSpPr txBox="1"/>
          <p:nvPr/>
        </p:nvSpPr>
        <p:spPr>
          <a:xfrm>
            <a:off x="8224636" y="665480"/>
            <a:ext cx="2979321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Bahnschrift SemiBold SemiConden" panose="020B0502040204020203" pitchFamily="34" charset="0"/>
              </a:rPr>
              <a:t>GED (</a:t>
            </a:r>
            <a:r>
              <a:rPr lang="es-MX" sz="2800" dirty="0" err="1">
                <a:latin typeface="Bahnschrift SemiBold SemiConden" panose="020B0502040204020203" pitchFamily="34" charset="0"/>
              </a:rPr>
              <a:t>Graph</a:t>
            </a:r>
            <a:r>
              <a:rPr lang="es-MX" sz="2800" dirty="0">
                <a:latin typeface="Bahnschrift SemiBold SemiConden" panose="020B0502040204020203" pitchFamily="34" charset="0"/>
              </a:rPr>
              <a:t> </a:t>
            </a:r>
            <a:r>
              <a:rPr lang="es-MX" sz="2800" dirty="0" err="1">
                <a:latin typeface="Bahnschrift SemiBold SemiConden" panose="020B0502040204020203" pitchFamily="34" charset="0"/>
              </a:rPr>
              <a:t>Edit</a:t>
            </a:r>
            <a:r>
              <a:rPr lang="es-MX" sz="2800" dirty="0">
                <a:latin typeface="Bahnschrift SemiBold SemiConden" panose="020B0502040204020203" pitchFamily="34" charset="0"/>
              </a:rPr>
              <a:t> </a:t>
            </a:r>
            <a:r>
              <a:rPr lang="es-MX" sz="2800" dirty="0" err="1">
                <a:latin typeface="Bahnschrift SemiBold SemiConden" panose="020B0502040204020203" pitchFamily="34" charset="0"/>
              </a:rPr>
              <a:t>Distance</a:t>
            </a:r>
            <a:r>
              <a:rPr lang="es-MX" sz="2800" dirty="0">
                <a:latin typeface="Bahnschrift SemiBold SemiConden" panose="020B0502040204020203" pitchFamily="34" charset="0"/>
              </a:rPr>
              <a:t>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Bahnschrift SemiLight" panose="020B0502040204020203" pitchFamily="34" charset="0"/>
              </a:rPr>
              <a:t>Captura diferencias en la estructura a gran escala de un grafo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Bahnschrift SemiLight" panose="020B0502040204020203" pitchFamily="34" charset="0"/>
              </a:rPr>
              <a:t>Tedioso de calcular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Bahnschrift SemiLight" panose="020B0502040204020203" pitchFamily="34" charset="0"/>
              </a:rPr>
              <a:t>Escala según los tamaños</a:t>
            </a:r>
            <a:endParaRPr lang="es-CL" dirty="0">
              <a:latin typeface="Bahnschrift SemiLight" panose="020B0502040204020203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07F9E2E-A2B8-CB9B-84F6-D5B80A6F1D55}"/>
              </a:ext>
            </a:extLst>
          </p:cNvPr>
          <p:cNvSpPr txBox="1"/>
          <p:nvPr/>
        </p:nvSpPr>
        <p:spPr>
          <a:xfrm>
            <a:off x="3089005" y="3828375"/>
            <a:ext cx="2979321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Bahnschrift SemiBold SemiConden" panose="020B0502040204020203" pitchFamily="34" charset="0"/>
              </a:rPr>
              <a:t>RWK (</a:t>
            </a:r>
            <a:r>
              <a:rPr lang="es-MX" sz="2800" dirty="0" err="1">
                <a:latin typeface="Bahnschrift SemiBold SemiConden" panose="020B0502040204020203" pitchFamily="34" charset="0"/>
              </a:rPr>
              <a:t>Random</a:t>
            </a:r>
            <a:r>
              <a:rPr lang="es-MX" sz="2800" dirty="0">
                <a:latin typeface="Bahnschrift SemiBold SemiConden" panose="020B0502040204020203" pitchFamily="34" charset="0"/>
              </a:rPr>
              <a:t> </a:t>
            </a:r>
            <a:r>
              <a:rPr lang="es-MX" sz="2800" dirty="0" err="1">
                <a:latin typeface="Bahnschrift SemiBold SemiConden" panose="020B0502040204020203" pitchFamily="34" charset="0"/>
              </a:rPr>
              <a:t>Walk</a:t>
            </a:r>
            <a:r>
              <a:rPr lang="es-MX" sz="2800" dirty="0">
                <a:latin typeface="Bahnschrift SemiBold SemiConden" panose="020B0502040204020203" pitchFamily="34" charset="0"/>
              </a:rPr>
              <a:t> </a:t>
            </a:r>
            <a:r>
              <a:rPr lang="es-MX" sz="2800" dirty="0" err="1">
                <a:latin typeface="Bahnschrift SemiBold SemiConden" panose="020B0502040204020203" pitchFamily="34" charset="0"/>
              </a:rPr>
              <a:t>Kernel</a:t>
            </a:r>
            <a:r>
              <a:rPr lang="es-MX" sz="2800" dirty="0">
                <a:latin typeface="Bahnschrift SemiBold SemiConden" panose="020B0502040204020203" pitchFamily="34" charset="0"/>
              </a:rPr>
              <a:t>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Bahnschrift SemiLight" panose="020B0502040204020203" pitchFamily="34" charset="0"/>
              </a:rPr>
              <a:t>Captura diferencias en la estructuras internas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Bahnschrift SemiLight" panose="020B0502040204020203" pitchFamily="34" charset="0"/>
              </a:rPr>
              <a:t>Fácil de calcular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Bahnschrift SemiLight" panose="020B0502040204020203" pitchFamily="34" charset="0"/>
              </a:rPr>
              <a:t>Puede simplificar demasiado la estructura del </a:t>
            </a:r>
            <a:r>
              <a:rPr lang="es-MX" dirty="0" err="1">
                <a:latin typeface="Bahnschrift SemiLight" panose="020B0502040204020203" pitchFamily="34" charset="0"/>
              </a:rPr>
              <a:t>multidigrafo</a:t>
            </a:r>
            <a:endParaRPr lang="es-CL" dirty="0"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3037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0D4F0-AFD8-ED35-2D63-B708D7F51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89747C2-8D3A-C143-1A02-EDDFB608B5C8}"/>
              </a:ext>
            </a:extLst>
          </p:cNvPr>
          <p:cNvSpPr/>
          <p:nvPr/>
        </p:nvSpPr>
        <p:spPr>
          <a:xfrm>
            <a:off x="-1" y="0"/>
            <a:ext cx="222504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4E8E2C-46DF-F3A4-C9CE-BDE73D992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9"/>
            <a:ext cx="2221523" cy="1261496"/>
          </a:xfrm>
        </p:spPr>
        <p:txBody>
          <a:bodyPr>
            <a:norm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Resultados:</a:t>
            </a:r>
            <a:b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Estudio </a:t>
            </a:r>
            <a:r>
              <a:rPr lang="es-MX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Intraflota</a:t>
            </a:r>
            <a:endParaRPr lang="es-CL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Marcador de número de diapositiva 51">
            <a:extLst>
              <a:ext uri="{FF2B5EF4-FFF2-40B4-BE49-F238E27FC236}">
                <a16:creationId xmlns:a16="http://schemas.microsoft.com/office/drawing/2014/main" id="{F9504544-4551-9992-5034-3C0EB33EC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25</a:t>
            </a:fld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AF789F8-77A4-BE12-B483-7863FF6F021A}"/>
              </a:ext>
            </a:extLst>
          </p:cNvPr>
          <p:cNvSpPr txBox="1"/>
          <p:nvPr/>
        </p:nvSpPr>
        <p:spPr>
          <a:xfrm>
            <a:off x="2766843" y="400516"/>
            <a:ext cx="49159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¿Existen diferencias en la cantidad de reparaciones mensuales?</a:t>
            </a:r>
          </a:p>
        </p:txBody>
      </p:sp>
      <p:sp>
        <p:nvSpPr>
          <p:cNvPr id="5" name="Flecha: hacia abajo 4">
            <a:extLst>
              <a:ext uri="{FF2B5EF4-FFF2-40B4-BE49-F238E27FC236}">
                <a16:creationId xmlns:a16="http://schemas.microsoft.com/office/drawing/2014/main" id="{A8A0E37D-15F8-B6C5-9C46-0256150D3500}"/>
              </a:ext>
            </a:extLst>
          </p:cNvPr>
          <p:cNvSpPr/>
          <p:nvPr/>
        </p:nvSpPr>
        <p:spPr>
          <a:xfrm rot="16200000">
            <a:off x="6170809" y="-2028318"/>
            <a:ext cx="374467" cy="6647907"/>
          </a:xfrm>
          <a:prstGeom prst="downArrow">
            <a:avLst>
              <a:gd name="adj1" fmla="val 50000"/>
              <a:gd name="adj2" fmla="val 52255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107C4CFA-6BCD-0A12-CED8-0DC766375B9F}"/>
              </a:ext>
            </a:extLst>
          </p:cNvPr>
          <p:cNvCxnSpPr/>
          <p:nvPr/>
        </p:nvCxnSpPr>
        <p:spPr>
          <a:xfrm>
            <a:off x="4607365" y="1108401"/>
            <a:ext cx="0" cy="6015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0472122-5DA1-8E4B-27A0-4D60B49BF889}"/>
              </a:ext>
            </a:extLst>
          </p:cNvPr>
          <p:cNvCxnSpPr/>
          <p:nvPr/>
        </p:nvCxnSpPr>
        <p:spPr>
          <a:xfrm>
            <a:off x="5330906" y="1108401"/>
            <a:ext cx="0" cy="6015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10602993-1DA3-5063-0819-169DBFA74BB0}"/>
              </a:ext>
            </a:extLst>
          </p:cNvPr>
          <p:cNvCxnSpPr/>
          <p:nvPr/>
        </p:nvCxnSpPr>
        <p:spPr>
          <a:xfrm>
            <a:off x="6929511" y="1131878"/>
            <a:ext cx="0" cy="6015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1C754A01-A7D5-4C94-C112-93497E5A44E7}"/>
              </a:ext>
            </a:extLst>
          </p:cNvPr>
          <p:cNvCxnSpPr/>
          <p:nvPr/>
        </p:nvCxnSpPr>
        <p:spPr>
          <a:xfrm>
            <a:off x="9251071" y="1131878"/>
            <a:ext cx="0" cy="6015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errar llave 14">
            <a:extLst>
              <a:ext uri="{FF2B5EF4-FFF2-40B4-BE49-F238E27FC236}">
                <a16:creationId xmlns:a16="http://schemas.microsoft.com/office/drawing/2014/main" id="{0CE62434-A880-C5F0-6A56-9F1ECB5E9A09}"/>
              </a:ext>
            </a:extLst>
          </p:cNvPr>
          <p:cNvSpPr/>
          <p:nvPr/>
        </p:nvSpPr>
        <p:spPr>
          <a:xfrm rot="16200000">
            <a:off x="6079426" y="-2441075"/>
            <a:ext cx="300394" cy="639106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56326F8-F863-85BC-ADF2-4DAFC66F10CF}"/>
              </a:ext>
            </a:extLst>
          </p:cNvPr>
          <p:cNvSpPr txBox="1"/>
          <p:nvPr/>
        </p:nvSpPr>
        <p:spPr>
          <a:xfrm>
            <a:off x="5249182" y="133057"/>
            <a:ext cx="196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Bahnschrift SemiLight" panose="020B0502040204020203" pitchFamily="34" charset="0"/>
              </a:rPr>
              <a:t>1 Mes</a:t>
            </a:r>
            <a:endParaRPr lang="es-CL" dirty="0">
              <a:latin typeface="Bahnschrift SemiLight" panose="020B0502040204020203" pitchFamily="34" charset="0"/>
            </a:endParaRPr>
          </a:p>
        </p:txBody>
      </p:sp>
      <p:pic>
        <p:nvPicPr>
          <p:cNvPr id="18" name="Imagen 17" descr="Icono&#10;&#10;Descripción generada automáticamente">
            <a:extLst>
              <a:ext uri="{FF2B5EF4-FFF2-40B4-BE49-F238E27FC236}">
                <a16:creationId xmlns:a16="http://schemas.microsoft.com/office/drawing/2014/main" id="{31F5F08D-5C11-F106-4AEA-7CAD17FE87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3030" y="1791918"/>
            <a:ext cx="515751" cy="515751"/>
          </a:xfrm>
          <a:prstGeom prst="rect">
            <a:avLst/>
          </a:prstGeom>
        </p:spPr>
      </p:pic>
      <p:pic>
        <p:nvPicPr>
          <p:cNvPr id="19" name="Imagen 18" descr="Icono&#10;&#10;Descripción generada automáticamente">
            <a:extLst>
              <a:ext uri="{FF2B5EF4-FFF2-40B4-BE49-F238E27FC236}">
                <a16:creationId xmlns:a16="http://schemas.microsoft.com/office/drawing/2014/main" id="{40EC4192-70E2-381F-3831-CEA3AD2FD5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9301" y="1795649"/>
            <a:ext cx="515751" cy="515751"/>
          </a:xfrm>
          <a:prstGeom prst="rect">
            <a:avLst/>
          </a:prstGeom>
        </p:spPr>
      </p:pic>
      <p:pic>
        <p:nvPicPr>
          <p:cNvPr id="20" name="Imagen 19" descr="Icono&#10;&#10;Descripción generada automáticamente">
            <a:extLst>
              <a:ext uri="{FF2B5EF4-FFF2-40B4-BE49-F238E27FC236}">
                <a16:creationId xmlns:a16="http://schemas.microsoft.com/office/drawing/2014/main" id="{659FE302-7C64-66E7-7FB4-B061CD66D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3195" y="1795649"/>
            <a:ext cx="515751" cy="515751"/>
          </a:xfrm>
          <a:prstGeom prst="rect">
            <a:avLst/>
          </a:prstGeom>
        </p:spPr>
      </p:pic>
      <p:sp>
        <p:nvSpPr>
          <p:cNvPr id="21" name="Cerrar llave 20">
            <a:extLst>
              <a:ext uri="{FF2B5EF4-FFF2-40B4-BE49-F238E27FC236}">
                <a16:creationId xmlns:a16="http://schemas.microsoft.com/office/drawing/2014/main" id="{BB4CFF8B-3A83-C880-46FC-0F109E6AEA5E}"/>
              </a:ext>
            </a:extLst>
          </p:cNvPr>
          <p:cNvSpPr/>
          <p:nvPr/>
        </p:nvSpPr>
        <p:spPr>
          <a:xfrm rot="5400000">
            <a:off x="8427053" y="1893782"/>
            <a:ext cx="410131" cy="1237905"/>
          </a:xfrm>
          <a:prstGeom prst="rightBrace">
            <a:avLst>
              <a:gd name="adj1" fmla="val 0"/>
              <a:gd name="adj2" fmla="val 50000"/>
            </a:avLst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7" name="Imagen 16" descr="Icono&#10;&#10;Descripción generada automáticamente">
            <a:extLst>
              <a:ext uri="{FF2B5EF4-FFF2-40B4-BE49-F238E27FC236}">
                <a16:creationId xmlns:a16="http://schemas.microsoft.com/office/drawing/2014/main" id="{7968279E-DCC1-28AC-9B10-F690CEF2AD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489" y="1795649"/>
            <a:ext cx="515751" cy="515751"/>
          </a:xfrm>
          <a:prstGeom prst="rect">
            <a:avLst/>
          </a:prstGeom>
        </p:spPr>
      </p:pic>
      <p:sp>
        <p:nvSpPr>
          <p:cNvPr id="22" name="Cerrar llave 21">
            <a:extLst>
              <a:ext uri="{FF2B5EF4-FFF2-40B4-BE49-F238E27FC236}">
                <a16:creationId xmlns:a16="http://schemas.microsoft.com/office/drawing/2014/main" id="{9AC23AB2-14EE-64ED-6C21-1AD845168C26}"/>
              </a:ext>
            </a:extLst>
          </p:cNvPr>
          <p:cNvSpPr/>
          <p:nvPr/>
        </p:nvSpPr>
        <p:spPr>
          <a:xfrm rot="5400000">
            <a:off x="6103158" y="1966915"/>
            <a:ext cx="410131" cy="1237905"/>
          </a:xfrm>
          <a:prstGeom prst="rightBrace">
            <a:avLst>
              <a:gd name="adj1" fmla="val 0"/>
              <a:gd name="adj2" fmla="val 50000"/>
            </a:avLst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5" name="Cerrar llave 24">
            <a:extLst>
              <a:ext uri="{FF2B5EF4-FFF2-40B4-BE49-F238E27FC236}">
                <a16:creationId xmlns:a16="http://schemas.microsoft.com/office/drawing/2014/main" id="{644250FD-DF6B-38A1-FFF5-8CAE8BAA9CA3}"/>
              </a:ext>
            </a:extLst>
          </p:cNvPr>
          <p:cNvSpPr/>
          <p:nvPr/>
        </p:nvSpPr>
        <p:spPr>
          <a:xfrm rot="5400000">
            <a:off x="3779830" y="1955922"/>
            <a:ext cx="410131" cy="1237905"/>
          </a:xfrm>
          <a:prstGeom prst="rightBrace">
            <a:avLst>
              <a:gd name="adj1" fmla="val 0"/>
              <a:gd name="adj2" fmla="val 50000"/>
            </a:avLst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4ED8069-EA54-B077-4501-F9402CE8FF5B}"/>
              </a:ext>
            </a:extLst>
          </p:cNvPr>
          <p:cNvSpPr txBox="1"/>
          <p:nvPr/>
        </p:nvSpPr>
        <p:spPr>
          <a:xfrm>
            <a:off x="3034088" y="2972064"/>
            <a:ext cx="196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Bahnschrift SemiLight" panose="020B0502040204020203" pitchFamily="34" charset="0"/>
              </a:rPr>
              <a:t>24hrs</a:t>
            </a:r>
            <a:endParaRPr lang="es-CL" dirty="0">
              <a:latin typeface="Bahnschrift SemiLight" panose="020B0502040204020203" pitchFamily="34" charset="0"/>
            </a:endParaRPr>
          </a:p>
        </p:txBody>
      </p:sp>
      <p:sp>
        <p:nvSpPr>
          <p:cNvPr id="27" name="Flecha: hacia abajo 26">
            <a:extLst>
              <a:ext uri="{FF2B5EF4-FFF2-40B4-BE49-F238E27FC236}">
                <a16:creationId xmlns:a16="http://schemas.microsoft.com/office/drawing/2014/main" id="{89CE875B-ADD2-0FA0-D0F1-3AF9104BA80C}"/>
              </a:ext>
            </a:extLst>
          </p:cNvPr>
          <p:cNvSpPr/>
          <p:nvPr/>
        </p:nvSpPr>
        <p:spPr>
          <a:xfrm>
            <a:off x="3791850" y="3584652"/>
            <a:ext cx="436880" cy="784148"/>
          </a:xfrm>
          <a:prstGeom prst="downArrow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C4E912F1-EE92-A802-F92B-863A2D0CD9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50"/>
          <a:stretch/>
        </p:blipFill>
        <p:spPr>
          <a:xfrm>
            <a:off x="3212386" y="4368800"/>
            <a:ext cx="1449374" cy="1102360"/>
          </a:xfrm>
          <a:prstGeom prst="rect">
            <a:avLst/>
          </a:prstGeom>
        </p:spPr>
      </p:pic>
      <p:sp>
        <p:nvSpPr>
          <p:cNvPr id="32" name="Flecha: hacia abajo 31">
            <a:extLst>
              <a:ext uri="{FF2B5EF4-FFF2-40B4-BE49-F238E27FC236}">
                <a16:creationId xmlns:a16="http://schemas.microsoft.com/office/drawing/2014/main" id="{61F68B08-9B0F-6A79-D9D6-2F465352D098}"/>
              </a:ext>
            </a:extLst>
          </p:cNvPr>
          <p:cNvSpPr/>
          <p:nvPr/>
        </p:nvSpPr>
        <p:spPr>
          <a:xfrm>
            <a:off x="6195518" y="3540269"/>
            <a:ext cx="436880" cy="784148"/>
          </a:xfrm>
          <a:prstGeom prst="downArrow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3" name="Flecha: hacia abajo 32">
            <a:extLst>
              <a:ext uri="{FF2B5EF4-FFF2-40B4-BE49-F238E27FC236}">
                <a16:creationId xmlns:a16="http://schemas.microsoft.com/office/drawing/2014/main" id="{89313206-8FFE-D14B-99F5-C1C16B123D35}"/>
              </a:ext>
            </a:extLst>
          </p:cNvPr>
          <p:cNvSpPr/>
          <p:nvPr/>
        </p:nvSpPr>
        <p:spPr>
          <a:xfrm>
            <a:off x="8415478" y="3540269"/>
            <a:ext cx="436880" cy="784148"/>
          </a:xfrm>
          <a:prstGeom prst="downArrow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BE38697D-EDED-E531-8A3F-2B3D2F664551}"/>
              </a:ext>
            </a:extLst>
          </p:cNvPr>
          <p:cNvSpPr txBox="1"/>
          <p:nvPr/>
        </p:nvSpPr>
        <p:spPr>
          <a:xfrm>
            <a:off x="5330905" y="2860335"/>
            <a:ext cx="196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Bahnschrift SemiLight" panose="020B0502040204020203" pitchFamily="34" charset="0"/>
              </a:rPr>
              <a:t>24hrs</a:t>
            </a:r>
            <a:endParaRPr lang="es-CL" dirty="0">
              <a:latin typeface="Bahnschrift SemiLight" panose="020B0502040204020203" pitchFamily="34" charset="0"/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FD65BD8-1685-9E55-F9FC-E9E82B545188}"/>
              </a:ext>
            </a:extLst>
          </p:cNvPr>
          <p:cNvSpPr txBox="1"/>
          <p:nvPr/>
        </p:nvSpPr>
        <p:spPr>
          <a:xfrm>
            <a:off x="7651678" y="2789806"/>
            <a:ext cx="196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Bahnschrift SemiLight" panose="020B0502040204020203" pitchFamily="34" charset="0"/>
              </a:rPr>
              <a:t>24hrs</a:t>
            </a:r>
            <a:endParaRPr lang="es-CL" dirty="0">
              <a:latin typeface="Bahnschrift SemiLight" panose="020B0502040204020203" pitchFamily="34" charset="0"/>
            </a:endParaRP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1C7772AE-2A51-C5D7-FDA0-575C66E5550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2531" y="4588150"/>
            <a:ext cx="1342854" cy="940158"/>
          </a:xfrm>
          <a:prstGeom prst="rect">
            <a:avLst/>
          </a:prstGeom>
        </p:spPr>
      </p:pic>
      <p:pic>
        <p:nvPicPr>
          <p:cNvPr id="37" name="Picture 1">
            <a:extLst>
              <a:ext uri="{FF2B5EF4-FFF2-40B4-BE49-F238E27FC236}">
                <a16:creationId xmlns:a16="http://schemas.microsoft.com/office/drawing/2014/main" id="{FCD304DB-5787-88DB-E2DF-884F95287C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89"/>
          <a:stretch/>
        </p:blipFill>
        <p:spPr bwMode="auto">
          <a:xfrm>
            <a:off x="7935585" y="4588150"/>
            <a:ext cx="1350029" cy="1052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97886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13FDD-178F-2666-68DE-E25F05580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F71AF42D-40E3-5F5D-F1BE-B32F3A1C294C}"/>
              </a:ext>
            </a:extLst>
          </p:cNvPr>
          <p:cNvSpPr/>
          <p:nvPr/>
        </p:nvSpPr>
        <p:spPr>
          <a:xfrm>
            <a:off x="-1" y="0"/>
            <a:ext cx="222504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1E5CB95-B7AE-A2DD-E548-AFE0F2E0B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9"/>
            <a:ext cx="2221523" cy="1261496"/>
          </a:xfrm>
        </p:spPr>
        <p:txBody>
          <a:bodyPr>
            <a:norm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Resultados:</a:t>
            </a:r>
            <a:b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Estudio </a:t>
            </a:r>
            <a:r>
              <a:rPr lang="es-MX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Intraflota</a:t>
            </a:r>
            <a:endParaRPr lang="es-CL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Marcador de número de diapositiva 51">
            <a:extLst>
              <a:ext uri="{FF2B5EF4-FFF2-40B4-BE49-F238E27FC236}">
                <a16:creationId xmlns:a16="http://schemas.microsoft.com/office/drawing/2014/main" id="{A67A7DA1-EFE4-2666-33F6-2CD15DCCB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26</a:t>
            </a:fld>
            <a:endParaRPr lang="es-CL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E46BD17D-4BF7-A7A7-143B-53062532B13B}"/>
              </a:ext>
            </a:extLst>
          </p:cNvPr>
          <p:cNvSpPr txBox="1"/>
          <p:nvPr/>
        </p:nvSpPr>
        <p:spPr>
          <a:xfrm>
            <a:off x="9212679" y="2976989"/>
            <a:ext cx="29793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dirty="0">
                <a:latin typeface="Bahnschrift SemiBold SemiConden" panose="020B0502040204020203" pitchFamily="34" charset="0"/>
              </a:rPr>
              <a:t>RWK</a:t>
            </a:r>
            <a:endParaRPr lang="es-CL" sz="4800" dirty="0">
              <a:latin typeface="Bahnschrift SemiLight" panose="020B0502040204020203" pitchFamily="34" charset="0"/>
            </a:endParaRPr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067F01F4-1AD8-A41B-4E42-92B958D03E35}"/>
              </a:ext>
            </a:extLst>
          </p:cNvPr>
          <p:cNvSpPr/>
          <p:nvPr/>
        </p:nvSpPr>
        <p:spPr>
          <a:xfrm>
            <a:off x="2611246" y="986906"/>
            <a:ext cx="3168410" cy="1088390"/>
          </a:xfrm>
          <a:prstGeom prst="round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987582D9-9B2D-9449-C526-13C47D11F897}"/>
              </a:ext>
            </a:extLst>
          </p:cNvPr>
          <p:cNvSpPr txBox="1"/>
          <p:nvPr/>
        </p:nvSpPr>
        <p:spPr>
          <a:xfrm>
            <a:off x="2693432" y="1084705"/>
            <a:ext cx="30040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¿Existen similitudes en las trayectorias que anteceden una reparación no programada?</a:t>
            </a:r>
          </a:p>
        </p:txBody>
      </p:sp>
    </p:spTree>
    <p:extLst>
      <p:ext uri="{BB962C8B-B14F-4D97-AF65-F5344CB8AC3E}">
        <p14:creationId xmlns:p14="http://schemas.microsoft.com/office/powerpoint/2010/main" val="15312814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56666-88C5-29AA-3DDA-16C537D7B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8FB4AA4-5478-F93C-8029-2075D519E68D}"/>
              </a:ext>
            </a:extLst>
          </p:cNvPr>
          <p:cNvSpPr/>
          <p:nvPr/>
        </p:nvSpPr>
        <p:spPr>
          <a:xfrm>
            <a:off x="-1" y="0"/>
            <a:ext cx="222504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F47E09-28E7-525B-BA70-F6FC8D8D6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9"/>
            <a:ext cx="2221523" cy="1261496"/>
          </a:xfrm>
        </p:spPr>
        <p:txBody>
          <a:bodyPr>
            <a:normAutofit fontScale="90000"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Resultados:</a:t>
            </a:r>
            <a:b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Estudio </a:t>
            </a:r>
            <a:r>
              <a:rPr lang="es-MX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Intraflota</a:t>
            </a:r>
            <a:b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Mecánico</a:t>
            </a:r>
            <a:b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endParaRPr lang="es-CL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Marcador de número de diapositiva 51">
            <a:extLst>
              <a:ext uri="{FF2B5EF4-FFF2-40B4-BE49-F238E27FC236}">
                <a16:creationId xmlns:a16="http://schemas.microsoft.com/office/drawing/2014/main" id="{95BEDF83-7FF6-0D4A-7778-023B503F2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27</a:t>
            </a:fld>
            <a:endParaRPr lang="es-CL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339F8EF-D48E-FF26-BEC4-8033FA392360}"/>
              </a:ext>
            </a:extLst>
          </p:cNvPr>
          <p:cNvSpPr txBox="1"/>
          <p:nvPr/>
        </p:nvSpPr>
        <p:spPr>
          <a:xfrm>
            <a:off x="2859578" y="6001789"/>
            <a:ext cx="5336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*Mejor detalle en la visualización HTML</a:t>
            </a:r>
            <a:endParaRPr lang="es-CL" dirty="0"/>
          </a:p>
        </p:txBody>
      </p:sp>
      <p:pic>
        <p:nvPicPr>
          <p:cNvPr id="24578" name="Picture 2">
            <a:extLst>
              <a:ext uri="{FF2B5EF4-FFF2-40B4-BE49-F238E27FC236}">
                <a16:creationId xmlns:a16="http://schemas.microsoft.com/office/drawing/2014/main" id="{DE40D824-E9D9-36BA-BC29-2ADFF426E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9578" y="868363"/>
            <a:ext cx="8058150" cy="504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64695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3BFED-C29A-625D-376C-A5E1AA0F3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4824E4E-D325-01D3-650D-7B8C97F11310}"/>
              </a:ext>
            </a:extLst>
          </p:cNvPr>
          <p:cNvSpPr/>
          <p:nvPr/>
        </p:nvSpPr>
        <p:spPr>
          <a:xfrm>
            <a:off x="-1" y="0"/>
            <a:ext cx="222504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A41AC1-C4F3-2079-C422-E56A1AA4D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9"/>
            <a:ext cx="2221523" cy="1261496"/>
          </a:xfrm>
        </p:spPr>
        <p:txBody>
          <a:bodyPr>
            <a:normAutofit fontScale="90000"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Resultados:</a:t>
            </a:r>
            <a:b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Estudio </a:t>
            </a:r>
            <a:r>
              <a:rPr lang="es-MX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Intraflota</a:t>
            </a:r>
            <a:b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Mecánico</a:t>
            </a:r>
            <a:b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endParaRPr lang="es-CL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Marcador de número de diapositiva 51">
            <a:extLst>
              <a:ext uri="{FF2B5EF4-FFF2-40B4-BE49-F238E27FC236}">
                <a16:creationId xmlns:a16="http://schemas.microsoft.com/office/drawing/2014/main" id="{632E5B49-EF6A-20F0-BA2B-A2A200EA0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28</a:t>
            </a:fld>
            <a:endParaRPr lang="es-CL"/>
          </a:p>
        </p:txBody>
      </p:sp>
      <p:pic>
        <p:nvPicPr>
          <p:cNvPr id="25601" name="Picture 1">
            <a:extLst>
              <a:ext uri="{FF2B5EF4-FFF2-40B4-BE49-F238E27FC236}">
                <a16:creationId xmlns:a16="http://schemas.microsoft.com/office/drawing/2014/main" id="{F413650E-9882-AD2A-5BA5-EA3D117BC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8185" y="868363"/>
            <a:ext cx="8058150" cy="504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05406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61C7F-75EB-F264-11EE-CAEF2852A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A324A36-28D6-68F2-CF1F-445949E83D3A}"/>
              </a:ext>
            </a:extLst>
          </p:cNvPr>
          <p:cNvSpPr/>
          <p:nvPr/>
        </p:nvSpPr>
        <p:spPr>
          <a:xfrm>
            <a:off x="-1" y="0"/>
            <a:ext cx="222504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E8826AF-0026-286A-788F-377DB4705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9"/>
            <a:ext cx="2221523" cy="1261496"/>
          </a:xfrm>
        </p:spPr>
        <p:txBody>
          <a:bodyPr>
            <a:norm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Resultados:</a:t>
            </a:r>
            <a:b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Estudio </a:t>
            </a:r>
            <a:r>
              <a:rPr lang="es-MX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Intraflota</a:t>
            </a:r>
            <a:endParaRPr lang="es-CL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Marcador de número de diapositiva 51">
            <a:extLst>
              <a:ext uri="{FF2B5EF4-FFF2-40B4-BE49-F238E27FC236}">
                <a16:creationId xmlns:a16="http://schemas.microsoft.com/office/drawing/2014/main" id="{DA238C75-177D-11EE-5D98-953A262E5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29</a:t>
            </a:fld>
            <a:endParaRPr lang="es-CL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A029E265-3BCA-247C-1983-A7AA71292C79}"/>
              </a:ext>
            </a:extLst>
          </p:cNvPr>
          <p:cNvSpPr txBox="1"/>
          <p:nvPr/>
        </p:nvSpPr>
        <p:spPr>
          <a:xfrm>
            <a:off x="9212679" y="2976989"/>
            <a:ext cx="29793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dirty="0">
                <a:latin typeface="Bahnschrift SemiBold SemiConden" panose="020B0502040204020203" pitchFamily="34" charset="0"/>
              </a:rPr>
              <a:t>GED</a:t>
            </a:r>
            <a:endParaRPr lang="es-CL" sz="4800" dirty="0">
              <a:latin typeface="Bahnschrift SemiLight" panose="020B0502040204020203" pitchFamily="34" charset="0"/>
            </a:endParaRPr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DAAA42C7-D09D-A270-8C95-ED76820EEBFE}"/>
              </a:ext>
            </a:extLst>
          </p:cNvPr>
          <p:cNvSpPr/>
          <p:nvPr/>
        </p:nvSpPr>
        <p:spPr>
          <a:xfrm>
            <a:off x="2611246" y="986906"/>
            <a:ext cx="3168410" cy="1088390"/>
          </a:xfrm>
          <a:prstGeom prst="round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31EB7F2B-9D7B-7C93-F267-CFABDE36D3DF}"/>
              </a:ext>
            </a:extLst>
          </p:cNvPr>
          <p:cNvSpPr txBox="1"/>
          <p:nvPr/>
        </p:nvSpPr>
        <p:spPr>
          <a:xfrm>
            <a:off x="2693432" y="1084705"/>
            <a:ext cx="30040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¿Existen similitudes en las trayectorias que anteceden una reparación no programada?</a:t>
            </a:r>
          </a:p>
        </p:txBody>
      </p:sp>
    </p:spTree>
    <p:extLst>
      <p:ext uri="{BB962C8B-B14F-4D97-AF65-F5344CB8AC3E}">
        <p14:creationId xmlns:p14="http://schemas.microsoft.com/office/powerpoint/2010/main" val="34667731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68C0E-E275-48DB-D7DA-68F359013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8D40358-C60C-D9FF-062C-2315A53BC78F}"/>
              </a:ext>
            </a:extLst>
          </p:cNvPr>
          <p:cNvSpPr/>
          <p:nvPr/>
        </p:nvSpPr>
        <p:spPr>
          <a:xfrm>
            <a:off x="-1" y="0"/>
            <a:ext cx="222504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CCA202F-6D0C-10EA-2D7D-20F099030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9"/>
            <a:ext cx="2221523" cy="1261496"/>
          </a:xfrm>
        </p:spPr>
        <p:txBody>
          <a:bodyPr>
            <a:normAutofit fontScale="90000"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Resultados:</a:t>
            </a:r>
            <a:b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Estudio </a:t>
            </a:r>
            <a:r>
              <a:rPr lang="es-MX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Intraflota</a:t>
            </a:r>
            <a:b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Mecánico</a:t>
            </a:r>
            <a:b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endParaRPr lang="es-CL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Marcador de número de diapositiva 51">
            <a:extLst>
              <a:ext uri="{FF2B5EF4-FFF2-40B4-BE49-F238E27FC236}">
                <a16:creationId xmlns:a16="http://schemas.microsoft.com/office/drawing/2014/main" id="{5D0AC18C-6B61-AB3F-E24E-A9777270A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30</a:t>
            </a:fld>
            <a:endParaRPr lang="es-CL"/>
          </a:p>
        </p:txBody>
      </p:sp>
      <p:pic>
        <p:nvPicPr>
          <p:cNvPr id="22530" name="Picture 2">
            <a:extLst>
              <a:ext uri="{FF2B5EF4-FFF2-40B4-BE49-F238E27FC236}">
                <a16:creationId xmlns:a16="http://schemas.microsoft.com/office/drawing/2014/main" id="{061138BE-C77E-2613-B9BF-2BF3916A2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8183" y="904875"/>
            <a:ext cx="8058150" cy="504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13006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3FFE1-465F-18FE-8444-05F96BBC2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784D423-DD59-C13B-8C61-64F3E9BB7545}"/>
              </a:ext>
            </a:extLst>
          </p:cNvPr>
          <p:cNvSpPr/>
          <p:nvPr/>
        </p:nvSpPr>
        <p:spPr>
          <a:xfrm>
            <a:off x="-1" y="0"/>
            <a:ext cx="222504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CA0805B-F7EC-F070-0F9A-6E92CD8CF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9"/>
            <a:ext cx="2221523" cy="1261496"/>
          </a:xfrm>
        </p:spPr>
        <p:txBody>
          <a:bodyPr>
            <a:normAutofit fontScale="90000"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Resultados:</a:t>
            </a:r>
            <a:b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Estudio </a:t>
            </a:r>
            <a:r>
              <a:rPr lang="es-MX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Intraflota</a:t>
            </a:r>
            <a:b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Mecánico</a:t>
            </a:r>
            <a:b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endParaRPr lang="es-CL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Marcador de número de diapositiva 51">
            <a:extLst>
              <a:ext uri="{FF2B5EF4-FFF2-40B4-BE49-F238E27FC236}">
                <a16:creationId xmlns:a16="http://schemas.microsoft.com/office/drawing/2014/main" id="{7731D8A0-7FF9-0D0B-6D03-E31E00C60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31</a:t>
            </a:fld>
            <a:endParaRPr lang="es-CL"/>
          </a:p>
        </p:txBody>
      </p:sp>
      <p:pic>
        <p:nvPicPr>
          <p:cNvPr id="23553" name="Picture 1">
            <a:extLst>
              <a:ext uri="{FF2B5EF4-FFF2-40B4-BE49-F238E27FC236}">
                <a16:creationId xmlns:a16="http://schemas.microsoft.com/office/drawing/2014/main" id="{5A5A225E-1732-763A-2F24-4A23883E07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5675" y="904875"/>
            <a:ext cx="8058150" cy="504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37421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99E3F-325C-E690-28B4-C409ED6D0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D990EA6-481C-E605-D53F-EE9CC9EEE7DE}"/>
              </a:ext>
            </a:extLst>
          </p:cNvPr>
          <p:cNvSpPr/>
          <p:nvPr/>
        </p:nvSpPr>
        <p:spPr>
          <a:xfrm>
            <a:off x="-1" y="0"/>
            <a:ext cx="222504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CC56E8-A93F-E95C-30E8-1A4909323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9"/>
            <a:ext cx="2221523" cy="1261496"/>
          </a:xfrm>
        </p:spPr>
        <p:txBody>
          <a:bodyPr>
            <a:norm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Resultados:</a:t>
            </a:r>
            <a:b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Estudio </a:t>
            </a:r>
            <a:r>
              <a:rPr lang="es-MX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intraflota</a:t>
            </a:r>
            <a:endParaRPr lang="es-CL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Marcador de número de diapositiva 51">
            <a:extLst>
              <a:ext uri="{FF2B5EF4-FFF2-40B4-BE49-F238E27FC236}">
                <a16:creationId xmlns:a16="http://schemas.microsoft.com/office/drawing/2014/main" id="{324D580B-37BD-AA41-9A4A-C1125D685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32</a:t>
            </a:fld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3926D93-6373-A2E4-58B1-164287D515BF}"/>
              </a:ext>
            </a:extLst>
          </p:cNvPr>
          <p:cNvSpPr txBox="1"/>
          <p:nvPr/>
        </p:nvSpPr>
        <p:spPr>
          <a:xfrm>
            <a:off x="2766843" y="400516"/>
            <a:ext cx="49159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¿Existen diferencias en la cantidad de reparaciones mensuales?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5C6DF5C-405D-8EB4-40C3-7791C3AF6AE7}"/>
              </a:ext>
            </a:extLst>
          </p:cNvPr>
          <p:cNvSpPr txBox="1"/>
          <p:nvPr/>
        </p:nvSpPr>
        <p:spPr>
          <a:xfrm>
            <a:off x="4171950" y="2459504"/>
            <a:ext cx="55562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 err="1">
                <a:latin typeface="Bahnschrift SemiBold SemiConden" panose="020B0502040204020203" pitchFamily="34" charset="0"/>
              </a:rPr>
              <a:t>Insights</a:t>
            </a:r>
            <a:r>
              <a:rPr lang="es-MX" sz="2000" dirty="0">
                <a:latin typeface="Bahnschrift SemiBold SemiConden" panose="020B0502040204020203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>
                <a:latin typeface="Bahnschrift SemiLight" panose="020B0502040204020203" pitchFamily="34" charset="0"/>
              </a:rPr>
              <a:t>Las trayectorias que preceden una reparación no programada presentan similitudes en sus estructuras internas en varias escalas de tiempo.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>
                <a:latin typeface="Bahnschrift SemiLight" panose="020B0502040204020203" pitchFamily="34" charset="0"/>
              </a:rPr>
              <a:t>El rango de 24 horas captura información tanto interna como externa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>
                <a:latin typeface="Bahnschrift SemiLight" panose="020B0502040204020203" pitchFamily="34" charset="0"/>
              </a:rPr>
              <a:t>La granularidad afecta a la similitud</a:t>
            </a:r>
          </a:p>
        </p:txBody>
      </p:sp>
    </p:spTree>
    <p:extLst>
      <p:ext uri="{BB962C8B-B14F-4D97-AF65-F5344CB8AC3E}">
        <p14:creationId xmlns:p14="http://schemas.microsoft.com/office/powerpoint/2010/main" val="30975730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874C2-E0AE-9737-2F32-1F4AB678C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44FCC0EC-6E7C-E1D5-EB2B-DB3E38298F8D}"/>
              </a:ext>
            </a:extLst>
          </p:cNvPr>
          <p:cNvSpPr/>
          <p:nvPr/>
        </p:nvSpPr>
        <p:spPr>
          <a:xfrm>
            <a:off x="-1" y="0"/>
            <a:ext cx="222504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146E205-83EB-C484-57C6-B1C3A81DA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9"/>
            <a:ext cx="2221523" cy="1261496"/>
          </a:xfrm>
        </p:spPr>
        <p:txBody>
          <a:bodyPr>
            <a:norm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Propuesta estructura de datos</a:t>
            </a:r>
            <a:endParaRPr lang="es-CL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Marcador de número de diapositiva 51">
            <a:extLst>
              <a:ext uri="{FF2B5EF4-FFF2-40B4-BE49-F238E27FC236}">
                <a16:creationId xmlns:a16="http://schemas.microsoft.com/office/drawing/2014/main" id="{B2BA872E-AEA2-7EBA-6900-040C06DCF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33</a:t>
            </a:fld>
            <a:endParaRPr lang="es-CL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F0D228BC-E06D-AC22-C99F-6D8EE7C2804B}"/>
              </a:ext>
            </a:extLst>
          </p:cNvPr>
          <p:cNvSpPr/>
          <p:nvPr/>
        </p:nvSpPr>
        <p:spPr>
          <a:xfrm>
            <a:off x="4172989" y="4643110"/>
            <a:ext cx="5458097" cy="1467394"/>
          </a:xfrm>
          <a:prstGeom prst="round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1969D72-0F77-9AEA-276D-CE243F3CCD20}"/>
              </a:ext>
            </a:extLst>
          </p:cNvPr>
          <p:cNvSpPr txBox="1"/>
          <p:nvPr/>
        </p:nvSpPr>
        <p:spPr>
          <a:xfrm>
            <a:off x="4386892" y="4868975"/>
            <a:ext cx="49159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Estructura Serie de Tiempo  n-horas:</a:t>
            </a:r>
          </a:p>
          <a:p>
            <a:r>
              <a:rPr lang="es-MX" sz="2000" dirty="0">
                <a:solidFill>
                  <a:schemeClr val="bg1"/>
                </a:solidFill>
                <a:latin typeface="Bahnschrift SemiLight" panose="020B0502040204020203" pitchFamily="34" charset="0"/>
              </a:rPr>
              <a:t>Trayecto como serie de tiempo es análogo al </a:t>
            </a:r>
            <a:r>
              <a:rPr lang="es-MX" sz="2000" dirty="0" err="1">
                <a:solidFill>
                  <a:schemeClr val="bg1"/>
                </a:solidFill>
                <a:latin typeface="Bahnschrift SemiLight" panose="020B0502040204020203" pitchFamily="34" charset="0"/>
              </a:rPr>
              <a:t>multidigrafo</a:t>
            </a:r>
            <a:r>
              <a:rPr lang="es-MX" sz="2000" dirty="0">
                <a:solidFill>
                  <a:schemeClr val="bg1"/>
                </a:solidFill>
                <a:latin typeface="Bahnschrift SemiLight" panose="020B0502040204020203" pitchFamily="34" charset="0"/>
              </a:rPr>
              <a:t> de 1 paseo.</a:t>
            </a:r>
            <a:endParaRPr lang="es-CL" sz="2000" dirty="0">
              <a:solidFill>
                <a:schemeClr val="bg1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7ED0D009-DEE2-57F6-9099-D10C753B98B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72989" y="581241"/>
            <a:ext cx="4907540" cy="343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7365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38000-F074-8D18-A0B5-F596859F8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53CF3908-5C0F-31FD-457A-556717E0F7FE}"/>
              </a:ext>
            </a:extLst>
          </p:cNvPr>
          <p:cNvSpPr/>
          <p:nvPr/>
        </p:nvSpPr>
        <p:spPr>
          <a:xfrm>
            <a:off x="-1" y="0"/>
            <a:ext cx="222504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30296ED-32A1-E278-D0B7-31790AA7D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9"/>
            <a:ext cx="2221523" cy="1261496"/>
          </a:xfrm>
        </p:spPr>
        <p:txBody>
          <a:bodyPr>
            <a:norm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Propuesta estructura de datos</a:t>
            </a:r>
            <a:endParaRPr lang="es-CL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Marcador de número de diapositiva 51">
            <a:extLst>
              <a:ext uri="{FF2B5EF4-FFF2-40B4-BE49-F238E27FC236}">
                <a16:creationId xmlns:a16="http://schemas.microsoft.com/office/drawing/2014/main" id="{5FE929A1-B093-25AA-3C94-33BDCFB0D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34</a:t>
            </a:fld>
            <a:endParaRPr lang="es-CL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1D898099-D3EF-2DAC-F324-EDD22455AB9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72989" y="-38898"/>
            <a:ext cx="4907540" cy="343586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F3B7F3C-12DA-5907-1977-F11A8F157BFC}"/>
              </a:ext>
            </a:extLst>
          </p:cNvPr>
          <p:cNvSpPr txBox="1"/>
          <p:nvPr/>
        </p:nvSpPr>
        <p:spPr>
          <a:xfrm>
            <a:off x="4172989" y="3722214"/>
            <a:ext cx="55562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 err="1">
                <a:latin typeface="Bahnschrift SemiBold SemiConden" panose="020B0502040204020203" pitchFamily="34" charset="0"/>
              </a:rPr>
              <a:t>Bias</a:t>
            </a:r>
            <a:r>
              <a:rPr lang="es-MX" sz="2000" dirty="0">
                <a:latin typeface="Bahnschrift SemiBold SemiConden" panose="020B0502040204020203" pitchFamily="34" charset="0"/>
              </a:rPr>
              <a:t> y suposiciones: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>
                <a:latin typeface="Bahnschrift SemiLight" panose="020B0502040204020203" pitchFamily="34" charset="0"/>
              </a:rPr>
              <a:t>Estamos suponiendo que es análogo a una cadena homogénea.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>
                <a:latin typeface="Bahnschrift SemiLight" panose="020B0502040204020203" pitchFamily="34" charset="0"/>
              </a:rPr>
              <a:t>También se estaría suponiendo que visitados fuera de la escala de tiempo estudiada no aportan al entendimiento de la trayectoria. </a:t>
            </a:r>
          </a:p>
        </p:txBody>
      </p:sp>
    </p:spTree>
    <p:extLst>
      <p:ext uri="{BB962C8B-B14F-4D97-AF65-F5344CB8AC3E}">
        <p14:creationId xmlns:p14="http://schemas.microsoft.com/office/powerpoint/2010/main" val="24081532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0F11A-EB60-EF7A-704E-C6F8F5A8D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EFD0B06-1952-65F0-B561-AF753F902392}"/>
              </a:ext>
            </a:extLst>
          </p:cNvPr>
          <p:cNvSpPr/>
          <p:nvPr/>
        </p:nvSpPr>
        <p:spPr>
          <a:xfrm>
            <a:off x="-1" y="0"/>
            <a:ext cx="222504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67FB83-65AC-E5C3-6655-6D8034E34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9"/>
            <a:ext cx="2221523" cy="1261496"/>
          </a:xfrm>
        </p:spPr>
        <p:txBody>
          <a:bodyPr>
            <a:norm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Variables </a:t>
            </a:r>
            <a:b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Clave</a:t>
            </a:r>
            <a:endParaRPr lang="es-CL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Marcador de número de diapositiva 51">
            <a:extLst>
              <a:ext uri="{FF2B5EF4-FFF2-40B4-BE49-F238E27FC236}">
                <a16:creationId xmlns:a16="http://schemas.microsoft.com/office/drawing/2014/main" id="{50667BE9-B79A-F80E-B13A-627AA797F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35</a:t>
            </a:fld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7C1DA01-8B58-95B7-A23A-F18CE48A5A6B}"/>
              </a:ext>
            </a:extLst>
          </p:cNvPr>
          <p:cNvSpPr txBox="1"/>
          <p:nvPr/>
        </p:nvSpPr>
        <p:spPr>
          <a:xfrm>
            <a:off x="4172989" y="3722214"/>
            <a:ext cx="555625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>
                <a:latin typeface="Bahnschrift SemiLight" panose="020B0502040204020203" pitchFamily="34" charset="0"/>
              </a:rPr>
              <a:t>Granularidad máxima preserva las diferencias sin aportar ruido.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>
                <a:latin typeface="Bahnschrift SemiLight" panose="020B0502040204020203" pitchFamily="34" charset="0"/>
              </a:rPr>
              <a:t>24 horas de anticipación puede ser suficiente para detectar una reparación no programada.</a:t>
            </a:r>
          </a:p>
        </p:txBody>
      </p:sp>
      <p:sp>
        <p:nvSpPr>
          <p:cNvPr id="3" name="Diagrama de flujo: conector 2">
            <a:extLst>
              <a:ext uri="{FF2B5EF4-FFF2-40B4-BE49-F238E27FC236}">
                <a16:creationId xmlns:a16="http://schemas.microsoft.com/office/drawing/2014/main" id="{E36DE5AC-7E34-C295-7B2F-1FFBC3BE393E}"/>
              </a:ext>
            </a:extLst>
          </p:cNvPr>
          <p:cNvSpPr/>
          <p:nvPr/>
        </p:nvSpPr>
        <p:spPr>
          <a:xfrm>
            <a:off x="3415483" y="1504570"/>
            <a:ext cx="911677" cy="911677"/>
          </a:xfrm>
          <a:prstGeom prst="flowChartConnector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788C32B-7CAB-62FD-B046-A8E59858772B}"/>
              </a:ext>
            </a:extLst>
          </p:cNvPr>
          <p:cNvSpPr txBox="1"/>
          <p:nvPr/>
        </p:nvSpPr>
        <p:spPr>
          <a:xfrm>
            <a:off x="3445872" y="1775743"/>
            <a:ext cx="850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Bahnschrift SemiLight" panose="020B0502040204020203" pitchFamily="34" charset="0"/>
              </a:rPr>
              <a:t>2201</a:t>
            </a:r>
            <a:endParaRPr lang="es-CL" dirty="0">
              <a:latin typeface="Bahnschrift SemiLight" panose="020B0502040204020203" pitchFamily="34" charset="0"/>
            </a:endParaRPr>
          </a:p>
        </p:txBody>
      </p:sp>
      <p:sp>
        <p:nvSpPr>
          <p:cNvPr id="7" name="Diagrama de flujo: conector 6">
            <a:extLst>
              <a:ext uri="{FF2B5EF4-FFF2-40B4-BE49-F238E27FC236}">
                <a16:creationId xmlns:a16="http://schemas.microsoft.com/office/drawing/2014/main" id="{31D946C0-E55A-2231-4524-7279C5911DEA}"/>
              </a:ext>
            </a:extLst>
          </p:cNvPr>
          <p:cNvSpPr/>
          <p:nvPr/>
        </p:nvSpPr>
        <p:spPr>
          <a:xfrm>
            <a:off x="5184323" y="1505636"/>
            <a:ext cx="911677" cy="911677"/>
          </a:xfrm>
          <a:prstGeom prst="flowChartConnector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721F32B-07B2-B5FB-BC46-D32928266A66}"/>
              </a:ext>
            </a:extLst>
          </p:cNvPr>
          <p:cNvSpPr txBox="1"/>
          <p:nvPr/>
        </p:nvSpPr>
        <p:spPr>
          <a:xfrm>
            <a:off x="5214712" y="1776809"/>
            <a:ext cx="850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Bahnschrift SemiLight" panose="020B0502040204020203" pitchFamily="34" charset="0"/>
              </a:rPr>
              <a:t>22</a:t>
            </a:r>
            <a:endParaRPr lang="es-CL" dirty="0">
              <a:latin typeface="Bahnschrift SemiLight" panose="020B0502040204020203" pitchFamily="34" charset="0"/>
            </a:endParaRPr>
          </a:p>
        </p:txBody>
      </p:sp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1E8E0F7B-CD71-3C0F-1E18-1660AED078E0}"/>
              </a:ext>
            </a:extLst>
          </p:cNvPr>
          <p:cNvSpPr/>
          <p:nvPr/>
        </p:nvSpPr>
        <p:spPr>
          <a:xfrm>
            <a:off x="4418331" y="1927594"/>
            <a:ext cx="673100" cy="95250"/>
          </a:xfrm>
          <a:prstGeom prst="rightArrow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0" name="Imagen 9" descr="Dibujo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4C43627D-A21D-7049-275D-B4E96F5098B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056"/>
          <a:stretch/>
        </p:blipFill>
        <p:spPr>
          <a:xfrm>
            <a:off x="7970936" y="1411768"/>
            <a:ext cx="249936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3889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93C97-E6EE-4BEB-340F-44BF59748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3D4DE6F-C400-7B26-D16A-51199CEB3929}"/>
              </a:ext>
            </a:extLst>
          </p:cNvPr>
          <p:cNvSpPr/>
          <p:nvPr/>
        </p:nvSpPr>
        <p:spPr>
          <a:xfrm>
            <a:off x="-1" y="0"/>
            <a:ext cx="222504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66B0F8-438B-0C13-7270-36D689243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9"/>
            <a:ext cx="2221523" cy="1261496"/>
          </a:xfrm>
        </p:spPr>
        <p:txBody>
          <a:bodyPr>
            <a:norm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Bahnschrift" panose="020B0502040204020203" pitchFamily="34" charset="0"/>
              </a:rPr>
              <a:t>Próximos pasos</a:t>
            </a:r>
            <a:endParaRPr lang="es-CL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Marcador de número de diapositiva 51">
            <a:extLst>
              <a:ext uri="{FF2B5EF4-FFF2-40B4-BE49-F238E27FC236}">
                <a16:creationId xmlns:a16="http://schemas.microsoft.com/office/drawing/2014/main" id="{60B6D42D-7849-B837-4647-83247E202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12E12-9DF5-47E5-8760-6375B81A7648}" type="slidenum">
              <a:rPr lang="es-CL" smtClean="0"/>
              <a:t>36</a:t>
            </a:fld>
            <a:endParaRPr lang="es-CL"/>
          </a:p>
        </p:txBody>
      </p:sp>
      <p:pic>
        <p:nvPicPr>
          <p:cNvPr id="16" name="Imagen 15" descr="Icono&#10;&#10;Descripción generada automáticamente con confianza media">
            <a:extLst>
              <a:ext uri="{FF2B5EF4-FFF2-40B4-BE49-F238E27FC236}">
                <a16:creationId xmlns:a16="http://schemas.microsoft.com/office/drawing/2014/main" id="{01F39FA0-4E87-E390-6C30-8593606C9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455" y="553535"/>
            <a:ext cx="9958647" cy="2655639"/>
          </a:xfrm>
          <a:prstGeom prst="rect">
            <a:avLst/>
          </a:prstGeom>
        </p:spPr>
      </p:pic>
      <p:pic>
        <p:nvPicPr>
          <p:cNvPr id="18" name="Imagen 17" descr="Diagrama&#10;&#10;Descripción generada automáticamente">
            <a:extLst>
              <a:ext uri="{FF2B5EF4-FFF2-40B4-BE49-F238E27FC236}">
                <a16:creationId xmlns:a16="http://schemas.microsoft.com/office/drawing/2014/main" id="{0D959535-A99B-4540-F81E-5CFD5E6705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8782" y="3816696"/>
            <a:ext cx="6487340" cy="2904779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BA50D9F6-E3C7-F4E3-BCDE-144811F13DD9}"/>
              </a:ext>
            </a:extLst>
          </p:cNvPr>
          <p:cNvSpPr txBox="1"/>
          <p:nvPr/>
        </p:nvSpPr>
        <p:spPr>
          <a:xfrm>
            <a:off x="10374283" y="4027715"/>
            <a:ext cx="2227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++Conocimiento experto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7570050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CD21C-6AF5-527E-7DC8-1AC07760F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D052D111-7A15-FBAC-AE89-09A5307FC140}"/>
              </a:ext>
            </a:extLst>
          </p:cNvPr>
          <p:cNvSpPr/>
          <p:nvPr/>
        </p:nvSpPr>
        <p:spPr>
          <a:xfrm>
            <a:off x="1676149" y="5893628"/>
            <a:ext cx="1848101" cy="814398"/>
          </a:xfrm>
          <a:prstGeom prst="roundRect">
            <a:avLst/>
          </a:prstGeom>
          <a:solidFill>
            <a:schemeClr val="tx2">
              <a:lumMod val="25000"/>
              <a:lumOff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1733B40-72EE-38C8-BE8D-34C8B8F1D0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>
                <a:latin typeface="Bahnschrift" panose="020B0502040204020203" pitchFamily="34" charset="0"/>
              </a:rPr>
              <a:t>Muchas Gracias</a:t>
            </a:r>
            <a:endParaRPr lang="es-CL" dirty="0">
              <a:latin typeface="Bahnschrift" panose="020B0502040204020203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DF824DF-90BB-57DC-7C56-3F2E08B5E1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8127" y="4237866"/>
            <a:ext cx="9144000" cy="1655762"/>
          </a:xfrm>
        </p:spPr>
        <p:txBody>
          <a:bodyPr>
            <a:normAutofit/>
          </a:bodyPr>
          <a:lstStyle/>
          <a:p>
            <a:r>
              <a:rPr lang="es-MX" sz="1800" dirty="0">
                <a:solidFill>
                  <a:schemeClr val="bg2">
                    <a:lumMod val="50000"/>
                  </a:schemeClr>
                </a:solidFill>
                <a:latin typeface="Bahnschrift SemiLight" panose="020B0502040204020203" pitchFamily="34" charset="0"/>
              </a:rPr>
              <a:t>Claudio López-Fernández</a:t>
            </a:r>
          </a:p>
          <a:p>
            <a:r>
              <a:rPr lang="es-MX" sz="1800" dirty="0" err="1">
                <a:solidFill>
                  <a:schemeClr val="bg2">
                    <a:lumMod val="50000"/>
                  </a:schemeClr>
                </a:solidFill>
                <a:latin typeface="Bahnschrift SemiLight" panose="020B0502040204020203" pitchFamily="34" charset="0"/>
              </a:rPr>
              <a:t>Vantaz</a:t>
            </a:r>
            <a:r>
              <a:rPr lang="es-MX" sz="1800" dirty="0">
                <a:solidFill>
                  <a:schemeClr val="bg2">
                    <a:lumMod val="50000"/>
                  </a:schemeClr>
                </a:solidFill>
                <a:latin typeface="Bahnschrift SemiLight" panose="020B0502040204020203" pitchFamily="34" charset="0"/>
              </a:rPr>
              <a:t> </a:t>
            </a:r>
            <a:r>
              <a:rPr lang="es-MX" sz="1800" dirty="0" err="1">
                <a:solidFill>
                  <a:schemeClr val="bg2">
                    <a:lumMod val="50000"/>
                  </a:schemeClr>
                </a:solidFill>
                <a:latin typeface="Bahnschrift SemiLight" panose="020B0502040204020203" pitchFamily="34" charset="0"/>
              </a:rPr>
              <a:t>Analytics</a:t>
            </a:r>
            <a:endParaRPr lang="es-MX" sz="1800" dirty="0">
              <a:solidFill>
                <a:schemeClr val="bg2">
                  <a:lumMod val="50000"/>
                </a:schemeClr>
              </a:solidFill>
              <a:latin typeface="Bahnschrift SemiLight" panose="020B0502040204020203" pitchFamily="34" charset="0"/>
            </a:endParaRPr>
          </a:p>
          <a:p>
            <a:r>
              <a:rPr lang="es-MX" sz="1800" dirty="0">
                <a:solidFill>
                  <a:schemeClr val="bg2">
                    <a:lumMod val="50000"/>
                  </a:schemeClr>
                </a:solidFill>
                <a:latin typeface="Bahnschrift SemiLight" panose="020B0502040204020203" pitchFamily="34" charset="0"/>
              </a:rPr>
              <a:t>Practicante</a:t>
            </a:r>
            <a:endParaRPr lang="es-CL" sz="1800" dirty="0">
              <a:solidFill>
                <a:schemeClr val="bg2">
                  <a:lumMod val="50000"/>
                </a:schemeClr>
              </a:solidFill>
              <a:latin typeface="Bahnschrift SemiLight" panose="020B0502040204020203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9ECCA94-67E8-37ED-BBCA-63F8DEB55A6E}"/>
              </a:ext>
            </a:extLst>
          </p:cNvPr>
          <p:cNvSpPr/>
          <p:nvPr/>
        </p:nvSpPr>
        <p:spPr>
          <a:xfrm>
            <a:off x="-1" y="0"/>
            <a:ext cx="1445623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390A665-25A5-0C0D-276E-774EC50CC12F}"/>
              </a:ext>
            </a:extLst>
          </p:cNvPr>
          <p:cNvSpPr/>
          <p:nvPr/>
        </p:nvSpPr>
        <p:spPr>
          <a:xfrm>
            <a:off x="10746376" y="0"/>
            <a:ext cx="1445623" cy="685800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8" name="Imagen 7" descr="Imagen que contiene Texto&#10;&#10;Descripción generada automáticamente">
            <a:extLst>
              <a:ext uri="{FF2B5EF4-FFF2-40B4-BE49-F238E27FC236}">
                <a16:creationId xmlns:a16="http://schemas.microsoft.com/office/drawing/2014/main" id="{47E157D1-02E9-0D80-4CAC-5ACEA0DCC4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0743" y="6080910"/>
            <a:ext cx="1058911" cy="439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5159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4710</TotalTime>
  <Words>1165</Words>
  <Application>Microsoft Office PowerPoint</Application>
  <PresentationFormat>Panorámica</PresentationFormat>
  <Paragraphs>238</Paragraphs>
  <Slides>37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5" baseType="lpstr">
      <vt:lpstr>Aptos</vt:lpstr>
      <vt:lpstr>Aptos Display</vt:lpstr>
      <vt:lpstr>Arial</vt:lpstr>
      <vt:lpstr>Bahnschrift</vt:lpstr>
      <vt:lpstr>Bahnschrift SemiBold SemiConden</vt:lpstr>
      <vt:lpstr>Bahnschrift SemiLight</vt:lpstr>
      <vt:lpstr>Calibri</vt:lpstr>
      <vt:lpstr>Tema de Office</vt:lpstr>
      <vt:lpstr>Reporte Etapa 1  Práctica H-TUM</vt:lpstr>
      <vt:lpstr>Resumen</vt:lpstr>
      <vt:lpstr>Contexto</vt:lpstr>
      <vt:lpstr>Objetivos</vt:lpstr>
      <vt:lpstr>Datos</vt:lpstr>
      <vt:lpstr>Acercamiento</vt:lpstr>
      <vt:lpstr>Acercamiento</vt:lpstr>
      <vt:lpstr>Acercamiento</vt:lpstr>
      <vt:lpstr>Acercamiento</vt:lpstr>
      <vt:lpstr>Resultados: Calidad de los datos</vt:lpstr>
      <vt:lpstr>Resultados: Tiempos</vt:lpstr>
      <vt:lpstr>Resultados: Tiempos</vt:lpstr>
      <vt:lpstr>Resultados: Tiempos</vt:lpstr>
      <vt:lpstr>Resultados: Tiempos</vt:lpstr>
      <vt:lpstr>Resultados: Tiempos</vt:lpstr>
      <vt:lpstr>Resultados: Tiempos</vt:lpstr>
      <vt:lpstr>Resultados: Tiempos</vt:lpstr>
      <vt:lpstr>Resultados: Tiempos</vt:lpstr>
      <vt:lpstr>Resultados: Tiempos</vt:lpstr>
      <vt:lpstr>Resultados: Tiempos</vt:lpstr>
      <vt:lpstr>Resultados: Tiempos</vt:lpstr>
      <vt:lpstr>Resultados: Enfoque cadenas</vt:lpstr>
      <vt:lpstr>Resultados: Enfoque cadenas</vt:lpstr>
      <vt:lpstr>Resultados: Enfoque cadenas</vt:lpstr>
      <vt:lpstr>Resultados: Estudio Intraflota</vt:lpstr>
      <vt:lpstr>Resultados: Estudio Intraflota</vt:lpstr>
      <vt:lpstr>Resultados: Estudio Intraflota Mecánico </vt:lpstr>
      <vt:lpstr>Resultados: Estudio Intraflota Mecánico </vt:lpstr>
      <vt:lpstr>Resultados: Estudio Intraflota</vt:lpstr>
      <vt:lpstr>Resultados: Estudio Intraflota Mecánico </vt:lpstr>
      <vt:lpstr>Resultados: Estudio Intraflota Mecánico </vt:lpstr>
      <vt:lpstr>Resultados: Estudio intraflota</vt:lpstr>
      <vt:lpstr>Propuesta estructura de datos</vt:lpstr>
      <vt:lpstr>Propuesta estructura de datos</vt:lpstr>
      <vt:lpstr>Variables  Clave</vt:lpstr>
      <vt:lpstr>Próximos pasos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Claudio López Fernández</dc:creator>
  <cp:lastModifiedBy>Claudio López Fernández</cp:lastModifiedBy>
  <cp:revision>10</cp:revision>
  <dcterms:created xsi:type="dcterms:W3CDTF">2025-01-29T13:17:46Z</dcterms:created>
  <dcterms:modified xsi:type="dcterms:W3CDTF">2025-02-04T12:56:40Z</dcterms:modified>
</cp:coreProperties>
</file>